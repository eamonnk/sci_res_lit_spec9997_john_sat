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notesMasterIdLst>
    <p:notesMasterId r:id="rId23"/>
  </p:notesMasterIdLst>
  <p:handoutMasterIdLst>
    <p:handoutMasterId r:id="rId24"/>
  </p:handoutMasterIdLst>
  <p:sldIdLst>
    <p:sldId id="389" r:id="rId2"/>
    <p:sldId id="415" r:id="rId3"/>
    <p:sldId id="391" r:id="rId4"/>
    <p:sldId id="392" r:id="rId5"/>
    <p:sldId id="413" r:id="rId6"/>
    <p:sldId id="393" r:id="rId7"/>
    <p:sldId id="394" r:id="rId8"/>
    <p:sldId id="395" r:id="rId9"/>
    <p:sldId id="396" r:id="rId10"/>
    <p:sldId id="397" r:id="rId11"/>
    <p:sldId id="398" r:id="rId12"/>
    <p:sldId id="399" r:id="rId13"/>
    <p:sldId id="416" r:id="rId14"/>
    <p:sldId id="400" r:id="rId15"/>
    <p:sldId id="402" r:id="rId16"/>
    <p:sldId id="403" r:id="rId17"/>
    <p:sldId id="404" r:id="rId18"/>
    <p:sldId id="405" r:id="rId19"/>
    <p:sldId id="409" r:id="rId20"/>
    <p:sldId id="412" r:id="rId21"/>
    <p:sldId id="414" r:id="rId22"/>
  </p:sldIdLst>
  <p:sldSz cx="9144000" cy="6858000" type="screen4x3"/>
  <p:notesSz cx="6858000" cy="9144000"/>
  <p:defaultTextStyle>
    <a:defPPr>
      <a:defRPr lang="en-GB"/>
    </a:defPPr>
    <a:lvl1pPr algn="ctr" rtl="0" eaLnBrk="0" fontAlgn="base" hangingPunct="0">
      <a:spcBef>
        <a:spcPct val="0"/>
      </a:spcBef>
      <a:spcAft>
        <a:spcPct val="0"/>
      </a:spcAft>
      <a:defRPr sz="3600" kern="1200">
        <a:solidFill>
          <a:schemeClr val="tx1"/>
        </a:solidFill>
        <a:latin typeface="Arial" charset="0"/>
        <a:ea typeface="+mn-ea"/>
        <a:cs typeface="+mn-cs"/>
      </a:defRPr>
    </a:lvl1pPr>
    <a:lvl2pPr marL="457200" algn="ctr" rtl="0" eaLnBrk="0" fontAlgn="base" hangingPunct="0">
      <a:spcBef>
        <a:spcPct val="0"/>
      </a:spcBef>
      <a:spcAft>
        <a:spcPct val="0"/>
      </a:spcAft>
      <a:defRPr sz="3600" kern="1200">
        <a:solidFill>
          <a:schemeClr val="tx1"/>
        </a:solidFill>
        <a:latin typeface="Arial" charset="0"/>
        <a:ea typeface="+mn-ea"/>
        <a:cs typeface="+mn-cs"/>
      </a:defRPr>
    </a:lvl2pPr>
    <a:lvl3pPr marL="914400" algn="ctr" rtl="0" eaLnBrk="0" fontAlgn="base" hangingPunct="0">
      <a:spcBef>
        <a:spcPct val="0"/>
      </a:spcBef>
      <a:spcAft>
        <a:spcPct val="0"/>
      </a:spcAft>
      <a:defRPr sz="3600" kern="1200">
        <a:solidFill>
          <a:schemeClr val="tx1"/>
        </a:solidFill>
        <a:latin typeface="Arial" charset="0"/>
        <a:ea typeface="+mn-ea"/>
        <a:cs typeface="+mn-cs"/>
      </a:defRPr>
    </a:lvl3pPr>
    <a:lvl4pPr marL="1371600" algn="ctr" rtl="0" eaLnBrk="0" fontAlgn="base" hangingPunct="0">
      <a:spcBef>
        <a:spcPct val="0"/>
      </a:spcBef>
      <a:spcAft>
        <a:spcPct val="0"/>
      </a:spcAft>
      <a:defRPr sz="3600" kern="1200">
        <a:solidFill>
          <a:schemeClr val="tx1"/>
        </a:solidFill>
        <a:latin typeface="Arial" charset="0"/>
        <a:ea typeface="+mn-ea"/>
        <a:cs typeface="+mn-cs"/>
      </a:defRPr>
    </a:lvl4pPr>
    <a:lvl5pPr marL="1828800" algn="ctr" rtl="0" eaLnBrk="0" fontAlgn="base" hangingPunct="0">
      <a:spcBef>
        <a:spcPct val="0"/>
      </a:spcBef>
      <a:spcAft>
        <a:spcPct val="0"/>
      </a:spcAft>
      <a:defRPr sz="3600" kern="1200">
        <a:solidFill>
          <a:schemeClr val="tx1"/>
        </a:solidFill>
        <a:latin typeface="Arial" charset="0"/>
        <a:ea typeface="+mn-ea"/>
        <a:cs typeface="+mn-cs"/>
      </a:defRPr>
    </a:lvl5pPr>
    <a:lvl6pPr marL="2286000" algn="l" defTabSz="914400" rtl="0" eaLnBrk="1" latinLnBrk="0" hangingPunct="1">
      <a:defRPr sz="3600" kern="1200">
        <a:solidFill>
          <a:schemeClr val="tx1"/>
        </a:solidFill>
        <a:latin typeface="Arial" charset="0"/>
        <a:ea typeface="+mn-ea"/>
        <a:cs typeface="+mn-cs"/>
      </a:defRPr>
    </a:lvl6pPr>
    <a:lvl7pPr marL="2743200" algn="l" defTabSz="914400" rtl="0" eaLnBrk="1" latinLnBrk="0" hangingPunct="1">
      <a:defRPr sz="3600" kern="1200">
        <a:solidFill>
          <a:schemeClr val="tx1"/>
        </a:solidFill>
        <a:latin typeface="Arial" charset="0"/>
        <a:ea typeface="+mn-ea"/>
        <a:cs typeface="+mn-cs"/>
      </a:defRPr>
    </a:lvl7pPr>
    <a:lvl8pPr marL="3200400" algn="l" defTabSz="914400" rtl="0" eaLnBrk="1" latinLnBrk="0" hangingPunct="1">
      <a:defRPr sz="3600" kern="1200">
        <a:solidFill>
          <a:schemeClr val="tx1"/>
        </a:solidFill>
        <a:latin typeface="Arial" charset="0"/>
        <a:ea typeface="+mn-ea"/>
        <a:cs typeface="+mn-cs"/>
      </a:defRPr>
    </a:lvl8pPr>
    <a:lvl9pPr marL="3657600" algn="l" defTabSz="914400" rtl="0" eaLnBrk="1" latinLnBrk="0" hangingPunct="1">
      <a:defRPr sz="36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40F3FAE-6F71-4FAA-B932-96D4A55EB38E}">
          <p14:sldIdLst>
            <p14:sldId id="389"/>
            <p14:sldId id="415"/>
            <p14:sldId id="391"/>
            <p14:sldId id="392"/>
            <p14:sldId id="413"/>
            <p14:sldId id="393"/>
            <p14:sldId id="394"/>
            <p14:sldId id="395"/>
            <p14:sldId id="396"/>
            <p14:sldId id="397"/>
            <p14:sldId id="398"/>
            <p14:sldId id="399"/>
            <p14:sldId id="416"/>
            <p14:sldId id="400"/>
            <p14:sldId id="402"/>
            <p14:sldId id="403"/>
            <p14:sldId id="404"/>
            <p14:sldId id="405"/>
            <p14:sldId id="409"/>
            <p14:sldId id="412"/>
            <p14:sldId id="414"/>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DF85"/>
    <a:srgbClr val="0099FF"/>
    <a:srgbClr val="CCECFF"/>
    <a:srgbClr val="FFFFCC"/>
    <a:srgbClr val="FFFF99"/>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8" autoAdjust="0"/>
    <p:restoredTop sz="94687" autoAdjust="0"/>
  </p:normalViewPr>
  <p:slideViewPr>
    <p:cSldViewPr>
      <p:cViewPr>
        <p:scale>
          <a:sx n="79" d="100"/>
          <a:sy n="79" d="100"/>
        </p:scale>
        <p:origin x="-139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GB"/>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GB"/>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CFD3584C-CBF7-476F-B0F4-C5C3EA09D202}" type="slidenum">
              <a:rPr lang="en-GB"/>
              <a:pPr>
                <a:defRPr/>
              </a:pPr>
              <a:t>‹#›</a:t>
            </a:fld>
            <a:endParaRPr lang="en-GB"/>
          </a:p>
        </p:txBody>
      </p:sp>
    </p:spTree>
    <p:extLst>
      <p:ext uri="{BB962C8B-B14F-4D97-AF65-F5344CB8AC3E}">
        <p14:creationId xmlns:p14="http://schemas.microsoft.com/office/powerpoint/2010/main" val="341117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7914B87C-07FF-4BAF-A49E-821F2942F859}" type="slidenum">
              <a:rPr lang="en-US"/>
              <a:pPr>
                <a:defRPr/>
              </a:pPr>
              <a:t>‹#›</a:t>
            </a:fld>
            <a:endParaRPr lang="en-US"/>
          </a:p>
        </p:txBody>
      </p:sp>
    </p:spTree>
    <p:extLst>
      <p:ext uri="{BB962C8B-B14F-4D97-AF65-F5344CB8AC3E}">
        <p14:creationId xmlns:p14="http://schemas.microsoft.com/office/powerpoint/2010/main" val="23217698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FC5700AE-9807-496A-9E67-E5E8E4277AA0}" type="slidenum">
              <a:rPr lang="en-US" smtClean="0"/>
              <a:pPr/>
              <a:t>1</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89010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5" name="Rectangle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6" name="Rectangle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7" name="Rectangle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p:cNvSpPr>
            <a:spLocks noGrp="1"/>
          </p:cNvSpPr>
          <p:nvPr>
            <p:ph type="dt" sz="half" idx="10"/>
          </p:nvPr>
        </p:nvSpPr>
        <p:spPr>
          <a:xfrm>
            <a:off x="6400800" y="6354763"/>
            <a:ext cx="2286000" cy="366712"/>
          </a:xfrm>
        </p:spPr>
        <p:txBody>
          <a:bodyPr/>
          <a:lstStyle>
            <a:lvl1pPr>
              <a:defRPr sz="1400" smtClean="0"/>
            </a:lvl1pPr>
          </a:lstStyle>
          <a:p>
            <a:pPr>
              <a:defRPr/>
            </a:pPr>
            <a:fld id="{21D585AF-B0F7-41A6-A119-141AA1F7550C}" type="datetime1">
              <a:rPr lang="en-GB"/>
              <a:pPr>
                <a:defRPr/>
              </a:pPr>
              <a:t>17/03/2020</a:t>
            </a:fld>
            <a:endParaRPr lang="en-US"/>
          </a:p>
        </p:txBody>
      </p:sp>
      <p:sp>
        <p:nvSpPr>
          <p:cNvPr id="11"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2" name="Slide Number Placeholder 28"/>
          <p:cNvSpPr>
            <a:spLocks noGrp="1"/>
          </p:cNvSpPr>
          <p:nvPr>
            <p:ph type="sldNum" sz="quarter" idx="12"/>
          </p:nvPr>
        </p:nvSpPr>
        <p:spPr>
          <a:xfrm>
            <a:off x="1216025" y="6354763"/>
            <a:ext cx="1219200" cy="366712"/>
          </a:xfrm>
        </p:spPr>
        <p:txBody>
          <a:bodyPr/>
          <a:lstStyle>
            <a:lvl1pPr>
              <a:defRPr/>
            </a:lvl1pPr>
          </a:lstStyle>
          <a:p>
            <a:pPr>
              <a:defRPr/>
            </a:pPr>
            <a:fld id="{B1A1F380-84DE-46A6-BEE2-F9B6042703D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3AF52CC6-1187-4FCF-A6FD-4DD0DFAB7666}" type="datetime1">
              <a:rPr lang="en-GB"/>
              <a:pPr>
                <a:defRPr/>
              </a:pPr>
              <a:t>17/03/2020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5FDF4A0-D098-47A6-B4A9-693E0B4E670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fld id="{28FC5E22-ED1D-4B91-AC3F-7EF5DE00EDB0}" type="datetime1">
              <a:rPr lang="en-GB"/>
              <a:pPr>
                <a:defRPr/>
              </a:pPr>
              <a:t>17/03/2020</a:t>
            </a:fld>
            <a:endParaRPr lang="en-US"/>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58A6B4F2-EB9E-488D-B6D1-3915765FF5B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26058CBD-F947-4347-B8A2-8F0B03989E49}" type="datetime1">
              <a:rPr lang="en-GB"/>
              <a:pPr>
                <a:defRPr/>
              </a:pPr>
              <a:t>17/03/2020</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AD0E07CE-3ACC-42F8-895E-F59B9D31ED1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51E52406-2FF7-4034-B093-55267A5670B4}" type="datetime1">
              <a:rPr lang="en-GB"/>
              <a:pPr>
                <a:defRPr/>
              </a:pPr>
              <a:t>17/03/2020</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580DB709-F39E-49BD-AF3F-8AEAA8D9286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AED36AD6-5634-4057-AAEA-89F640E3AC73}" type="datetime1">
              <a:rPr lang="en-GB"/>
              <a:pPr>
                <a:defRPr/>
              </a:pPr>
              <a:t>17/03/2020</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A2FF7857-EF0B-4395-A67B-D4A7FA318F7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4" name="Date Placeholder 1"/>
          <p:cNvSpPr>
            <a:spLocks noGrp="1"/>
          </p:cNvSpPr>
          <p:nvPr>
            <p:ph type="dt" sz="half" idx="10"/>
          </p:nvPr>
        </p:nvSpPr>
        <p:spPr/>
        <p:txBody>
          <a:bodyPr/>
          <a:lstStyle>
            <a:lvl1pPr>
              <a:defRPr/>
            </a:lvl1pPr>
          </a:lstStyle>
          <a:p>
            <a:pPr>
              <a:defRPr/>
            </a:pPr>
            <a:fld id="{5765AAB2-1A3C-4ADB-A3A5-2D1C50362721}" type="datetime1">
              <a:rPr lang="en-GB"/>
              <a:pPr>
                <a:defRPr/>
              </a:pPr>
              <a:t>17/03/2020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FC781E94-E530-49B1-B133-12A2D08E7BB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Straight Connector 5"/>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p:txBody>
          <a:bodyPr/>
          <a:lstStyle>
            <a:lvl1pPr>
              <a:defRPr/>
            </a:lvl1pPr>
          </a:lstStyle>
          <a:p>
            <a:pPr>
              <a:defRPr/>
            </a:pPr>
            <a:fld id="{564743D5-6A5C-407A-BDC4-6318B8BE50D5}" type="datetime1">
              <a:rPr lang="en-GB"/>
              <a:pPr>
                <a:defRPr/>
              </a:pPr>
              <a:t>17/03/2020</a:t>
            </a:fld>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838F804A-833A-461E-A91E-C635C7F05E2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fld id="{0F14C84C-CC35-4D87-B758-85F72F2AB493}" type="datetime1">
              <a:rPr lang="en-GB"/>
              <a:pPr>
                <a:defRPr/>
              </a:pPr>
              <a:t>17/03/2020</a:t>
            </a:fld>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87E439E5-5C05-4091-A40F-B6AFAC63F835}"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5A305EDC-DE1B-4C00-9D6B-8A2F33A90BA5}" type="datetime1">
              <a:rPr lang="en-GB"/>
              <a:pPr>
                <a:defRPr/>
              </a:pPr>
              <a:t>17/03/2020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EC6E628-448F-4B32-9F5A-C61DBCBB652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
        <p:nvSpPr>
          <p:cNvPr id="6" name="Straight Connector 5"/>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E911C17-B7E2-4D9C-B7F7-B55F3C49FE89}" type="datetime1">
              <a:rPr lang="en-GB"/>
              <a:pPr>
                <a:defRPr/>
              </a:pPr>
              <a:t>17/03/2020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7DDA7AA-5901-467D-876C-C8BC7B0BAC2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smtClean="0">
                <a:solidFill>
                  <a:schemeClr val="tx2"/>
                </a:solidFill>
              </a:defRPr>
            </a:lvl1pPr>
          </a:lstStyle>
          <a:p>
            <a:pPr>
              <a:defRPr/>
            </a:pPr>
            <a:fld id="{D69DCB5B-D54E-4F22-B19E-0CED3E006A8A}" type="datetime1">
              <a:rPr lang="en-GB"/>
              <a:pPr>
                <a:defRPr/>
              </a:pPr>
              <a:t>17/03/2020</a:t>
            </a:fld>
            <a:endParaRPr lang="en-US"/>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eaLnBrk="1" latinLnBrk="0" hangingPunct="1">
              <a:defRPr kumimoji="0" sz="1400" smtClean="0">
                <a:solidFill>
                  <a:schemeClr val="tx2"/>
                </a:solidFill>
              </a:defRPr>
            </a:lvl1pPr>
          </a:lstStyle>
          <a:p>
            <a:pPr>
              <a:defRPr/>
            </a:pPr>
            <a:fld id="{F6886048-B423-4E09-83B1-3A226A1F8BF6}" type="slidenum">
              <a:rPr lang="en-US"/>
              <a:pPr>
                <a:defRPr/>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808" r:id="rId1"/>
    <p:sldLayoutId id="2147483804" r:id="rId2"/>
    <p:sldLayoutId id="2147483809" r:id="rId3"/>
    <p:sldLayoutId id="2147483805" r:id="rId4"/>
    <p:sldLayoutId id="2147483806" r:id="rId5"/>
    <p:sldLayoutId id="2147483810" r:id="rId6"/>
    <p:sldLayoutId id="2147483811" r:id="rId7"/>
    <p:sldLayoutId id="2147483812" r:id="rId8"/>
    <p:sldLayoutId id="2147483813" r:id="rId9"/>
    <p:sldLayoutId id="2147483807" r:id="rId10"/>
    <p:sldLayoutId id="2147483814" r:id="rId11"/>
  </p:sldLayoutIdLst>
  <p:txStyles>
    <p:titleStyle>
      <a:lvl1pPr algn="l" rtl="0" fontAlgn="base">
        <a:spcBef>
          <a:spcPct val="0"/>
        </a:spcBef>
        <a:spcAft>
          <a:spcPct val="0"/>
        </a:spcAft>
        <a:defRPr sz="3200" kern="1200">
          <a:solidFill>
            <a:schemeClr val="tx2"/>
          </a:solidFill>
          <a:latin typeface="+mj-lt"/>
          <a:ea typeface="+mj-ea"/>
          <a:cs typeface="+mj-cs"/>
        </a:defRPr>
      </a:lvl1pPr>
      <a:lvl2pPr algn="l" rtl="0" fontAlgn="base">
        <a:spcBef>
          <a:spcPct val="0"/>
        </a:spcBef>
        <a:spcAft>
          <a:spcPct val="0"/>
        </a:spcAft>
        <a:defRPr sz="3200">
          <a:solidFill>
            <a:schemeClr val="tx2"/>
          </a:solidFill>
          <a:latin typeface="Bookman Old Style" pitchFamily="18" charset="0"/>
        </a:defRPr>
      </a:lvl2pPr>
      <a:lvl3pPr algn="l" rtl="0" fontAlgn="base">
        <a:spcBef>
          <a:spcPct val="0"/>
        </a:spcBef>
        <a:spcAft>
          <a:spcPct val="0"/>
        </a:spcAft>
        <a:defRPr sz="3200">
          <a:solidFill>
            <a:schemeClr val="tx2"/>
          </a:solidFill>
          <a:latin typeface="Bookman Old Style" pitchFamily="18" charset="0"/>
        </a:defRPr>
      </a:lvl3pPr>
      <a:lvl4pPr algn="l" rtl="0" fontAlgn="base">
        <a:spcBef>
          <a:spcPct val="0"/>
        </a:spcBef>
        <a:spcAft>
          <a:spcPct val="0"/>
        </a:spcAft>
        <a:defRPr sz="3200">
          <a:solidFill>
            <a:schemeClr val="tx2"/>
          </a:solidFill>
          <a:latin typeface="Bookman Old Style" pitchFamily="18" charset="0"/>
        </a:defRPr>
      </a:lvl4pPr>
      <a:lvl5pPr algn="l" rtl="0" fontAlgn="base">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fontAlgn="base">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fontAlgn="base">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fontAlgn="base">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fontAlgn="base">
        <a:spcBef>
          <a:spcPts val="400"/>
        </a:spcBef>
        <a:spcAft>
          <a:spcPct val="0"/>
        </a:spcAft>
        <a:buClr>
          <a:srgbClr val="8BA2B4"/>
        </a:buClr>
        <a:buSzPct val="70000"/>
        <a:buFont typeface="Wingdings" pitchFamily="2" charset="2"/>
        <a:buChar char=""/>
        <a:defRPr kern="1200">
          <a:solidFill>
            <a:schemeClr val="tx1"/>
          </a:solidFill>
          <a:latin typeface="+mn-lt"/>
          <a:ea typeface="+mn-ea"/>
          <a:cs typeface="+mn-cs"/>
        </a:defRPr>
      </a:lvl4pPr>
      <a:lvl5pPr marL="1371600" indent="-228600" algn="l" rtl="0" fontAlgn="base">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hyperlink" Target="https://owl.english.purdue.edu/owl/resource/560/03/" TargetMode="External"/><Relationship Id="rId2" Type="http://schemas.openxmlformats.org/officeDocument/2006/relationships/hyperlink" Target="http://www.lib.latrobe.edu.au/referencing-tool/apa-6"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dit.ie/library/endnote/" TargetMode="External"/><Relationship Id="rId2" Type="http://schemas.openxmlformats.org/officeDocument/2006/relationships/hyperlink" Target="http://www.zotero.org/" TargetMode="External"/><Relationship Id="rId1" Type="http://schemas.openxmlformats.org/officeDocument/2006/relationships/slideLayout" Target="../slideLayouts/slideLayout2.xml"/><Relationship Id="rId5" Type="http://schemas.openxmlformats.org/officeDocument/2006/relationships/hyperlink" Target="https://www.youtube.com/watch?v=imSxa5MbXrc" TargetMode="External"/><Relationship Id="rId4" Type="http://schemas.openxmlformats.org/officeDocument/2006/relationships/hyperlink" Target="https://www.youtube.com/watch?v=mP5AzJHXfIA"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www.lib.latrobe.edu.au/referencing-tool/apa-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219200" y="3878560"/>
            <a:ext cx="6858000" cy="990600"/>
          </a:xfrm>
        </p:spPr>
        <p:txBody>
          <a:bodyPr/>
          <a:lstStyle/>
          <a:p>
            <a:r>
              <a:rPr lang="en-GB" sz="2400" b="1" dirty="0"/>
              <a:t>Citation and </a:t>
            </a:r>
            <a:r>
              <a:rPr lang="en-GB" sz="2400" b="1" dirty="0" smtClean="0"/>
              <a:t>Referencing</a:t>
            </a:r>
            <a:endParaRPr lang="en-GB" sz="24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IE" dirty="0"/>
              <a:t>Aim of Session</a:t>
            </a:r>
          </a:p>
        </p:txBody>
      </p:sp>
      <p:sp>
        <p:nvSpPr>
          <p:cNvPr id="11267" name="Content Placeholder 2"/>
          <p:cNvSpPr>
            <a:spLocks noGrp="1"/>
          </p:cNvSpPr>
          <p:nvPr>
            <p:ph sz="quarter" idx="1"/>
          </p:nvPr>
        </p:nvSpPr>
        <p:spPr>
          <a:xfrm>
            <a:off x="457200" y="1219200"/>
            <a:ext cx="8229600" cy="4937125"/>
          </a:xfrm>
        </p:spPr>
        <p:txBody>
          <a:bodyPr/>
          <a:lstStyle/>
          <a:p>
            <a:r>
              <a:rPr lang="en-GB" dirty="0"/>
              <a:t>To decide when to quote, paraphrase or summarize other work</a:t>
            </a:r>
          </a:p>
          <a:p>
            <a:r>
              <a:rPr lang="en-GB" dirty="0"/>
              <a:t>To describe the main features of proper citation and referencing</a:t>
            </a:r>
          </a:p>
          <a:p>
            <a:r>
              <a:rPr lang="en-GB" dirty="0"/>
              <a:t>To recognize the APA6 style</a:t>
            </a:r>
            <a:endParaRPr lang="en-IE" dirty="0"/>
          </a:p>
          <a:p>
            <a:r>
              <a:rPr lang="en-GB" dirty="0"/>
              <a:t>To use reference management software and validate its output</a:t>
            </a:r>
            <a:endParaRPr lang="en-IE" dirty="0"/>
          </a:p>
        </p:txBody>
      </p:sp>
    </p:spTree>
    <p:custDataLst>
      <p:tags r:id="rId1"/>
    </p:custDataLst>
    <p:extLst>
      <p:ext uri="{BB962C8B-B14F-4D97-AF65-F5344CB8AC3E}">
        <p14:creationId xmlns:p14="http://schemas.microsoft.com/office/powerpoint/2010/main" val="34283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Provides evidence and examples to support your arguments, propositions, opinions or findings</a:t>
            </a:r>
          </a:p>
          <a:p>
            <a:pPr lvl="1"/>
            <a:r>
              <a:rPr lang="en-IE" dirty="0"/>
              <a:t>Establishes credibility</a:t>
            </a:r>
          </a:p>
          <a:p>
            <a:r>
              <a:rPr lang="en-IE" dirty="0"/>
              <a:t>Providing a map to reader of where your work fits </a:t>
            </a:r>
          </a:p>
          <a:p>
            <a:pPr lvl="1"/>
            <a:r>
              <a:rPr lang="en-IE" dirty="0"/>
              <a:t>And what its based on</a:t>
            </a:r>
          </a:p>
          <a:p>
            <a:r>
              <a:rPr lang="en-IE" dirty="0"/>
              <a:t>Allows reader to locate, review and test evidence and examples used</a:t>
            </a:r>
          </a:p>
          <a:p>
            <a:pPr lvl="1"/>
            <a:r>
              <a:rPr lang="en-IE" dirty="0"/>
              <a:t>Or to use it for their own purposes</a:t>
            </a:r>
          </a:p>
          <a:p>
            <a:r>
              <a:rPr lang="en-IE" dirty="0"/>
              <a:t>Gives recognition to work which you’ve benefited from</a:t>
            </a:r>
          </a:p>
          <a:p>
            <a:r>
              <a:rPr lang="en-IE" dirty="0"/>
              <a:t>Demonstrates that you have considered relevant work in the area </a:t>
            </a:r>
          </a:p>
        </p:txBody>
      </p:sp>
    </p:spTree>
    <p:extLst>
      <p:ext uri="{BB962C8B-B14F-4D97-AF65-F5344CB8AC3E}">
        <p14:creationId xmlns:p14="http://schemas.microsoft.com/office/powerpoint/2010/main" val="42615951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To support what you are saying</a:t>
            </a:r>
          </a:p>
          <a:p>
            <a:r>
              <a:rPr lang="en-IE" dirty="0"/>
              <a:t>Introduce someone’s work or opinion, in order to discuss it</a:t>
            </a:r>
          </a:p>
          <a:p>
            <a:r>
              <a:rPr lang="en-IE" dirty="0"/>
              <a:t>Show differences between other peoples’ work or opinions</a:t>
            </a:r>
          </a:p>
          <a:p>
            <a:r>
              <a:rPr lang="en-IE" dirty="0"/>
              <a:t>Show differences between your own work and that of others</a:t>
            </a:r>
          </a:p>
          <a:p>
            <a:r>
              <a:rPr lang="en-IE" dirty="0"/>
              <a:t>Provide examples</a:t>
            </a:r>
          </a:p>
        </p:txBody>
      </p:sp>
    </p:spTree>
    <p:extLst>
      <p:ext uri="{BB962C8B-B14F-4D97-AF65-F5344CB8AC3E}">
        <p14:creationId xmlns:p14="http://schemas.microsoft.com/office/powerpoint/2010/main" val="33657864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Ways of doing it:</a:t>
            </a:r>
          </a:p>
          <a:p>
            <a:pPr lvl="1"/>
            <a:r>
              <a:rPr lang="en-IE" dirty="0"/>
              <a:t>Quote</a:t>
            </a:r>
          </a:p>
          <a:p>
            <a:pPr lvl="1"/>
            <a:r>
              <a:rPr lang="en-IE" dirty="0"/>
              <a:t>Paraphrase</a:t>
            </a:r>
          </a:p>
          <a:p>
            <a:pPr lvl="1"/>
            <a:r>
              <a:rPr lang="en-IE" dirty="0"/>
              <a:t>Summarise</a:t>
            </a:r>
          </a:p>
        </p:txBody>
      </p:sp>
    </p:spTree>
    <p:extLst>
      <p:ext uri="{BB962C8B-B14F-4D97-AF65-F5344CB8AC3E}">
        <p14:creationId xmlns:p14="http://schemas.microsoft.com/office/powerpoint/2010/main" val="31674423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E" dirty="0"/>
              <a:t>Two Things You Need To Know</a:t>
            </a:r>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fontAlgn="auto">
              <a:spcAft>
                <a:spcPts val="0"/>
              </a:spcAft>
              <a:buFont typeface="Wingdings 3"/>
              <a:buChar char=""/>
              <a:defRPr/>
            </a:pPr>
            <a:r>
              <a:rPr lang="en-IE" dirty="0"/>
              <a:t>Citing</a:t>
            </a:r>
          </a:p>
          <a:p>
            <a:pPr marL="548640" lvl="1" indent="-274320" fontAlgn="auto">
              <a:spcAft>
                <a:spcPts val="0"/>
              </a:spcAft>
              <a:buFont typeface="Wingdings 3"/>
              <a:buChar char=""/>
              <a:defRPr/>
            </a:pPr>
            <a:r>
              <a:rPr lang="en-IE" dirty="0">
                <a:solidFill>
                  <a:schemeClr val="tx1"/>
                </a:solidFill>
              </a:rPr>
              <a:t>Acknowledging within the text/content of your work the source or sources you are using to build an argument or support an opinion.  </a:t>
            </a:r>
          </a:p>
          <a:p>
            <a:pPr marL="548640" lvl="1" indent="-274320" fontAlgn="auto">
              <a:spcAft>
                <a:spcPts val="0"/>
              </a:spcAft>
              <a:buFont typeface="Wingdings 3"/>
              <a:buChar char=""/>
              <a:defRPr/>
            </a:pPr>
            <a:r>
              <a:rPr lang="en-IE" dirty="0">
                <a:solidFill>
                  <a:schemeClr val="tx1"/>
                </a:solidFill>
              </a:rPr>
              <a:t>Do this when</a:t>
            </a:r>
          </a:p>
          <a:p>
            <a:pPr marL="822960" lvl="2" fontAlgn="auto">
              <a:spcAft>
                <a:spcPts val="0"/>
              </a:spcAft>
              <a:buClr>
                <a:schemeClr val="bg1">
                  <a:shade val="50000"/>
                </a:schemeClr>
              </a:buClr>
              <a:buFont typeface="Wingdings 3"/>
              <a:buChar char=""/>
              <a:defRPr/>
            </a:pPr>
            <a:r>
              <a:rPr lang="en-IE" dirty="0"/>
              <a:t>You want to take a section of a source.</a:t>
            </a:r>
          </a:p>
          <a:p>
            <a:pPr marL="1097280" lvl="3" fontAlgn="auto">
              <a:spcAft>
                <a:spcPts val="0"/>
              </a:spcAft>
              <a:buClr>
                <a:schemeClr val="accent2">
                  <a:shade val="75000"/>
                </a:schemeClr>
              </a:buClr>
              <a:buFont typeface="Wingdings"/>
              <a:buChar char=""/>
              <a:defRPr/>
            </a:pPr>
            <a:r>
              <a:rPr lang="en-IE" dirty="0"/>
              <a:t>Put it in quotations, cite with page numbers and reference</a:t>
            </a:r>
          </a:p>
          <a:p>
            <a:pPr marL="822960" lvl="2" fontAlgn="auto">
              <a:spcAft>
                <a:spcPts val="0"/>
              </a:spcAft>
              <a:buClr>
                <a:schemeClr val="bg1">
                  <a:shade val="50000"/>
                </a:schemeClr>
              </a:buClr>
              <a:buFont typeface="Wingdings 3"/>
              <a:buChar char=""/>
              <a:defRPr/>
            </a:pPr>
            <a:r>
              <a:rPr lang="en-IE" dirty="0"/>
              <a:t>You want to paraphrase or present a summary of information taken from a source(s).</a:t>
            </a:r>
          </a:p>
          <a:p>
            <a:pPr marL="1097280" lvl="3" fontAlgn="auto">
              <a:spcAft>
                <a:spcPts val="0"/>
              </a:spcAft>
              <a:buClr>
                <a:schemeClr val="accent2">
                  <a:shade val="75000"/>
                </a:schemeClr>
              </a:buClr>
              <a:buFont typeface="Wingdings"/>
              <a:buChar char=""/>
              <a:defRPr/>
            </a:pPr>
            <a:r>
              <a:rPr lang="en-IE" dirty="0"/>
              <a:t>Rewrite, cite and reference.</a:t>
            </a:r>
          </a:p>
          <a:p>
            <a:pPr marL="548640" lvl="1" indent="-274320" fontAlgn="auto">
              <a:spcAft>
                <a:spcPts val="0"/>
              </a:spcAft>
              <a:buFont typeface="Wingdings 3"/>
              <a:buChar char=""/>
              <a:defRPr/>
            </a:pPr>
            <a:r>
              <a:rPr lang="en-IE" dirty="0">
                <a:solidFill>
                  <a:schemeClr val="tx1"/>
                </a:solidFill>
              </a:rPr>
              <a:t>Because</a:t>
            </a:r>
          </a:p>
          <a:p>
            <a:pPr marL="822960" lvl="2" fontAlgn="auto">
              <a:spcAft>
                <a:spcPts val="0"/>
              </a:spcAft>
              <a:buClr>
                <a:schemeClr val="bg1">
                  <a:shade val="50000"/>
                </a:schemeClr>
              </a:buClr>
              <a:buFont typeface="Wingdings 3"/>
              <a:buChar char=""/>
              <a:defRPr/>
            </a:pPr>
            <a:r>
              <a:rPr lang="en-IE" dirty="0"/>
              <a:t>You want to support an argument</a:t>
            </a:r>
          </a:p>
          <a:p>
            <a:pPr marL="822960" lvl="2" fontAlgn="auto">
              <a:spcAft>
                <a:spcPts val="0"/>
              </a:spcAft>
              <a:buClr>
                <a:schemeClr val="bg1">
                  <a:shade val="50000"/>
                </a:schemeClr>
              </a:buClr>
              <a:buFont typeface="Wingdings 3"/>
              <a:buChar char=""/>
              <a:defRPr/>
            </a:pPr>
            <a:r>
              <a:rPr lang="en-IE" dirty="0"/>
              <a:t>You want to show another point of view</a:t>
            </a:r>
          </a:p>
        </p:txBody>
      </p:sp>
    </p:spTree>
    <p:custDataLst>
      <p:tags r:id="rId1"/>
    </p:custDataLst>
    <p:extLst>
      <p:ext uri="{BB962C8B-B14F-4D97-AF65-F5344CB8AC3E}">
        <p14:creationId xmlns:p14="http://schemas.microsoft.com/office/powerpoint/2010/main" val="187680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IE" dirty="0"/>
              <a:t>Two Things You Need To Know</a:t>
            </a:r>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fontAlgn="auto">
              <a:spcAft>
                <a:spcPts val="0"/>
              </a:spcAft>
              <a:buFont typeface="Wingdings 3"/>
              <a:buChar char=""/>
              <a:defRPr/>
            </a:pPr>
            <a:r>
              <a:rPr lang="en-IE" dirty="0"/>
              <a:t>Referencing</a:t>
            </a:r>
          </a:p>
          <a:p>
            <a:pPr marL="548640" lvl="1" indent="-274320" fontAlgn="auto">
              <a:spcAft>
                <a:spcPts val="0"/>
              </a:spcAft>
              <a:buFont typeface="Wingdings 3"/>
              <a:buChar char=""/>
              <a:defRPr/>
            </a:pPr>
            <a:r>
              <a:rPr lang="en-IE" dirty="0">
                <a:solidFill>
                  <a:schemeClr val="tx1"/>
                </a:solidFill>
              </a:rPr>
              <a:t>When you cite someone’s work, you must include the full details of where to find the original text.</a:t>
            </a:r>
          </a:p>
          <a:p>
            <a:pPr marL="548640" lvl="1" indent="-274320" fontAlgn="auto">
              <a:spcAft>
                <a:spcPts val="0"/>
              </a:spcAft>
              <a:buFont typeface="Wingdings 3"/>
              <a:buChar char=""/>
              <a:defRPr/>
            </a:pPr>
            <a:r>
              <a:rPr lang="en-IE" dirty="0">
                <a:solidFill>
                  <a:schemeClr val="tx1"/>
                </a:solidFill>
              </a:rPr>
              <a:t>You do this by including a reference list, usually at the end of your submission.</a:t>
            </a:r>
          </a:p>
          <a:p>
            <a:pPr marL="548640" lvl="1" indent="-274320" fontAlgn="auto">
              <a:spcAft>
                <a:spcPts val="0"/>
              </a:spcAft>
              <a:buFont typeface="Wingdings 3"/>
              <a:buChar char=""/>
              <a:defRPr/>
            </a:pPr>
            <a:r>
              <a:rPr lang="en-IE" dirty="0">
                <a:solidFill>
                  <a:schemeClr val="tx1"/>
                </a:solidFill>
              </a:rPr>
              <a:t>Each reference details</a:t>
            </a:r>
          </a:p>
          <a:p>
            <a:pPr marL="822960" lvl="2" fontAlgn="auto">
              <a:spcAft>
                <a:spcPts val="0"/>
              </a:spcAft>
              <a:buClr>
                <a:schemeClr val="bg1">
                  <a:shade val="50000"/>
                </a:schemeClr>
              </a:buClr>
              <a:buFont typeface="Wingdings 3"/>
              <a:buChar char=""/>
              <a:defRPr/>
            </a:pPr>
            <a:r>
              <a:rPr lang="en-IE" dirty="0"/>
              <a:t>The Author(s) Name</a:t>
            </a:r>
          </a:p>
          <a:p>
            <a:pPr marL="822960" lvl="2" fontAlgn="auto">
              <a:spcAft>
                <a:spcPts val="0"/>
              </a:spcAft>
              <a:buClr>
                <a:schemeClr val="bg1">
                  <a:shade val="50000"/>
                </a:schemeClr>
              </a:buClr>
              <a:buFont typeface="Wingdings 3"/>
              <a:buChar char=""/>
              <a:defRPr/>
            </a:pPr>
            <a:r>
              <a:rPr lang="en-IE" dirty="0"/>
              <a:t>The Year of Publication</a:t>
            </a:r>
          </a:p>
          <a:p>
            <a:pPr marL="822960" lvl="2" fontAlgn="auto">
              <a:spcAft>
                <a:spcPts val="0"/>
              </a:spcAft>
              <a:buClr>
                <a:schemeClr val="bg1">
                  <a:shade val="50000"/>
                </a:schemeClr>
              </a:buClr>
              <a:buFont typeface="Wingdings 3"/>
              <a:buChar char=""/>
              <a:defRPr/>
            </a:pPr>
            <a:r>
              <a:rPr lang="en-IE" dirty="0"/>
              <a:t>The Correct Title</a:t>
            </a:r>
          </a:p>
          <a:p>
            <a:pPr marL="822960" lvl="2" fontAlgn="auto">
              <a:spcAft>
                <a:spcPts val="0"/>
              </a:spcAft>
              <a:buClr>
                <a:schemeClr val="bg1">
                  <a:shade val="50000"/>
                </a:schemeClr>
              </a:buClr>
              <a:buFont typeface="Wingdings 3"/>
              <a:buChar char=""/>
              <a:defRPr/>
            </a:pPr>
            <a:r>
              <a:rPr lang="en-IE" dirty="0"/>
              <a:t>Where the source can be located – Details of Publication</a:t>
            </a:r>
          </a:p>
          <a:p>
            <a:pPr marL="548640" lvl="1" indent="-274320" fontAlgn="auto">
              <a:spcAft>
                <a:spcPts val="0"/>
              </a:spcAft>
              <a:buFont typeface="Wingdings 3"/>
              <a:buChar char=""/>
              <a:defRPr/>
            </a:pPr>
            <a:r>
              <a:rPr lang="en-IE" dirty="0">
                <a:solidFill>
                  <a:schemeClr val="tx1"/>
                </a:solidFill>
              </a:rPr>
              <a:t>This enables the reader of your work to locate any sources and read them for themselves.</a:t>
            </a:r>
          </a:p>
          <a:p>
            <a:pPr marL="548640" lvl="1" indent="-274320" fontAlgn="auto">
              <a:spcAft>
                <a:spcPts val="0"/>
              </a:spcAft>
              <a:buFont typeface="Wingdings 3"/>
              <a:buNone/>
              <a:defRPr/>
            </a:pPr>
            <a:endParaRPr lang="en-IE" dirty="0"/>
          </a:p>
        </p:txBody>
      </p:sp>
    </p:spTree>
    <p:custDataLst>
      <p:tags r:id="rId1"/>
    </p:custDataLst>
    <p:extLst>
      <p:ext uri="{BB962C8B-B14F-4D97-AF65-F5344CB8AC3E}">
        <p14:creationId xmlns:p14="http://schemas.microsoft.com/office/powerpoint/2010/main" val="286285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Citing and Referencing</a:t>
            </a:r>
          </a:p>
        </p:txBody>
      </p:sp>
      <p:sp>
        <p:nvSpPr>
          <p:cNvPr id="3" name="Content Placeholder 2"/>
          <p:cNvSpPr>
            <a:spLocks noGrp="1"/>
          </p:cNvSpPr>
          <p:nvPr>
            <p:ph sz="quarter" idx="1"/>
          </p:nvPr>
        </p:nvSpPr>
        <p:spPr/>
        <p:txBody>
          <a:bodyPr/>
          <a:lstStyle/>
          <a:p>
            <a:r>
              <a:rPr lang="en-IE" dirty="0"/>
              <a:t>Performed as a pair</a:t>
            </a:r>
          </a:p>
          <a:p>
            <a:r>
              <a:rPr lang="en-IE" dirty="0"/>
              <a:t>If you cite</a:t>
            </a:r>
          </a:p>
          <a:p>
            <a:r>
              <a:rPr lang="en-IE" dirty="0"/>
              <a:t>You must include the full detail in your reference list</a:t>
            </a:r>
          </a:p>
        </p:txBody>
      </p:sp>
    </p:spTree>
    <p:extLst>
      <p:ext uri="{BB962C8B-B14F-4D97-AF65-F5344CB8AC3E}">
        <p14:creationId xmlns:p14="http://schemas.microsoft.com/office/powerpoint/2010/main" val="41224464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IE" dirty="0"/>
              <a:t>Handling Common Knowledge</a:t>
            </a:r>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fontAlgn="auto">
              <a:spcAft>
                <a:spcPts val="0"/>
              </a:spcAft>
              <a:buFont typeface="Wingdings 3"/>
              <a:buChar char=""/>
              <a:defRPr/>
            </a:pPr>
            <a:r>
              <a:rPr lang="en-IE" dirty="0"/>
              <a:t>Any knowledge that is so well known that it can be found in numerous sources does not have to be cited.</a:t>
            </a:r>
          </a:p>
          <a:p>
            <a:pPr marL="548958" lvl="1" indent="-274320" fontAlgn="auto">
              <a:spcAft>
                <a:spcPts val="0"/>
              </a:spcAft>
              <a:buFont typeface="Wingdings 3"/>
              <a:buChar char=""/>
              <a:defRPr/>
            </a:pPr>
            <a:r>
              <a:rPr lang="en-IE" i="1" dirty="0"/>
              <a:t>A large number of programming languages use compilers to translate source code to machine executable code.  However, some are translated into a form which can be interpreted when needed to form machine code.</a:t>
            </a:r>
          </a:p>
          <a:p>
            <a:pPr marL="274320" indent="-274320" fontAlgn="auto">
              <a:spcAft>
                <a:spcPts val="0"/>
              </a:spcAft>
              <a:buFont typeface="Wingdings 3"/>
              <a:buChar char=""/>
              <a:defRPr/>
            </a:pPr>
            <a:r>
              <a:rPr lang="en-IE" dirty="0"/>
              <a:t>If however you want to state arguable facts and figures, you will need to cite a source to support your argument:</a:t>
            </a:r>
          </a:p>
          <a:p>
            <a:pPr marL="548958" lvl="1" indent="-274320" fontAlgn="auto">
              <a:spcAft>
                <a:spcPts val="0"/>
              </a:spcAft>
              <a:buFont typeface="Wingdings 3"/>
              <a:buChar char=""/>
              <a:defRPr/>
            </a:pPr>
            <a:r>
              <a:rPr lang="en-IE" i="1" dirty="0"/>
              <a:t>A large number of programming use compilers to translate source code to machine executable code.  However, some are translated into a form which can be interpreted when needed to form machine code, as this is more efficient in a mobile world (Jams, 2010).</a:t>
            </a:r>
          </a:p>
          <a:p>
            <a:pPr marL="0" indent="0" fontAlgn="auto">
              <a:spcAft>
                <a:spcPts val="0"/>
              </a:spcAft>
              <a:buNone/>
              <a:defRPr/>
            </a:pPr>
            <a:endParaRPr lang="en-IE" dirty="0"/>
          </a:p>
        </p:txBody>
      </p:sp>
    </p:spTree>
    <p:custDataLst>
      <p:tags r:id="rId1"/>
    </p:custDataLst>
    <p:extLst>
      <p:ext uri="{BB962C8B-B14F-4D97-AF65-F5344CB8AC3E}">
        <p14:creationId xmlns:p14="http://schemas.microsoft.com/office/powerpoint/2010/main" val="256033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To report </a:t>
            </a:r>
          </a:p>
          <a:p>
            <a:pPr lvl="1"/>
            <a:r>
              <a:rPr lang="en-IE" dirty="0"/>
              <a:t>Facts, figures, definitions, etc.</a:t>
            </a:r>
          </a:p>
          <a:p>
            <a:pPr lvl="1">
              <a:buNone/>
            </a:pPr>
            <a:endParaRPr lang="en-IE" dirty="0"/>
          </a:p>
          <a:p>
            <a:pPr marL="0" lvl="1" indent="0">
              <a:buNone/>
            </a:pPr>
            <a:r>
              <a:rPr lang="en-IE" dirty="0"/>
              <a:t>Citation:</a:t>
            </a:r>
          </a:p>
          <a:p>
            <a:pPr marL="274637" lvl="2" indent="0">
              <a:buNone/>
            </a:pPr>
            <a:r>
              <a:rPr lang="en-IE" dirty="0"/>
              <a:t>Standish (2009) showed that only 32% of all software projects were deemed successful.</a:t>
            </a:r>
          </a:p>
          <a:p>
            <a:pPr lvl="1" indent="0">
              <a:buNone/>
            </a:pPr>
            <a:endParaRPr lang="en-IE" dirty="0"/>
          </a:p>
          <a:p>
            <a:pPr marL="0" lvl="1" indent="0">
              <a:buNone/>
            </a:pPr>
            <a:r>
              <a:rPr lang="en-IE" dirty="0"/>
              <a:t>Reference:</a:t>
            </a:r>
          </a:p>
          <a:p>
            <a:pPr marL="274637" lvl="2" indent="0">
              <a:buNone/>
            </a:pPr>
            <a:r>
              <a:rPr lang="en-IE" dirty="0"/>
              <a:t>Standish (2009). </a:t>
            </a:r>
            <a:r>
              <a:rPr lang="en-IE" i="1" dirty="0"/>
              <a:t>Standish Chaos Report 2009</a:t>
            </a:r>
            <a:r>
              <a:rPr lang="en-IE" dirty="0"/>
              <a:t>.  Retrieved October 1, 2011, from http://www.standishgroup.com/</a:t>
            </a:r>
          </a:p>
          <a:p>
            <a:pPr marL="0" lvl="1" indent="0">
              <a:buNone/>
            </a:pPr>
            <a:r>
              <a:rPr lang="en-IE" dirty="0"/>
              <a:t>Format for Website:</a:t>
            </a:r>
          </a:p>
          <a:p>
            <a:pPr marL="274637" lvl="2" indent="0">
              <a:buNone/>
            </a:pPr>
            <a:r>
              <a:rPr lang="en-IE" dirty="0"/>
              <a:t>Author(s) (Year). </a:t>
            </a:r>
            <a:r>
              <a:rPr lang="en-IE" i="1" dirty="0"/>
              <a:t>Title Of Site In Italics With Each Word Capitalised</a:t>
            </a:r>
            <a:r>
              <a:rPr lang="en-IE" dirty="0"/>
              <a:t>.  Retrieved month day, year from URI</a:t>
            </a:r>
          </a:p>
        </p:txBody>
      </p:sp>
    </p:spTree>
    <p:extLst>
      <p:ext uri="{BB962C8B-B14F-4D97-AF65-F5344CB8AC3E}">
        <p14:creationId xmlns:p14="http://schemas.microsoft.com/office/powerpoint/2010/main" val="18401717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To acknowledge</a:t>
            </a:r>
          </a:p>
          <a:p>
            <a:pPr lvl="1"/>
            <a:r>
              <a:rPr lang="en-IE" dirty="0"/>
              <a:t>You are using some particular approach</a:t>
            </a:r>
          </a:p>
          <a:p>
            <a:pPr lvl="1" indent="0">
              <a:buNone/>
            </a:pPr>
            <a:endParaRPr lang="en-IE" dirty="0"/>
          </a:p>
          <a:p>
            <a:pPr marL="0" lvl="1" indent="0">
              <a:buNone/>
            </a:pPr>
            <a:r>
              <a:rPr lang="en-IE" dirty="0"/>
              <a:t>Citation:</a:t>
            </a:r>
          </a:p>
          <a:p>
            <a:pPr marL="274637" lvl="2" indent="0">
              <a:buNone/>
            </a:pPr>
            <a:r>
              <a:rPr lang="en-IE" dirty="0"/>
              <a:t>The process of developing a literature review used in this lecture is that by Diana Ridley (2008).</a:t>
            </a:r>
          </a:p>
          <a:p>
            <a:pPr marL="274637" lvl="2" indent="0">
              <a:buNone/>
            </a:pPr>
            <a:endParaRPr lang="en-IE" dirty="0"/>
          </a:p>
          <a:p>
            <a:pPr marL="0" lvl="1" indent="0">
              <a:buNone/>
            </a:pPr>
            <a:r>
              <a:rPr lang="en-IE" dirty="0"/>
              <a:t>Reference:</a:t>
            </a:r>
          </a:p>
          <a:p>
            <a:pPr marL="274637" lvl="2" indent="0">
              <a:buNone/>
            </a:pPr>
            <a:r>
              <a:rPr lang="en-IE" dirty="0"/>
              <a:t>Ridley, D. (2008).  </a:t>
            </a:r>
            <a:r>
              <a:rPr lang="en-IE" i="1" dirty="0"/>
              <a:t>The Literature Review:  A Step-by-Step Guide for Students </a:t>
            </a:r>
            <a:r>
              <a:rPr lang="en-IE" dirty="0"/>
              <a:t>(4th </a:t>
            </a:r>
            <a:r>
              <a:rPr lang="en-IE" dirty="0" err="1"/>
              <a:t>ed</a:t>
            </a:r>
            <a:r>
              <a:rPr lang="en-IE" dirty="0"/>
              <a:t>). Sage Publications Ltd. </a:t>
            </a:r>
          </a:p>
          <a:p>
            <a:pPr marL="0" lvl="1">
              <a:buNone/>
            </a:pPr>
            <a:r>
              <a:rPr lang="en-IE" dirty="0"/>
              <a:t>Format for Book:</a:t>
            </a:r>
          </a:p>
          <a:p>
            <a:pPr marL="274637" lvl="2" indent="0">
              <a:buNone/>
            </a:pPr>
            <a:r>
              <a:rPr lang="en-IE" dirty="0"/>
              <a:t>Author(s) (Year).  </a:t>
            </a:r>
            <a:r>
              <a:rPr lang="en-IE" i="1" dirty="0"/>
              <a:t>Name Of Book In Italics With Each Word Capitalised </a:t>
            </a:r>
            <a:r>
              <a:rPr lang="en-IE" dirty="0"/>
              <a:t>(edition if relevant). Location (if available): Publisher.</a:t>
            </a:r>
          </a:p>
          <a:p>
            <a:pPr marL="0" lvl="1">
              <a:buNone/>
            </a:pPr>
            <a:endParaRPr lang="en-IE" dirty="0"/>
          </a:p>
        </p:txBody>
      </p:sp>
    </p:spTree>
    <p:extLst>
      <p:ext uri="{BB962C8B-B14F-4D97-AF65-F5344CB8AC3E}">
        <p14:creationId xmlns:p14="http://schemas.microsoft.com/office/powerpoint/2010/main" val="18298029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a:xfrm>
            <a:off x="457200" y="1124744"/>
            <a:ext cx="8229600" cy="4937760"/>
          </a:xfrm>
        </p:spPr>
        <p:txBody>
          <a:bodyPr/>
          <a:lstStyle/>
          <a:p>
            <a:r>
              <a:rPr lang="en-IE" dirty="0"/>
              <a:t>Support for your opinion - Quotation:</a:t>
            </a:r>
          </a:p>
          <a:p>
            <a:pPr marL="0" indent="0">
              <a:buNone/>
            </a:pPr>
            <a:r>
              <a:rPr lang="en-IE" sz="2400" dirty="0"/>
              <a:t>Citation:</a:t>
            </a:r>
          </a:p>
          <a:p>
            <a:pPr marL="274638" lvl="1" indent="0">
              <a:buNone/>
            </a:pPr>
            <a:r>
              <a:rPr lang="en-IE" sz="2000" dirty="0"/>
              <a:t>The Waterfall model is still one of the most recognised models of software development. However, as Boehm (2006) states, “by the end of the 1970’s, problems were cropping up with formality and sequential waterfall processes” (p.70).</a:t>
            </a:r>
          </a:p>
          <a:p>
            <a:pPr marL="0" indent="0">
              <a:buNone/>
            </a:pPr>
            <a:endParaRPr lang="en-IE" sz="2400" dirty="0"/>
          </a:p>
          <a:p>
            <a:pPr marL="0" lvl="1" indent="0">
              <a:buNone/>
            </a:pPr>
            <a:r>
              <a:rPr lang="en-IE" dirty="0"/>
              <a:t>Reference:</a:t>
            </a:r>
          </a:p>
          <a:p>
            <a:pPr marL="274637" lvl="2" indent="0">
              <a:buNone/>
            </a:pPr>
            <a:r>
              <a:rPr lang="en-IE" dirty="0"/>
              <a:t>Boehm, B. (2006).  A View of 20th and 21st Century Software Engineering.</a:t>
            </a:r>
            <a:r>
              <a:rPr lang="en-GB" dirty="0"/>
              <a:t> </a:t>
            </a:r>
            <a:r>
              <a:rPr lang="en-IE" i="1" dirty="0"/>
              <a:t>Proceedings Of The 28th International Conference On Software Engineering</a:t>
            </a:r>
            <a:r>
              <a:rPr lang="en-IE" dirty="0"/>
              <a:t> (ICSE’06). New York, NY:  ACM New York.</a:t>
            </a:r>
          </a:p>
          <a:p>
            <a:pPr marL="0" lvl="1" indent="0">
              <a:buNone/>
            </a:pPr>
            <a:r>
              <a:rPr lang="en-IE" dirty="0"/>
              <a:t>Format for published conference paper:</a:t>
            </a:r>
          </a:p>
          <a:p>
            <a:pPr marL="274637" lvl="2">
              <a:buNone/>
            </a:pPr>
            <a:r>
              <a:rPr lang="en-IE" dirty="0"/>
              <a:t>Author(s) (Year). Title of Paper. </a:t>
            </a:r>
            <a:r>
              <a:rPr lang="en-IE" i="1" dirty="0"/>
              <a:t>Proceedings of Title Of Conference In Italics With Each Word Capitalised</a:t>
            </a:r>
            <a:r>
              <a:rPr lang="en-IE" dirty="0"/>
              <a:t>. Place of Publication (if known): Name of Publisher.</a:t>
            </a:r>
          </a:p>
          <a:p>
            <a:pPr marL="0" lvl="1">
              <a:buNone/>
            </a:pPr>
            <a:endParaRPr lang="en-IE" dirty="0"/>
          </a:p>
          <a:p>
            <a:endParaRPr lang="en-IE" dirty="0"/>
          </a:p>
        </p:txBody>
      </p:sp>
    </p:spTree>
    <p:custDataLst>
      <p:tags r:id="rId1"/>
    </p:custDataLst>
    <p:extLst>
      <p:ext uri="{BB962C8B-B14F-4D97-AF65-F5344CB8AC3E}">
        <p14:creationId xmlns:p14="http://schemas.microsoft.com/office/powerpoint/2010/main" val="12981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Sources in Your Work</a:t>
            </a:r>
          </a:p>
        </p:txBody>
      </p:sp>
      <p:sp>
        <p:nvSpPr>
          <p:cNvPr id="3" name="Content Placeholder 2"/>
          <p:cNvSpPr>
            <a:spLocks noGrp="1"/>
          </p:cNvSpPr>
          <p:nvPr>
            <p:ph sz="quarter" idx="1"/>
          </p:nvPr>
        </p:nvSpPr>
        <p:spPr/>
        <p:txBody>
          <a:bodyPr/>
          <a:lstStyle/>
          <a:p>
            <a:r>
              <a:rPr lang="en-IE" dirty="0"/>
              <a:t>Direct quote (page number(s) must be included)</a:t>
            </a:r>
          </a:p>
          <a:p>
            <a:pPr marL="0" indent="0">
              <a:buNone/>
            </a:pPr>
            <a:r>
              <a:rPr lang="en-IE" sz="2200" dirty="0" smtClean="0"/>
              <a:t>This </a:t>
            </a:r>
            <a:r>
              <a:rPr lang="en-IE" sz="2200" dirty="0"/>
              <a:t>"avoids the presence of diverse peaks of the same protein" (</a:t>
            </a:r>
            <a:r>
              <a:rPr lang="en-IE" sz="2200" dirty="0" err="1"/>
              <a:t>Cueto-Rojasa</a:t>
            </a:r>
            <a:r>
              <a:rPr lang="en-IE" sz="2200" dirty="0"/>
              <a:t>, </a:t>
            </a:r>
            <a:r>
              <a:rPr lang="en-IE" sz="2200" dirty="0" err="1"/>
              <a:t>Pereza</a:t>
            </a:r>
            <a:r>
              <a:rPr lang="en-IE" sz="2200" dirty="0"/>
              <a:t>, Perez-</a:t>
            </a:r>
            <a:r>
              <a:rPr lang="en-IE" sz="2200" dirty="0" err="1"/>
              <a:t>Sancheza</a:t>
            </a:r>
            <a:r>
              <a:rPr lang="en-IE" sz="2200" dirty="0"/>
              <a:t>, </a:t>
            </a:r>
            <a:r>
              <a:rPr lang="en-IE" sz="2200" dirty="0" err="1"/>
              <a:t>Ocampo-Juareza</a:t>
            </a:r>
            <a:r>
              <a:rPr lang="en-IE" sz="2200" dirty="0"/>
              <a:t>, &amp; Medina-</a:t>
            </a:r>
            <a:r>
              <a:rPr lang="en-IE" sz="2200" dirty="0" err="1"/>
              <a:t>Rivero</a:t>
            </a:r>
            <a:r>
              <a:rPr lang="en-IE" sz="2200" dirty="0"/>
              <a:t>, 2010, p. 1021).</a:t>
            </a:r>
          </a:p>
          <a:p>
            <a:endParaRPr lang="en-IE" dirty="0" smtClean="0"/>
          </a:p>
          <a:p>
            <a:pPr marL="0" lvl="1" indent="0">
              <a:buNone/>
            </a:pPr>
            <a:r>
              <a:rPr lang="en-IE" dirty="0"/>
              <a:t>Reference:</a:t>
            </a:r>
          </a:p>
          <a:p>
            <a:pPr marL="0" indent="0">
              <a:buNone/>
            </a:pPr>
            <a:r>
              <a:rPr lang="en-IE" sz="2000" dirty="0" smtClean="0"/>
              <a:t>Kingsley</a:t>
            </a:r>
            <a:r>
              <a:rPr lang="en-IE" sz="2000" dirty="0"/>
              <a:t>, M., </a:t>
            </a:r>
            <a:r>
              <a:rPr lang="en-IE" sz="2000" dirty="0" err="1"/>
              <a:t>Penas</a:t>
            </a:r>
            <a:r>
              <a:rPr lang="en-IE" sz="2000" dirty="0"/>
              <a:t>-Ruiz, C., Terry, C., &amp; Russell, M. (2014). Effects of carbohydrate-hydration strategies on glucose metabolism, sprint performance and hydration during a soccer match simulation in recreational players. </a:t>
            </a:r>
            <a:r>
              <a:rPr lang="en-IE" sz="2000" i="1" dirty="0"/>
              <a:t>Journal of Science and Medicine in Sport</a:t>
            </a:r>
            <a:r>
              <a:rPr lang="en-IE" sz="2000" dirty="0"/>
              <a:t>, </a:t>
            </a:r>
            <a:r>
              <a:rPr lang="en-IE" sz="2000" i="1" dirty="0"/>
              <a:t>17</a:t>
            </a:r>
            <a:r>
              <a:rPr lang="en-IE" sz="2000" dirty="0"/>
              <a:t>(2), 239-243. </a:t>
            </a:r>
            <a:r>
              <a:rPr lang="en-IE" sz="2000" dirty="0" smtClean="0"/>
              <a:t>doi:10.1016/j.jsams.2013.04.010</a:t>
            </a:r>
          </a:p>
          <a:p>
            <a:pPr marL="0" indent="0">
              <a:buNone/>
            </a:pPr>
            <a:r>
              <a:rPr lang="en-IE" sz="2300" dirty="0">
                <a:solidFill>
                  <a:schemeClr val="tx2"/>
                </a:solidFill>
              </a:rPr>
              <a:t>Format for journal article:</a:t>
            </a:r>
          </a:p>
          <a:p>
            <a:pPr marL="0" indent="0">
              <a:buNone/>
            </a:pPr>
            <a:r>
              <a:rPr lang="en-IE" sz="2000" dirty="0"/>
              <a:t>Author, A. A., Author, B. B., Author, C. C., Author, D. D., &amp; Author, E. E. (Year). Title of article. </a:t>
            </a:r>
            <a:r>
              <a:rPr lang="en-IE" sz="2000" i="1" dirty="0"/>
              <a:t>Title of Journal, Volume</a:t>
            </a:r>
            <a:r>
              <a:rPr lang="en-IE" sz="2000" dirty="0"/>
              <a:t>, pp-pp. </a:t>
            </a:r>
            <a:r>
              <a:rPr lang="en-IE" sz="2000" dirty="0" err="1"/>
              <a:t>doi:xx.xxxxxxxxxx</a:t>
            </a:r>
            <a:endParaRPr lang="en-IE" sz="2000" dirty="0"/>
          </a:p>
        </p:txBody>
      </p:sp>
    </p:spTree>
    <p:extLst>
      <p:ext uri="{BB962C8B-B14F-4D97-AF65-F5344CB8AC3E}">
        <p14:creationId xmlns:p14="http://schemas.microsoft.com/office/powerpoint/2010/main" val="32268804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Quoting</a:t>
            </a:r>
            <a:endParaRPr lang="en-IE" dirty="0"/>
          </a:p>
        </p:txBody>
      </p:sp>
      <p:sp>
        <p:nvSpPr>
          <p:cNvPr id="3" name="Content Placeholder 2"/>
          <p:cNvSpPr>
            <a:spLocks noGrp="1"/>
          </p:cNvSpPr>
          <p:nvPr>
            <p:ph sz="quarter" idx="1"/>
          </p:nvPr>
        </p:nvSpPr>
        <p:spPr/>
        <p:txBody>
          <a:bodyPr/>
          <a:lstStyle/>
          <a:p>
            <a:r>
              <a:rPr lang="en-IE" sz="2400" dirty="0"/>
              <a:t>Use </a:t>
            </a:r>
            <a:r>
              <a:rPr lang="en-IE" sz="2400" dirty="0" smtClean="0"/>
              <a:t>if: the a</a:t>
            </a:r>
            <a:r>
              <a:rPr lang="en-IE" sz="2000" dirty="0" smtClean="0"/>
              <a:t>uthor(s</a:t>
            </a:r>
            <a:r>
              <a:rPr lang="en-IE" sz="2000" dirty="0"/>
              <a:t>) is </a:t>
            </a:r>
            <a:r>
              <a:rPr lang="en-IE" sz="2000" dirty="0" smtClean="0"/>
              <a:t>Authoritative and you </a:t>
            </a:r>
            <a:r>
              <a:rPr lang="en-IE" sz="2000" dirty="0"/>
              <a:t>can’t think how you would paraphrase and retain the meaning</a:t>
            </a:r>
          </a:p>
          <a:p>
            <a:r>
              <a:rPr lang="en-IE" sz="2400" dirty="0"/>
              <a:t>Use </a:t>
            </a:r>
            <a:r>
              <a:rPr lang="en-IE" sz="2400" dirty="0" smtClean="0"/>
              <a:t>sparingly: it </a:t>
            </a:r>
            <a:r>
              <a:rPr lang="en-IE" sz="2000" dirty="0" smtClean="0"/>
              <a:t>is </a:t>
            </a:r>
            <a:r>
              <a:rPr lang="en-IE" sz="2000" dirty="0"/>
              <a:t>about </a:t>
            </a:r>
            <a:r>
              <a:rPr lang="en-IE" sz="2000" b="1" dirty="0"/>
              <a:t>your</a:t>
            </a:r>
            <a:r>
              <a:rPr lang="en-IE" sz="2000" dirty="0"/>
              <a:t> thinking</a:t>
            </a:r>
          </a:p>
          <a:p>
            <a:r>
              <a:rPr lang="en-IE" sz="2300" dirty="0"/>
              <a:t>Comment on the </a:t>
            </a:r>
            <a:r>
              <a:rPr lang="en-IE" sz="2300" dirty="0" smtClean="0"/>
              <a:t>quote afterwards</a:t>
            </a:r>
            <a:endParaRPr lang="en-IE" sz="2300" dirty="0"/>
          </a:p>
          <a:p>
            <a:r>
              <a:rPr lang="en-IE" sz="2400" dirty="0"/>
              <a:t>Short quotes</a:t>
            </a:r>
          </a:p>
          <a:p>
            <a:pPr lvl="1"/>
            <a:r>
              <a:rPr lang="en-IE" sz="2000" dirty="0"/>
              <a:t>Run into your text with quotation marks and citation</a:t>
            </a:r>
          </a:p>
          <a:p>
            <a:r>
              <a:rPr lang="en-IE" sz="2400" dirty="0"/>
              <a:t>Long quotes</a:t>
            </a:r>
          </a:p>
          <a:p>
            <a:pPr lvl="1"/>
            <a:r>
              <a:rPr lang="en-IE" sz="2000" dirty="0"/>
              <a:t>Start on separate line, </a:t>
            </a:r>
            <a:r>
              <a:rPr lang="en-IE" sz="2000" dirty="0" smtClean="0"/>
              <a:t>Indented</a:t>
            </a:r>
            <a:endParaRPr lang="en-IE" sz="2000" dirty="0"/>
          </a:p>
          <a:p>
            <a:pPr lvl="1"/>
            <a:r>
              <a:rPr lang="en-IE" sz="2000" dirty="0" smtClean="0"/>
              <a:t>You </a:t>
            </a:r>
            <a:r>
              <a:rPr lang="en-IE" sz="2000" dirty="0"/>
              <a:t>can leave out words and replace with ellipsis </a:t>
            </a:r>
            <a:r>
              <a:rPr lang="en-IE" sz="2000" dirty="0" smtClean="0"/>
              <a:t>(…)</a:t>
            </a:r>
          </a:p>
          <a:p>
            <a:pPr lvl="1"/>
            <a:r>
              <a:rPr lang="en-IE" sz="2000" dirty="0"/>
              <a:t>Include the citation</a:t>
            </a:r>
          </a:p>
          <a:p>
            <a:endParaRPr lang="en-IE" u="sng" dirty="0" smtClean="0"/>
          </a:p>
          <a:p>
            <a:r>
              <a:rPr lang="en-IE" u="sng" dirty="0" smtClean="0"/>
              <a:t>In APA6, quotes require page numbers in the citation!</a:t>
            </a:r>
            <a:endParaRPr lang="en-IE" u="sng" dirty="0"/>
          </a:p>
        </p:txBody>
      </p:sp>
    </p:spTree>
    <p:extLst>
      <p:ext uri="{BB962C8B-B14F-4D97-AF65-F5344CB8AC3E}">
        <p14:creationId xmlns:p14="http://schemas.microsoft.com/office/powerpoint/2010/main" val="80396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2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20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20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Summarise and Paraphrase</a:t>
            </a:r>
          </a:p>
        </p:txBody>
      </p:sp>
      <p:sp>
        <p:nvSpPr>
          <p:cNvPr id="3" name="Content Placeholder 2"/>
          <p:cNvSpPr>
            <a:spLocks noGrp="1"/>
          </p:cNvSpPr>
          <p:nvPr>
            <p:ph sz="quarter" idx="1"/>
          </p:nvPr>
        </p:nvSpPr>
        <p:spPr/>
        <p:txBody>
          <a:bodyPr/>
          <a:lstStyle/>
          <a:p>
            <a:r>
              <a:rPr lang="en-IE" dirty="0"/>
              <a:t>Paraphrase</a:t>
            </a:r>
          </a:p>
          <a:p>
            <a:pPr lvl="1"/>
            <a:r>
              <a:rPr lang="en-IE" dirty="0"/>
              <a:t>Extract meaning of a short section or paragraph</a:t>
            </a:r>
          </a:p>
          <a:p>
            <a:pPr lvl="1"/>
            <a:r>
              <a:rPr lang="en-IE" dirty="0"/>
              <a:t>Keep it short</a:t>
            </a:r>
          </a:p>
          <a:p>
            <a:pPr lvl="1"/>
            <a:r>
              <a:rPr lang="en-IE" dirty="0"/>
              <a:t>Use your own words</a:t>
            </a:r>
          </a:p>
          <a:p>
            <a:pPr lvl="1"/>
            <a:r>
              <a:rPr lang="en-IE" dirty="0"/>
              <a:t>Make it shorter than the original</a:t>
            </a:r>
          </a:p>
          <a:p>
            <a:pPr lvl="1"/>
            <a:r>
              <a:rPr lang="en-IE" dirty="0"/>
              <a:t>Include the citation</a:t>
            </a:r>
          </a:p>
          <a:p>
            <a:r>
              <a:rPr lang="en-IE" dirty="0"/>
              <a:t>Summarise</a:t>
            </a:r>
          </a:p>
          <a:p>
            <a:pPr lvl="1"/>
            <a:r>
              <a:rPr lang="en-IE" dirty="0"/>
              <a:t>State in short</a:t>
            </a:r>
          </a:p>
          <a:p>
            <a:pPr lvl="1"/>
            <a:r>
              <a:rPr lang="en-IE" dirty="0"/>
              <a:t>Make sure you cover key points – leaves out detail</a:t>
            </a:r>
          </a:p>
          <a:p>
            <a:pPr lvl="1"/>
            <a:r>
              <a:rPr lang="en-IE" dirty="0"/>
              <a:t>Use your </a:t>
            </a:r>
            <a:r>
              <a:rPr lang="en-IE"/>
              <a:t>own words</a:t>
            </a:r>
            <a:endParaRPr lang="en-IE" dirty="0"/>
          </a:p>
          <a:p>
            <a:pPr lvl="1"/>
            <a:r>
              <a:rPr lang="en-IE" dirty="0"/>
              <a:t>Include the citation</a:t>
            </a:r>
          </a:p>
        </p:txBody>
      </p:sp>
    </p:spTree>
    <p:extLst>
      <p:ext uri="{BB962C8B-B14F-4D97-AF65-F5344CB8AC3E}">
        <p14:creationId xmlns:p14="http://schemas.microsoft.com/office/powerpoint/2010/main" val="283450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20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20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2000"/>
                                        <p:tgtEl>
                                          <p:spTgt spid="3">
                                            <p:txEl>
                                              <p:pRg st="9" end="9"/>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IE"/>
              <a:t>Using Sources in Your Work</a:t>
            </a:r>
            <a:endParaRPr lang="en-IE" dirty="0"/>
          </a:p>
        </p:txBody>
      </p:sp>
      <p:sp>
        <p:nvSpPr>
          <p:cNvPr id="3" name="Content Placeholder 2"/>
          <p:cNvSpPr>
            <a:spLocks noGrp="1"/>
          </p:cNvSpPr>
          <p:nvPr>
            <p:ph sz="quarter" idx="1"/>
          </p:nvPr>
        </p:nvSpPr>
        <p:spPr/>
        <p:txBody>
          <a:bodyPr/>
          <a:lstStyle/>
          <a:p>
            <a:r>
              <a:rPr lang="en-IE" dirty="0"/>
              <a:t>Support for your opinion – Paraphrase</a:t>
            </a:r>
          </a:p>
          <a:p>
            <a:r>
              <a:rPr lang="en-IE" dirty="0"/>
              <a:t>Citation (multiple sources)</a:t>
            </a:r>
          </a:p>
          <a:p>
            <a:pPr marL="593725" lvl="2" indent="0">
              <a:buNone/>
            </a:pPr>
            <a:r>
              <a:rPr lang="en-IE" dirty="0"/>
              <a:t>It is recognised that there are problems in using rigid, formal approaches to software development such as the Waterfall model (Boehm, 2006; Green &amp; DiCaterino,1998).</a:t>
            </a:r>
          </a:p>
          <a:p>
            <a:pPr lvl="2">
              <a:buFont typeface="Wingdings" panose="05000000000000000000" pitchFamily="2" charset="2"/>
              <a:buChar char="à"/>
            </a:pPr>
            <a:r>
              <a:rPr lang="en-IE" sz="2400" dirty="0"/>
              <a:t>Citations in alphabetical order</a:t>
            </a:r>
          </a:p>
          <a:p>
            <a:pPr marL="868363" lvl="3" indent="0">
              <a:buNone/>
            </a:pPr>
            <a:endParaRPr lang="en-IE" sz="2200" dirty="0"/>
          </a:p>
          <a:p>
            <a:r>
              <a:rPr lang="en-IE" dirty="0"/>
              <a:t>Support for your opinion – Summary</a:t>
            </a:r>
          </a:p>
          <a:p>
            <a:r>
              <a:rPr lang="en-IE" dirty="0"/>
              <a:t>Citation </a:t>
            </a:r>
          </a:p>
          <a:p>
            <a:pPr marL="593725" lvl="2" indent="0">
              <a:buNone/>
            </a:pPr>
            <a:r>
              <a:rPr lang="en-IE" dirty="0"/>
              <a:t>Boehm (2006) presents a review of the discipline of software engineering, tracing its development over the past 60 years. (…)</a:t>
            </a:r>
          </a:p>
          <a:p>
            <a:pPr>
              <a:buFont typeface="Wingdings" panose="05000000000000000000" pitchFamily="2" charset="2"/>
              <a:buChar char="à"/>
            </a:pPr>
            <a:endParaRPr lang="en-IE" sz="3000" dirty="0"/>
          </a:p>
        </p:txBody>
      </p:sp>
    </p:spTree>
    <p:custDataLst>
      <p:tags r:id="rId1"/>
    </p:custDataLst>
    <p:extLst>
      <p:ext uri="{BB962C8B-B14F-4D97-AF65-F5344CB8AC3E}">
        <p14:creationId xmlns:p14="http://schemas.microsoft.com/office/powerpoint/2010/main" val="271567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Referencing Styles</a:t>
            </a:r>
            <a:endParaRPr lang="en-IE" dirty="0"/>
          </a:p>
        </p:txBody>
      </p:sp>
      <p:sp>
        <p:nvSpPr>
          <p:cNvPr id="3" name="Content Placeholder 2"/>
          <p:cNvSpPr>
            <a:spLocks noGrp="1"/>
          </p:cNvSpPr>
          <p:nvPr>
            <p:ph sz="quarter" idx="1"/>
          </p:nvPr>
        </p:nvSpPr>
        <p:spPr/>
        <p:txBody>
          <a:bodyPr/>
          <a:lstStyle/>
          <a:p>
            <a:r>
              <a:rPr lang="en-GB" dirty="0"/>
              <a:t>The APA6 Style</a:t>
            </a:r>
          </a:p>
          <a:p>
            <a:pPr lvl="1"/>
            <a:r>
              <a:rPr lang="en-GB" dirty="0"/>
              <a:t>For your </a:t>
            </a:r>
            <a:r>
              <a:rPr lang="en-GB" dirty="0" smtClean="0"/>
              <a:t>dissertation and assignments</a:t>
            </a:r>
            <a:endParaRPr lang="en-GB" dirty="0"/>
          </a:p>
          <a:p>
            <a:pPr lvl="2"/>
            <a:r>
              <a:rPr lang="en-GB" dirty="0">
                <a:hlinkClick r:id="rId2"/>
              </a:rPr>
              <a:t>http://www.lib.latrobe.edu.au/referencing-tool/apa-6</a:t>
            </a:r>
            <a:endParaRPr lang="en-GB" dirty="0"/>
          </a:p>
          <a:p>
            <a:pPr lvl="2"/>
            <a:r>
              <a:rPr lang="en-GB" dirty="0">
                <a:hlinkClick r:id="rId3"/>
              </a:rPr>
              <a:t>https://owl.english.purdue.edu/owl/resource/560/03</a:t>
            </a:r>
            <a:r>
              <a:rPr lang="en-GB" dirty="0" smtClean="0">
                <a:hlinkClick r:id="rId3"/>
              </a:rPr>
              <a:t>/</a:t>
            </a:r>
            <a:endParaRPr lang="en-GB" dirty="0" smtClean="0"/>
          </a:p>
          <a:p>
            <a:pPr lvl="2"/>
            <a:endParaRPr lang="en-GB" dirty="0"/>
          </a:p>
          <a:p>
            <a:pPr lvl="1"/>
            <a:r>
              <a:rPr lang="en-GB" dirty="0"/>
              <a:t>Reference List versus Bibliography</a:t>
            </a:r>
          </a:p>
          <a:p>
            <a:pPr lvl="2"/>
            <a:r>
              <a:rPr lang="en-IE" dirty="0"/>
              <a:t>A reference list consists of all sources cited in the text of a paper, listed alphabetically by author’s surname. </a:t>
            </a:r>
          </a:p>
          <a:p>
            <a:pPr lvl="2"/>
            <a:r>
              <a:rPr lang="en-IE" dirty="0"/>
              <a:t>A bibliography, however, may include resources that were consulted but not cited in the text</a:t>
            </a:r>
            <a:r>
              <a:rPr lang="en-IE" dirty="0" smtClean="0"/>
              <a:t>.</a:t>
            </a:r>
          </a:p>
          <a:p>
            <a:pPr lvl="2"/>
            <a:endParaRPr lang="en-IE" dirty="0"/>
          </a:p>
          <a:p>
            <a:pPr lvl="1"/>
            <a:r>
              <a:rPr lang="en-IE" dirty="0" smtClean="0"/>
              <a:t>APA6 calls for a </a:t>
            </a:r>
            <a:r>
              <a:rPr lang="en-IE" u="sng" dirty="0" smtClean="0"/>
              <a:t>Reference List</a:t>
            </a:r>
            <a:r>
              <a:rPr lang="en-IE" dirty="0" smtClean="0"/>
              <a:t>.</a:t>
            </a:r>
            <a:endParaRPr lang="en-GB" dirty="0"/>
          </a:p>
        </p:txBody>
      </p:sp>
    </p:spTree>
    <p:extLst>
      <p:ext uri="{BB962C8B-B14F-4D97-AF65-F5344CB8AC3E}">
        <p14:creationId xmlns:p14="http://schemas.microsoft.com/office/powerpoint/2010/main" val="15596538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IE" dirty="0"/>
              <a:t>How to Cite</a:t>
            </a:r>
            <a:endParaRPr lang="en-GB" dirty="0"/>
          </a:p>
        </p:txBody>
      </p:sp>
      <p:sp>
        <p:nvSpPr>
          <p:cNvPr id="35843" name="Text Box 10"/>
          <p:cNvSpPr>
            <a:spLocks noGrp="1" noChangeArrowheads="1"/>
          </p:cNvSpPr>
          <p:nvPr>
            <p:ph sz="quarter" idx="1"/>
          </p:nvPr>
        </p:nvSpPr>
        <p:spPr/>
        <p:txBody>
          <a:bodyPr/>
          <a:lstStyle/>
          <a:p>
            <a:r>
              <a:rPr lang="en-US" altLang="ko-KR" dirty="0"/>
              <a:t>The correct way to cite </a:t>
            </a:r>
          </a:p>
          <a:p>
            <a:pPr lvl="1"/>
            <a:r>
              <a:rPr lang="en-US" altLang="ko-KR" dirty="0"/>
              <a:t>Work by one Author is (Smith, 2005)</a:t>
            </a:r>
          </a:p>
          <a:p>
            <a:pPr lvl="1"/>
            <a:r>
              <a:rPr lang="en-US" altLang="ko-KR" dirty="0"/>
              <a:t>Work by 2 Authors is (Smith &amp; Jones, 2005)</a:t>
            </a:r>
          </a:p>
          <a:p>
            <a:pPr lvl="2"/>
            <a:r>
              <a:rPr lang="en-IE" altLang="ko-KR" dirty="0"/>
              <a:t>Use the word "and" between the authors' names within the text, and use “&amp;” in the parentheses.</a:t>
            </a:r>
            <a:endParaRPr lang="en-US" altLang="ko-KR" dirty="0"/>
          </a:p>
          <a:p>
            <a:pPr lvl="1"/>
            <a:r>
              <a:rPr lang="en-US" altLang="ko-KR" dirty="0"/>
              <a:t>Work by 3-5 Authors is (Smith </a:t>
            </a:r>
            <a:r>
              <a:rPr lang="en-US" altLang="ko-KR" i="1" dirty="0"/>
              <a:t>et al., </a:t>
            </a:r>
            <a:r>
              <a:rPr lang="en-US" altLang="ko-KR" dirty="0"/>
              <a:t>2005) </a:t>
            </a:r>
          </a:p>
          <a:p>
            <a:pPr lvl="2"/>
            <a:r>
              <a:rPr lang="en-US" altLang="ko-KR" dirty="0"/>
              <a:t>On the first time, </a:t>
            </a:r>
            <a:r>
              <a:rPr lang="en-IE" altLang="ko-KR" dirty="0"/>
              <a:t>list all the authors. </a:t>
            </a:r>
          </a:p>
          <a:p>
            <a:pPr lvl="2"/>
            <a:r>
              <a:rPr lang="en-IE" altLang="ko-KR" dirty="0"/>
              <a:t>E.g. (Smith, Jones, Sun, Berry &amp; Harlow, 2005)</a:t>
            </a:r>
          </a:p>
          <a:p>
            <a:pPr lvl="2"/>
            <a:r>
              <a:rPr lang="en-GB" dirty="0"/>
              <a:t>“</a:t>
            </a:r>
            <a:r>
              <a:rPr lang="en-GB" i="1" dirty="0"/>
              <a:t>et al.</a:t>
            </a:r>
            <a:r>
              <a:rPr lang="en-GB" dirty="0"/>
              <a:t>” is an abbreviation of  “</a:t>
            </a:r>
            <a:r>
              <a:rPr lang="fr-FR" dirty="0"/>
              <a:t>et alia</a:t>
            </a:r>
            <a:r>
              <a:rPr lang="en-GB" dirty="0"/>
              <a:t>”, so the full stop is necessary.  And, as it is a foreign phrase, it must always be in </a:t>
            </a:r>
            <a:r>
              <a:rPr lang="en-GB" i="1" dirty="0"/>
              <a:t>italics</a:t>
            </a:r>
            <a:r>
              <a:rPr lang="en-GB" dirty="0"/>
              <a:t>.</a:t>
            </a:r>
            <a:endParaRPr lang="en-US" altLang="ko-KR" dirty="0"/>
          </a:p>
          <a:p>
            <a:pPr lvl="1"/>
            <a:r>
              <a:rPr lang="en-IE" dirty="0"/>
              <a:t>Works by the same Author(s) in the same year</a:t>
            </a:r>
          </a:p>
          <a:p>
            <a:pPr lvl="2"/>
            <a:r>
              <a:rPr lang="en-IE" dirty="0"/>
              <a:t>Distinguish by adding a, b, c etc. after the year</a:t>
            </a:r>
          </a:p>
          <a:p>
            <a:pPr lvl="2"/>
            <a:r>
              <a:rPr lang="en-IE" dirty="0"/>
              <a:t>E.g. (Boehm, 2006a; Boehm, 2006b)</a:t>
            </a:r>
            <a:endParaRPr lang="en-GB" dirty="0"/>
          </a:p>
        </p:txBody>
      </p:sp>
    </p:spTree>
    <p:extLst>
      <p:ext uri="{BB962C8B-B14F-4D97-AF65-F5344CB8AC3E}">
        <p14:creationId xmlns:p14="http://schemas.microsoft.com/office/powerpoint/2010/main" val="35378298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How to Cite/Reference</a:t>
            </a:r>
          </a:p>
        </p:txBody>
      </p:sp>
      <p:sp>
        <p:nvSpPr>
          <p:cNvPr id="3" name="Content Placeholder 2"/>
          <p:cNvSpPr>
            <a:spLocks noGrp="1"/>
          </p:cNvSpPr>
          <p:nvPr>
            <p:ph sz="quarter" idx="1"/>
          </p:nvPr>
        </p:nvSpPr>
        <p:spPr/>
        <p:txBody>
          <a:bodyPr/>
          <a:lstStyle/>
          <a:p>
            <a:r>
              <a:rPr lang="en-IE" dirty="0"/>
              <a:t>What if I read something which cites a source I haven’t read myself? And I want to refer to it? </a:t>
            </a:r>
          </a:p>
          <a:p>
            <a:r>
              <a:rPr lang="en-IE" dirty="0"/>
              <a:t>E.g.</a:t>
            </a:r>
          </a:p>
          <a:p>
            <a:pPr lvl="1"/>
            <a:r>
              <a:rPr lang="en-IE" dirty="0"/>
              <a:t>X’s theory of y (1999) as cited in (Z, 2000) states that….</a:t>
            </a:r>
          </a:p>
          <a:p>
            <a:r>
              <a:rPr lang="en-IE" dirty="0"/>
              <a:t>Do not use this too often</a:t>
            </a:r>
          </a:p>
        </p:txBody>
      </p:sp>
    </p:spTree>
    <p:extLst>
      <p:ext uri="{BB962C8B-B14F-4D97-AF65-F5344CB8AC3E}">
        <p14:creationId xmlns:p14="http://schemas.microsoft.com/office/powerpoint/2010/main" val="31209725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Reference Management Software</a:t>
            </a:r>
          </a:p>
        </p:txBody>
      </p:sp>
      <p:sp>
        <p:nvSpPr>
          <p:cNvPr id="3" name="Content Placeholder 2"/>
          <p:cNvSpPr>
            <a:spLocks noGrp="1"/>
          </p:cNvSpPr>
          <p:nvPr>
            <p:ph sz="quarter" idx="1"/>
          </p:nvPr>
        </p:nvSpPr>
        <p:spPr/>
        <p:txBody>
          <a:bodyPr/>
          <a:lstStyle/>
          <a:p>
            <a:r>
              <a:rPr lang="en-IE" dirty="0" err="1">
                <a:hlinkClick r:id="rId2"/>
              </a:rPr>
              <a:t>Zotero</a:t>
            </a:r>
            <a:endParaRPr lang="en-IE" dirty="0"/>
          </a:p>
          <a:p>
            <a:r>
              <a:rPr lang="en-IE" dirty="0" err="1">
                <a:hlinkClick r:id="rId3"/>
              </a:rPr>
              <a:t>Mendeley</a:t>
            </a:r>
            <a:endParaRPr lang="en-IE" dirty="0">
              <a:hlinkClick r:id="rId3"/>
            </a:endParaRPr>
          </a:p>
          <a:p>
            <a:r>
              <a:rPr lang="en-IE" dirty="0">
                <a:hlinkClick r:id="rId3"/>
              </a:rPr>
              <a:t>Endnote</a:t>
            </a:r>
          </a:p>
          <a:p>
            <a:pPr>
              <a:buNone/>
            </a:pPr>
            <a:endParaRPr lang="en-IE" dirty="0"/>
          </a:p>
          <a:p>
            <a:r>
              <a:rPr lang="en-IE" dirty="0"/>
              <a:t>Overview of </a:t>
            </a:r>
            <a:r>
              <a:rPr lang="en-IE" dirty="0" err="1"/>
              <a:t>Zotero</a:t>
            </a:r>
            <a:endParaRPr lang="en-IE" dirty="0"/>
          </a:p>
          <a:p>
            <a:pPr lvl="1"/>
            <a:r>
              <a:rPr lang="en-IE" dirty="0">
                <a:hlinkClick r:id="rId4"/>
              </a:rPr>
              <a:t>https://www.youtube.com/watch?v=mP5AzJHXfIA</a:t>
            </a:r>
            <a:endParaRPr lang="en-IE" dirty="0"/>
          </a:p>
          <a:p>
            <a:r>
              <a:rPr lang="en-IE" dirty="0" err="1"/>
              <a:t>Zotero</a:t>
            </a:r>
            <a:r>
              <a:rPr lang="en-IE" dirty="0"/>
              <a:t> Add-In for MS Word</a:t>
            </a:r>
          </a:p>
          <a:p>
            <a:pPr lvl="1"/>
            <a:r>
              <a:rPr lang="en-IE" dirty="0">
                <a:hlinkClick r:id="rId5"/>
              </a:rPr>
              <a:t>https://www.youtube.com/watch?v=imSxa5MbXrc</a:t>
            </a:r>
            <a:endParaRPr lang="en-IE" dirty="0"/>
          </a:p>
          <a:p>
            <a:pPr lvl="1"/>
            <a:endParaRPr lang="en-IE" dirty="0"/>
          </a:p>
          <a:p>
            <a:r>
              <a:rPr lang="en-IE" dirty="0"/>
              <a:t>CAUTION: the tools are not foolproof and need your verification!</a:t>
            </a:r>
          </a:p>
        </p:txBody>
      </p:sp>
    </p:spTree>
    <p:extLst>
      <p:ext uri="{BB962C8B-B14F-4D97-AF65-F5344CB8AC3E}">
        <p14:creationId xmlns:p14="http://schemas.microsoft.com/office/powerpoint/2010/main" val="31508170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err="1"/>
              <a:t>Activity</a:t>
            </a:r>
            <a:endParaRPr lang="en-GB" dirty="0"/>
          </a:p>
        </p:txBody>
      </p:sp>
      <p:sp>
        <p:nvSpPr>
          <p:cNvPr id="3" name="Content Placeholder 2"/>
          <p:cNvSpPr>
            <a:spLocks noGrp="1"/>
          </p:cNvSpPr>
          <p:nvPr>
            <p:ph sz="quarter" idx="1"/>
          </p:nvPr>
        </p:nvSpPr>
        <p:spPr/>
        <p:txBody>
          <a:bodyPr/>
          <a:lstStyle/>
          <a:p>
            <a:r>
              <a:rPr lang="pt-PT" dirty="0"/>
              <a:t>Download and install Zotero</a:t>
            </a:r>
          </a:p>
          <a:p>
            <a:r>
              <a:rPr lang="pt-PT" dirty="0"/>
              <a:t>Import the sources you found with your keyword search strategy into Zotero. </a:t>
            </a:r>
            <a:endParaRPr lang="pt-PT" dirty="0" smtClean="0"/>
          </a:p>
          <a:p>
            <a:r>
              <a:rPr lang="pt-PT" dirty="0" smtClean="0"/>
              <a:t>Create </a:t>
            </a:r>
            <a:r>
              <a:rPr lang="pt-PT" dirty="0"/>
              <a:t>a </a:t>
            </a:r>
            <a:r>
              <a:rPr lang="pt-PT" dirty="0" smtClean="0"/>
              <a:t>document </a:t>
            </a:r>
            <a:r>
              <a:rPr lang="pt-PT" dirty="0"/>
              <a:t>with a few citations (APA6) </a:t>
            </a:r>
            <a:r>
              <a:rPr lang="pt-PT" dirty="0" smtClean="0"/>
              <a:t>from: </a:t>
            </a:r>
          </a:p>
          <a:p>
            <a:pPr lvl="1"/>
            <a:r>
              <a:rPr lang="pt-PT" dirty="0" smtClean="0"/>
              <a:t>Journal </a:t>
            </a:r>
            <a:r>
              <a:rPr lang="pt-PT" dirty="0"/>
              <a:t>articles</a:t>
            </a:r>
          </a:p>
          <a:p>
            <a:pPr lvl="1"/>
            <a:r>
              <a:rPr lang="pt-PT" dirty="0"/>
              <a:t>Books/Chapters</a:t>
            </a:r>
          </a:p>
          <a:p>
            <a:pPr lvl="1"/>
            <a:r>
              <a:rPr lang="pt-PT" dirty="0"/>
              <a:t>Conference papers</a:t>
            </a:r>
          </a:p>
          <a:p>
            <a:pPr lvl="1"/>
            <a:r>
              <a:rPr lang="pt-PT" dirty="0"/>
              <a:t>Webpages</a:t>
            </a:r>
          </a:p>
          <a:p>
            <a:r>
              <a:rPr lang="pt-PT" dirty="0"/>
              <a:t>Create automatic References with </a:t>
            </a:r>
            <a:r>
              <a:rPr lang="pt-PT" dirty="0" smtClean="0"/>
              <a:t>Zotero</a:t>
            </a:r>
          </a:p>
          <a:p>
            <a:r>
              <a:rPr lang="pt-PT" dirty="0"/>
              <a:t>Verify them </a:t>
            </a:r>
            <a:r>
              <a:rPr lang="pt-PT" dirty="0" smtClean="0"/>
              <a:t>against </a:t>
            </a:r>
            <a:r>
              <a:rPr lang="pt-PT" dirty="0" smtClean="0">
                <a:hlinkClick r:id="rId2"/>
              </a:rPr>
              <a:t>http</a:t>
            </a:r>
            <a:r>
              <a:rPr lang="pt-PT" dirty="0">
                <a:hlinkClick r:id="rId2"/>
              </a:rPr>
              <a:t>://</a:t>
            </a:r>
            <a:r>
              <a:rPr lang="pt-PT" dirty="0" smtClean="0">
                <a:hlinkClick r:id="rId2"/>
              </a:rPr>
              <a:t>www.lib.latrobe.edu.au/referencing-tool/apa-6</a:t>
            </a:r>
            <a:r>
              <a:rPr lang="pt-PT" dirty="0" smtClean="0"/>
              <a:t> </a:t>
            </a:r>
            <a:endParaRPr lang="pt-PT" dirty="0"/>
          </a:p>
          <a:p>
            <a:pPr lvl="1"/>
            <a:endParaRPr lang="pt-PT" dirty="0"/>
          </a:p>
          <a:p>
            <a:pPr lvl="1"/>
            <a:endParaRPr lang="en-GB"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emplate>
  <TotalTime>788</TotalTime>
  <Words>1401</Words>
  <Application>Microsoft Office PowerPoint</Application>
  <PresentationFormat>On-screen Show (4:3)</PresentationFormat>
  <Paragraphs>178</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Origin</vt:lpstr>
      <vt:lpstr>Citation and Referencing</vt:lpstr>
      <vt:lpstr>Aim of Session</vt:lpstr>
      <vt:lpstr>Using Sources in Your Work</vt:lpstr>
      <vt:lpstr>Using Sources in Your Work</vt:lpstr>
      <vt:lpstr>Using Sources in Your Work</vt:lpstr>
      <vt:lpstr>Two Things You Need To Know</vt:lpstr>
      <vt:lpstr>Two Things You Need To Know</vt:lpstr>
      <vt:lpstr>Citing and Referencing</vt:lpstr>
      <vt:lpstr>Handling Common Knowledge</vt:lpstr>
      <vt:lpstr>Using Sources in Your Work</vt:lpstr>
      <vt:lpstr>Using Sources in Your Work</vt:lpstr>
      <vt:lpstr>Using Sources in Your Work</vt:lpstr>
      <vt:lpstr>Using Sources in Your Work</vt:lpstr>
      <vt:lpstr>Quoting</vt:lpstr>
      <vt:lpstr>Summarise and Paraphrase</vt:lpstr>
      <vt:lpstr>Using Sources in Your Work</vt:lpstr>
      <vt:lpstr>Referencing Styles</vt:lpstr>
      <vt:lpstr>How to Cite</vt:lpstr>
      <vt:lpstr>How to Cite/Reference</vt:lpstr>
      <vt:lpstr>Reference Management Software</vt:lpstr>
      <vt:lpstr>Activity</vt:lpstr>
    </vt:vector>
  </TitlesOfParts>
  <Company>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research?</dc:title>
  <dc:creator>x</dc:creator>
  <cp:lastModifiedBy>John-PC</cp:lastModifiedBy>
  <cp:revision>325</cp:revision>
  <dcterms:created xsi:type="dcterms:W3CDTF">2004-11-26T12:56:11Z</dcterms:created>
  <dcterms:modified xsi:type="dcterms:W3CDTF">2020-03-17T18:04:25Z</dcterms:modified>
</cp:coreProperties>
</file>