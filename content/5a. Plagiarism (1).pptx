
<file path=[Content_Types].xml><?xml version="1.0" encoding="utf-8"?>
<Types xmlns="http://schemas.openxmlformats.org/package/2006/content-types">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1" r:id="rId1"/>
  </p:sldMasterIdLst>
  <p:notesMasterIdLst>
    <p:notesMasterId r:id="rId28"/>
  </p:notesMasterIdLst>
  <p:handoutMasterIdLst>
    <p:handoutMasterId r:id="rId29"/>
  </p:handoutMasterIdLst>
  <p:sldIdLst>
    <p:sldId id="318" r:id="rId2"/>
    <p:sldId id="300" r:id="rId3"/>
    <p:sldId id="302" r:id="rId4"/>
    <p:sldId id="303" r:id="rId5"/>
    <p:sldId id="314" r:id="rId6"/>
    <p:sldId id="304" r:id="rId7"/>
    <p:sldId id="305" r:id="rId8"/>
    <p:sldId id="265" r:id="rId9"/>
    <p:sldId id="266" r:id="rId10"/>
    <p:sldId id="282" r:id="rId11"/>
    <p:sldId id="283" r:id="rId12"/>
    <p:sldId id="285" r:id="rId13"/>
    <p:sldId id="316" r:id="rId14"/>
    <p:sldId id="268" r:id="rId15"/>
    <p:sldId id="292" r:id="rId16"/>
    <p:sldId id="293" r:id="rId17"/>
    <p:sldId id="294" r:id="rId18"/>
    <p:sldId id="296" r:id="rId19"/>
    <p:sldId id="312" r:id="rId20"/>
    <p:sldId id="297" r:id="rId21"/>
    <p:sldId id="298" r:id="rId22"/>
    <p:sldId id="295" r:id="rId23"/>
    <p:sldId id="319" r:id="rId24"/>
    <p:sldId id="299" r:id="rId25"/>
    <p:sldId id="286" r:id="rId26"/>
    <p:sldId id="317" r:id="rId27"/>
  </p:sldIdLst>
  <p:sldSz cx="9144000" cy="6858000" type="screen4x3"/>
  <p:notesSz cx="7099300" cy="10234613"/>
  <p:custDataLst>
    <p:tags r:id="rId3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43" autoAdjust="0"/>
    <p:restoredTop sz="94620" autoAdjust="0"/>
  </p:normalViewPr>
  <p:slideViewPr>
    <p:cSldViewPr>
      <p:cViewPr>
        <p:scale>
          <a:sx n="79" d="100"/>
          <a:sy n="79" d="100"/>
        </p:scale>
        <p:origin x="-1260"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ags" Target="tags/tag1.xml"/><Relationship Id="rId35" Type="http://schemas.microsoft.com/office/2015/10/relationships/revisionInfo" Target="revisionInfo.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6363" cy="511731"/>
          </a:xfrm>
          <a:prstGeom prst="rect">
            <a:avLst/>
          </a:prstGeom>
        </p:spPr>
        <p:txBody>
          <a:bodyPr vert="horz" lIns="99048" tIns="49524" rIns="99048" bIns="49524" rtlCol="0"/>
          <a:lstStyle>
            <a:lvl1pPr algn="l">
              <a:defRPr sz="1300"/>
            </a:lvl1pPr>
          </a:lstStyle>
          <a:p>
            <a:endParaRPr lang="en-IE"/>
          </a:p>
        </p:txBody>
      </p:sp>
      <p:sp>
        <p:nvSpPr>
          <p:cNvPr id="3" name="Date Placeholder 2"/>
          <p:cNvSpPr>
            <a:spLocks noGrp="1"/>
          </p:cNvSpPr>
          <p:nvPr>
            <p:ph type="dt" sz="quarter" idx="1"/>
          </p:nvPr>
        </p:nvSpPr>
        <p:spPr>
          <a:xfrm>
            <a:off x="4021294" y="0"/>
            <a:ext cx="3076363" cy="511731"/>
          </a:xfrm>
          <a:prstGeom prst="rect">
            <a:avLst/>
          </a:prstGeom>
        </p:spPr>
        <p:txBody>
          <a:bodyPr vert="horz" lIns="99048" tIns="49524" rIns="99048" bIns="49524" rtlCol="0"/>
          <a:lstStyle>
            <a:lvl1pPr algn="r">
              <a:defRPr sz="1300"/>
            </a:lvl1pPr>
          </a:lstStyle>
          <a:p>
            <a:fld id="{AB2DAF64-2484-4D3F-9517-E4271754B678}" type="datetimeFigureOut">
              <a:rPr lang="en-IE" smtClean="0"/>
              <a:pPr/>
              <a:t>22/02/2020</a:t>
            </a:fld>
            <a:endParaRPr lang="en-IE"/>
          </a:p>
        </p:txBody>
      </p:sp>
      <p:sp>
        <p:nvSpPr>
          <p:cNvPr id="4" name="Footer Placeholder 3"/>
          <p:cNvSpPr>
            <a:spLocks noGrp="1"/>
          </p:cNvSpPr>
          <p:nvPr>
            <p:ph type="ftr" sz="quarter" idx="2"/>
          </p:nvPr>
        </p:nvSpPr>
        <p:spPr>
          <a:xfrm>
            <a:off x="0" y="9721106"/>
            <a:ext cx="3076363" cy="511731"/>
          </a:xfrm>
          <a:prstGeom prst="rect">
            <a:avLst/>
          </a:prstGeom>
        </p:spPr>
        <p:txBody>
          <a:bodyPr vert="horz" lIns="99048" tIns="49524" rIns="99048" bIns="49524" rtlCol="0" anchor="b"/>
          <a:lstStyle>
            <a:lvl1pPr algn="l">
              <a:defRPr sz="1300"/>
            </a:lvl1pPr>
          </a:lstStyle>
          <a:p>
            <a:endParaRPr lang="en-IE"/>
          </a:p>
        </p:txBody>
      </p:sp>
      <p:sp>
        <p:nvSpPr>
          <p:cNvPr id="5" name="Slide Number Placeholder 4"/>
          <p:cNvSpPr>
            <a:spLocks noGrp="1"/>
          </p:cNvSpPr>
          <p:nvPr>
            <p:ph type="sldNum" sz="quarter" idx="3"/>
          </p:nvPr>
        </p:nvSpPr>
        <p:spPr>
          <a:xfrm>
            <a:off x="4021294" y="9721106"/>
            <a:ext cx="3076363" cy="511731"/>
          </a:xfrm>
          <a:prstGeom prst="rect">
            <a:avLst/>
          </a:prstGeom>
        </p:spPr>
        <p:txBody>
          <a:bodyPr vert="horz" lIns="99048" tIns="49524" rIns="99048" bIns="49524" rtlCol="0" anchor="b"/>
          <a:lstStyle>
            <a:lvl1pPr algn="r">
              <a:defRPr sz="1300"/>
            </a:lvl1pPr>
          </a:lstStyle>
          <a:p>
            <a:fld id="{EFAF78A9-0BC2-48CC-8E87-F35E2DC7771C}" type="slidenum">
              <a:rPr lang="en-IE" smtClean="0"/>
              <a:pPr/>
              <a:t>‹#›</a:t>
            </a:fld>
            <a:endParaRPr lang="en-IE"/>
          </a:p>
        </p:txBody>
      </p:sp>
    </p:spTree>
    <p:extLst>
      <p:ext uri="{BB962C8B-B14F-4D97-AF65-F5344CB8AC3E}">
        <p14:creationId xmlns:p14="http://schemas.microsoft.com/office/powerpoint/2010/main" val="47095988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6363" cy="511731"/>
          </a:xfrm>
          <a:prstGeom prst="rect">
            <a:avLst/>
          </a:prstGeom>
        </p:spPr>
        <p:txBody>
          <a:bodyPr vert="horz" lIns="99048" tIns="49524" rIns="99048" bIns="49524" rtlCol="0"/>
          <a:lstStyle>
            <a:lvl1pPr algn="l">
              <a:defRPr sz="1300"/>
            </a:lvl1pPr>
          </a:lstStyle>
          <a:p>
            <a:endParaRPr lang="en-IE"/>
          </a:p>
        </p:txBody>
      </p:sp>
      <p:sp>
        <p:nvSpPr>
          <p:cNvPr id="3" name="Date Placeholder 2"/>
          <p:cNvSpPr>
            <a:spLocks noGrp="1"/>
          </p:cNvSpPr>
          <p:nvPr>
            <p:ph type="dt" idx="1"/>
          </p:nvPr>
        </p:nvSpPr>
        <p:spPr>
          <a:xfrm>
            <a:off x="4021294" y="0"/>
            <a:ext cx="3076363" cy="511731"/>
          </a:xfrm>
          <a:prstGeom prst="rect">
            <a:avLst/>
          </a:prstGeom>
        </p:spPr>
        <p:txBody>
          <a:bodyPr vert="horz" lIns="99048" tIns="49524" rIns="99048" bIns="49524" rtlCol="0"/>
          <a:lstStyle>
            <a:lvl1pPr algn="r">
              <a:defRPr sz="1300"/>
            </a:lvl1pPr>
          </a:lstStyle>
          <a:p>
            <a:fld id="{4E04BEED-D4CE-43E5-B62C-B1613B7DA276}" type="datetimeFigureOut">
              <a:rPr lang="en-IE" smtClean="0"/>
              <a:pPr/>
              <a:t>22/02/2020</a:t>
            </a:fld>
            <a:endParaRPr lang="en-IE"/>
          </a:p>
        </p:txBody>
      </p:sp>
      <p:sp>
        <p:nvSpPr>
          <p:cNvPr id="4" name="Slide Image Placeholder 3"/>
          <p:cNvSpPr>
            <a:spLocks noGrp="1" noRot="1" noChangeAspect="1"/>
          </p:cNvSpPr>
          <p:nvPr>
            <p:ph type="sldImg" idx="2"/>
          </p:nvPr>
        </p:nvSpPr>
        <p:spPr>
          <a:xfrm>
            <a:off x="992188" y="768350"/>
            <a:ext cx="5114925" cy="3836988"/>
          </a:xfrm>
          <a:prstGeom prst="rect">
            <a:avLst/>
          </a:prstGeom>
          <a:noFill/>
          <a:ln w="12700">
            <a:solidFill>
              <a:prstClr val="black"/>
            </a:solidFill>
          </a:ln>
        </p:spPr>
        <p:txBody>
          <a:bodyPr vert="horz" lIns="99048" tIns="49524" rIns="99048" bIns="49524" rtlCol="0" anchor="ctr"/>
          <a:lstStyle/>
          <a:p>
            <a:endParaRPr lang="en-IE"/>
          </a:p>
        </p:txBody>
      </p:sp>
      <p:sp>
        <p:nvSpPr>
          <p:cNvPr id="5" name="Notes Placeholder 4"/>
          <p:cNvSpPr>
            <a:spLocks noGrp="1"/>
          </p:cNvSpPr>
          <p:nvPr>
            <p:ph type="body" sz="quarter" idx="3"/>
          </p:nvPr>
        </p:nvSpPr>
        <p:spPr>
          <a:xfrm>
            <a:off x="709930" y="4861441"/>
            <a:ext cx="5679440" cy="4605576"/>
          </a:xfrm>
          <a:prstGeom prst="rect">
            <a:avLst/>
          </a:prstGeom>
        </p:spPr>
        <p:txBody>
          <a:bodyPr vert="horz" lIns="99048" tIns="49524" rIns="99048" bIns="49524"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6" name="Footer Placeholder 5"/>
          <p:cNvSpPr>
            <a:spLocks noGrp="1"/>
          </p:cNvSpPr>
          <p:nvPr>
            <p:ph type="ftr" sz="quarter" idx="4"/>
          </p:nvPr>
        </p:nvSpPr>
        <p:spPr>
          <a:xfrm>
            <a:off x="0" y="9721106"/>
            <a:ext cx="3076363" cy="511731"/>
          </a:xfrm>
          <a:prstGeom prst="rect">
            <a:avLst/>
          </a:prstGeom>
        </p:spPr>
        <p:txBody>
          <a:bodyPr vert="horz" lIns="99048" tIns="49524" rIns="99048" bIns="49524" rtlCol="0" anchor="b"/>
          <a:lstStyle>
            <a:lvl1pPr algn="l">
              <a:defRPr sz="1300"/>
            </a:lvl1pPr>
          </a:lstStyle>
          <a:p>
            <a:endParaRPr lang="en-IE"/>
          </a:p>
        </p:txBody>
      </p:sp>
      <p:sp>
        <p:nvSpPr>
          <p:cNvPr id="7" name="Slide Number Placeholder 6"/>
          <p:cNvSpPr>
            <a:spLocks noGrp="1"/>
          </p:cNvSpPr>
          <p:nvPr>
            <p:ph type="sldNum" sz="quarter" idx="5"/>
          </p:nvPr>
        </p:nvSpPr>
        <p:spPr>
          <a:xfrm>
            <a:off x="4021294" y="9721106"/>
            <a:ext cx="3076363" cy="511731"/>
          </a:xfrm>
          <a:prstGeom prst="rect">
            <a:avLst/>
          </a:prstGeom>
        </p:spPr>
        <p:txBody>
          <a:bodyPr vert="horz" lIns="99048" tIns="49524" rIns="99048" bIns="49524" rtlCol="0" anchor="b"/>
          <a:lstStyle>
            <a:lvl1pPr algn="r">
              <a:defRPr sz="1300"/>
            </a:lvl1pPr>
          </a:lstStyle>
          <a:p>
            <a:fld id="{7FB94877-3EAD-47F4-9E20-71B667E9F9BD}" type="slidenum">
              <a:rPr lang="en-IE" smtClean="0"/>
              <a:pPr/>
              <a:t>‹#›</a:t>
            </a:fld>
            <a:endParaRPr lang="en-IE"/>
          </a:p>
        </p:txBody>
      </p:sp>
    </p:spTree>
    <p:extLst>
      <p:ext uri="{BB962C8B-B14F-4D97-AF65-F5344CB8AC3E}">
        <p14:creationId xmlns:p14="http://schemas.microsoft.com/office/powerpoint/2010/main" val="29535075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fld id="{181CB105-05F1-49E6-BF74-32444ED6D9F4}" type="datetimeFigureOut">
              <a:rPr lang="en-IE" smtClean="0"/>
              <a:pPr/>
              <a:t>22/02/2020</a:t>
            </a:fld>
            <a:endParaRPr lang="en-IE" dirty="0"/>
          </a:p>
        </p:txBody>
      </p:sp>
      <p:sp>
        <p:nvSpPr>
          <p:cNvPr id="17" name="Footer Placeholder 16"/>
          <p:cNvSpPr>
            <a:spLocks noGrp="1"/>
          </p:cNvSpPr>
          <p:nvPr>
            <p:ph type="ftr" sz="quarter" idx="11"/>
          </p:nvPr>
        </p:nvSpPr>
        <p:spPr>
          <a:xfrm>
            <a:off x="2898648" y="6355080"/>
            <a:ext cx="3474720" cy="365760"/>
          </a:xfrm>
        </p:spPr>
        <p:txBody>
          <a:bodyPr/>
          <a:lstStyle/>
          <a:p>
            <a:endParaRPr lang="en-IE" dirty="0"/>
          </a:p>
        </p:txBody>
      </p:sp>
      <p:sp>
        <p:nvSpPr>
          <p:cNvPr id="29" name="Slide Number Placeholder 28"/>
          <p:cNvSpPr>
            <a:spLocks noGrp="1"/>
          </p:cNvSpPr>
          <p:nvPr>
            <p:ph type="sldNum" sz="quarter" idx="12"/>
          </p:nvPr>
        </p:nvSpPr>
        <p:spPr>
          <a:xfrm>
            <a:off x="1216152" y="6355080"/>
            <a:ext cx="1219200" cy="365760"/>
          </a:xfrm>
        </p:spPr>
        <p:txBody>
          <a:bodyPr/>
          <a:lstStyle/>
          <a:p>
            <a:fld id="{FEF6D6FB-DD34-4C85-917E-0FA6D75449AE}" type="slidenum">
              <a:rPr lang="en-IE" smtClean="0"/>
              <a:pPr/>
              <a:t>‹#›</a:t>
            </a:fld>
            <a:endParaRPr lang="en-IE" dirty="0"/>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181CB105-05F1-49E6-BF74-32444ED6D9F4}" type="datetimeFigureOut">
              <a:rPr lang="en-IE" smtClean="0"/>
              <a:pPr/>
              <a:t>22/02/2020</a:t>
            </a:fld>
            <a:endParaRPr lang="en-IE" dirty="0"/>
          </a:p>
        </p:txBody>
      </p:sp>
      <p:sp>
        <p:nvSpPr>
          <p:cNvPr id="5" name="Footer Placeholder 4"/>
          <p:cNvSpPr>
            <a:spLocks noGrp="1"/>
          </p:cNvSpPr>
          <p:nvPr>
            <p:ph type="ftr" sz="quarter" idx="11"/>
          </p:nvPr>
        </p:nvSpPr>
        <p:spPr/>
        <p:txBody>
          <a:bodyPr/>
          <a:lstStyle/>
          <a:p>
            <a:endParaRPr lang="en-IE" dirty="0"/>
          </a:p>
        </p:txBody>
      </p:sp>
      <p:sp>
        <p:nvSpPr>
          <p:cNvPr id="6" name="Slide Number Placeholder 5"/>
          <p:cNvSpPr>
            <a:spLocks noGrp="1"/>
          </p:cNvSpPr>
          <p:nvPr>
            <p:ph type="sldNum" sz="quarter" idx="12"/>
          </p:nvPr>
        </p:nvSpPr>
        <p:spPr/>
        <p:txBody>
          <a:bodyPr/>
          <a:lstStyle/>
          <a:p>
            <a:fld id="{FEF6D6FB-DD34-4C85-917E-0FA6D75449AE}" type="slidenum">
              <a:rPr lang="en-IE" smtClean="0"/>
              <a:pPr/>
              <a:t>‹#›</a:t>
            </a:fld>
            <a:endParaRPr lang="en-IE" dirty="0"/>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fld id="{181CB105-05F1-49E6-BF74-32444ED6D9F4}" type="datetimeFigureOut">
              <a:rPr lang="en-IE" smtClean="0"/>
              <a:pPr/>
              <a:t>22/02/2020</a:t>
            </a:fld>
            <a:endParaRPr lang="en-IE" dirty="0"/>
          </a:p>
        </p:txBody>
      </p:sp>
      <p:sp>
        <p:nvSpPr>
          <p:cNvPr id="5" name="Footer Placeholder 4"/>
          <p:cNvSpPr>
            <a:spLocks noGrp="1"/>
          </p:cNvSpPr>
          <p:nvPr>
            <p:ph type="ftr" sz="quarter" idx="11"/>
          </p:nvPr>
        </p:nvSpPr>
        <p:spPr>
          <a:xfrm>
            <a:off x="2898648" y="6355080"/>
            <a:ext cx="3474720" cy="365760"/>
          </a:xfrm>
        </p:spPr>
        <p:txBody>
          <a:bodyPr/>
          <a:lstStyle/>
          <a:p>
            <a:endParaRPr lang="en-IE" dirty="0"/>
          </a:p>
        </p:txBody>
      </p:sp>
      <p:sp>
        <p:nvSpPr>
          <p:cNvPr id="6" name="Slide Number Placeholder 5"/>
          <p:cNvSpPr>
            <a:spLocks noGrp="1"/>
          </p:cNvSpPr>
          <p:nvPr>
            <p:ph type="sldNum" sz="quarter" idx="12"/>
          </p:nvPr>
        </p:nvSpPr>
        <p:spPr>
          <a:xfrm>
            <a:off x="1069848" y="6355080"/>
            <a:ext cx="1520952" cy="365760"/>
          </a:xfrm>
        </p:spPr>
        <p:txBody>
          <a:bodyPr/>
          <a:lstStyle/>
          <a:p>
            <a:fld id="{FEF6D6FB-DD34-4C85-917E-0FA6D75449AE}" type="slidenum">
              <a:rPr lang="en-IE" smtClean="0"/>
              <a:pPr/>
              <a:t>‹#›</a:t>
            </a:fld>
            <a:endParaRPr lang="en-IE" dirty="0"/>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181CB105-05F1-49E6-BF74-32444ED6D9F4}" type="datetimeFigureOut">
              <a:rPr lang="en-IE" smtClean="0"/>
              <a:pPr/>
              <a:t>22/02/2020</a:t>
            </a:fld>
            <a:endParaRPr lang="en-IE" dirty="0"/>
          </a:p>
        </p:txBody>
      </p:sp>
      <p:sp>
        <p:nvSpPr>
          <p:cNvPr id="6" name="Footer Placeholder 5"/>
          <p:cNvSpPr>
            <a:spLocks noGrp="1"/>
          </p:cNvSpPr>
          <p:nvPr>
            <p:ph type="ftr" sz="quarter" idx="11"/>
          </p:nvPr>
        </p:nvSpPr>
        <p:spPr/>
        <p:txBody>
          <a:bodyPr/>
          <a:lstStyle/>
          <a:p>
            <a:endParaRPr lang="en-IE" dirty="0"/>
          </a:p>
        </p:txBody>
      </p:sp>
      <p:sp>
        <p:nvSpPr>
          <p:cNvPr id="7" name="Slide Number Placeholder 6"/>
          <p:cNvSpPr>
            <a:spLocks noGrp="1"/>
          </p:cNvSpPr>
          <p:nvPr>
            <p:ph type="sldNum" sz="quarter" idx="12"/>
          </p:nvPr>
        </p:nvSpPr>
        <p:spPr/>
        <p:txBody>
          <a:bodyPr/>
          <a:lstStyle/>
          <a:p>
            <a:fld id="{FEF6D6FB-DD34-4C85-917E-0FA6D75449AE}" type="slidenum">
              <a:rPr lang="en-IE" smtClean="0"/>
              <a:pPr/>
              <a:t>‹#›</a:t>
            </a:fld>
            <a:endParaRPr lang="en-IE" dirty="0"/>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181CB105-05F1-49E6-BF74-32444ED6D9F4}" type="datetimeFigureOut">
              <a:rPr lang="en-IE" smtClean="0"/>
              <a:pPr/>
              <a:t>22/02/2020</a:t>
            </a:fld>
            <a:endParaRPr lang="en-IE" dirty="0"/>
          </a:p>
        </p:txBody>
      </p:sp>
      <p:sp>
        <p:nvSpPr>
          <p:cNvPr id="8" name="Footer Placeholder 7"/>
          <p:cNvSpPr>
            <a:spLocks noGrp="1"/>
          </p:cNvSpPr>
          <p:nvPr>
            <p:ph type="ftr" sz="quarter" idx="11"/>
          </p:nvPr>
        </p:nvSpPr>
        <p:spPr/>
        <p:txBody>
          <a:bodyPr/>
          <a:lstStyle/>
          <a:p>
            <a:endParaRPr lang="en-IE" dirty="0"/>
          </a:p>
        </p:txBody>
      </p:sp>
      <p:sp>
        <p:nvSpPr>
          <p:cNvPr id="9" name="Slide Number Placeholder 8"/>
          <p:cNvSpPr>
            <a:spLocks noGrp="1"/>
          </p:cNvSpPr>
          <p:nvPr>
            <p:ph type="sldNum" sz="quarter" idx="12"/>
          </p:nvPr>
        </p:nvSpPr>
        <p:spPr/>
        <p:txBody>
          <a:bodyPr/>
          <a:lstStyle/>
          <a:p>
            <a:fld id="{FEF6D6FB-DD34-4C85-917E-0FA6D75449AE}" type="slidenum">
              <a:rPr lang="en-IE" smtClean="0"/>
              <a:pPr/>
              <a:t>‹#›</a:t>
            </a:fld>
            <a:endParaRPr lang="en-IE" dirty="0"/>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181CB105-05F1-49E6-BF74-32444ED6D9F4}" type="datetimeFigureOut">
              <a:rPr lang="en-IE" smtClean="0"/>
              <a:pPr/>
              <a:t>22/02/2020</a:t>
            </a:fld>
            <a:endParaRPr lang="en-IE" dirty="0"/>
          </a:p>
        </p:txBody>
      </p:sp>
      <p:sp>
        <p:nvSpPr>
          <p:cNvPr id="4" name="Footer Placeholder 3"/>
          <p:cNvSpPr>
            <a:spLocks noGrp="1"/>
          </p:cNvSpPr>
          <p:nvPr>
            <p:ph type="ftr" sz="quarter" idx="11"/>
          </p:nvPr>
        </p:nvSpPr>
        <p:spPr/>
        <p:txBody>
          <a:bodyPr/>
          <a:lstStyle/>
          <a:p>
            <a:endParaRPr lang="en-IE" dirty="0"/>
          </a:p>
        </p:txBody>
      </p:sp>
      <p:sp>
        <p:nvSpPr>
          <p:cNvPr id="5" name="Slide Number Placeholder 4"/>
          <p:cNvSpPr>
            <a:spLocks noGrp="1"/>
          </p:cNvSpPr>
          <p:nvPr>
            <p:ph type="sldNum" sz="quarter" idx="12"/>
          </p:nvPr>
        </p:nvSpPr>
        <p:spPr/>
        <p:txBody>
          <a:bodyPr/>
          <a:lstStyle/>
          <a:p>
            <a:fld id="{FEF6D6FB-DD34-4C85-917E-0FA6D75449AE}" type="slidenum">
              <a:rPr lang="en-IE" smtClean="0"/>
              <a:pPr/>
              <a:t>‹#›</a:t>
            </a:fld>
            <a:endParaRPr lang="en-IE" dirty="0"/>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1CB105-05F1-49E6-BF74-32444ED6D9F4}" type="datetimeFigureOut">
              <a:rPr lang="en-IE" smtClean="0"/>
              <a:pPr/>
              <a:t>22/02/2020</a:t>
            </a:fld>
            <a:endParaRPr lang="en-IE" dirty="0"/>
          </a:p>
        </p:txBody>
      </p:sp>
      <p:sp>
        <p:nvSpPr>
          <p:cNvPr id="3" name="Footer Placeholder 2"/>
          <p:cNvSpPr>
            <a:spLocks noGrp="1"/>
          </p:cNvSpPr>
          <p:nvPr>
            <p:ph type="ftr" sz="quarter" idx="11"/>
          </p:nvPr>
        </p:nvSpPr>
        <p:spPr/>
        <p:txBody>
          <a:bodyPr/>
          <a:lstStyle/>
          <a:p>
            <a:endParaRPr lang="en-IE" dirty="0"/>
          </a:p>
        </p:txBody>
      </p:sp>
      <p:sp>
        <p:nvSpPr>
          <p:cNvPr id="4" name="Slide Number Placeholder 3"/>
          <p:cNvSpPr>
            <a:spLocks noGrp="1"/>
          </p:cNvSpPr>
          <p:nvPr>
            <p:ph type="sldNum" sz="quarter" idx="12"/>
          </p:nvPr>
        </p:nvSpPr>
        <p:spPr/>
        <p:txBody>
          <a:bodyPr/>
          <a:lstStyle/>
          <a:p>
            <a:fld id="{FEF6D6FB-DD34-4C85-917E-0FA6D75449AE}" type="slidenum">
              <a:rPr lang="en-IE" smtClean="0"/>
              <a:pPr/>
              <a:t>‹#›</a:t>
            </a:fld>
            <a:endParaRPr lang="en-IE" dirty="0"/>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181CB105-05F1-49E6-BF74-32444ED6D9F4}" type="datetimeFigureOut">
              <a:rPr lang="en-IE" smtClean="0"/>
              <a:pPr/>
              <a:t>22/02/2020</a:t>
            </a:fld>
            <a:endParaRPr lang="en-IE" dirty="0"/>
          </a:p>
        </p:txBody>
      </p:sp>
      <p:sp>
        <p:nvSpPr>
          <p:cNvPr id="6" name="Footer Placeholder 5"/>
          <p:cNvSpPr>
            <a:spLocks noGrp="1"/>
          </p:cNvSpPr>
          <p:nvPr>
            <p:ph type="ftr" sz="quarter" idx="11"/>
          </p:nvPr>
        </p:nvSpPr>
        <p:spPr/>
        <p:txBody>
          <a:bodyPr/>
          <a:lstStyle/>
          <a:p>
            <a:endParaRPr lang="en-IE" dirty="0"/>
          </a:p>
        </p:txBody>
      </p:sp>
      <p:sp>
        <p:nvSpPr>
          <p:cNvPr id="7" name="Slide Number Placeholder 6"/>
          <p:cNvSpPr>
            <a:spLocks noGrp="1"/>
          </p:cNvSpPr>
          <p:nvPr>
            <p:ph type="sldNum" sz="quarter" idx="12"/>
          </p:nvPr>
        </p:nvSpPr>
        <p:spPr/>
        <p:txBody>
          <a:bodyPr/>
          <a:lstStyle/>
          <a:p>
            <a:fld id="{FEF6D6FB-DD34-4C85-917E-0FA6D75449AE}" type="slidenum">
              <a:rPr lang="en-IE" smtClean="0"/>
              <a:pPr/>
              <a:t>‹#›</a:t>
            </a:fld>
            <a:endParaRPr lang="en-IE" dirty="0"/>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dirty="0"/>
              <a:t>Click icon to add picture</a:t>
            </a:r>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181CB105-05F1-49E6-BF74-32444ED6D9F4}" type="datetimeFigureOut">
              <a:rPr lang="en-IE" smtClean="0"/>
              <a:pPr/>
              <a:t>22/02/2020</a:t>
            </a:fld>
            <a:endParaRPr lang="en-IE" dirty="0"/>
          </a:p>
        </p:txBody>
      </p:sp>
      <p:sp>
        <p:nvSpPr>
          <p:cNvPr id="6" name="Footer Placeholder 5"/>
          <p:cNvSpPr>
            <a:spLocks noGrp="1"/>
          </p:cNvSpPr>
          <p:nvPr>
            <p:ph type="ftr" sz="quarter" idx="11"/>
          </p:nvPr>
        </p:nvSpPr>
        <p:spPr/>
        <p:txBody>
          <a:bodyPr/>
          <a:lstStyle/>
          <a:p>
            <a:endParaRPr lang="en-IE" dirty="0"/>
          </a:p>
        </p:txBody>
      </p:sp>
      <p:sp>
        <p:nvSpPr>
          <p:cNvPr id="7" name="Slide Number Placeholder 6"/>
          <p:cNvSpPr>
            <a:spLocks noGrp="1"/>
          </p:cNvSpPr>
          <p:nvPr>
            <p:ph type="sldNum" sz="quarter" idx="12"/>
          </p:nvPr>
        </p:nvSpPr>
        <p:spPr/>
        <p:txBody>
          <a:bodyPr/>
          <a:lstStyle/>
          <a:p>
            <a:fld id="{FEF6D6FB-DD34-4C85-917E-0FA6D75449AE}" type="slidenum">
              <a:rPr lang="en-IE" smtClean="0"/>
              <a:pPr/>
              <a:t>‹#›</a:t>
            </a:fld>
            <a:endParaRPr lang="en-IE" dirty="0"/>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81CB105-05F1-49E6-BF74-32444ED6D9F4}" type="datetimeFigureOut">
              <a:rPr lang="en-IE" smtClean="0"/>
              <a:pPr/>
              <a:t>22/02/2020</a:t>
            </a:fld>
            <a:endParaRPr lang="en-IE" dirty="0"/>
          </a:p>
        </p:txBody>
      </p:sp>
      <p:sp>
        <p:nvSpPr>
          <p:cNvPr id="5" name="Footer Placeholder 4"/>
          <p:cNvSpPr>
            <a:spLocks noGrp="1"/>
          </p:cNvSpPr>
          <p:nvPr>
            <p:ph type="ftr" sz="quarter" idx="11"/>
          </p:nvPr>
        </p:nvSpPr>
        <p:spPr/>
        <p:txBody>
          <a:bodyPr/>
          <a:lstStyle/>
          <a:p>
            <a:endParaRPr lang="en-IE" dirty="0"/>
          </a:p>
        </p:txBody>
      </p:sp>
      <p:sp>
        <p:nvSpPr>
          <p:cNvPr id="6" name="Slide Number Placeholder 5"/>
          <p:cNvSpPr>
            <a:spLocks noGrp="1"/>
          </p:cNvSpPr>
          <p:nvPr>
            <p:ph type="sldNum" sz="quarter" idx="12"/>
          </p:nvPr>
        </p:nvSpPr>
        <p:spPr/>
        <p:txBody>
          <a:bodyPr/>
          <a:lstStyle/>
          <a:p>
            <a:fld id="{FEF6D6FB-DD34-4C85-917E-0FA6D75449AE}" type="slidenum">
              <a:rPr lang="en-IE" smtClean="0"/>
              <a:pPr/>
              <a:t>‹#›</a:t>
            </a:fld>
            <a:endParaRPr lang="en-IE"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81CB105-05F1-49E6-BF74-32444ED6D9F4}" type="datetimeFigureOut">
              <a:rPr lang="en-IE" smtClean="0"/>
              <a:pPr/>
              <a:t>22/02/2020</a:t>
            </a:fld>
            <a:endParaRPr lang="en-IE" dirty="0"/>
          </a:p>
        </p:txBody>
      </p:sp>
      <p:sp>
        <p:nvSpPr>
          <p:cNvPr id="5" name="Footer Placeholder 4"/>
          <p:cNvSpPr>
            <a:spLocks noGrp="1"/>
          </p:cNvSpPr>
          <p:nvPr>
            <p:ph type="ftr" sz="quarter" idx="11"/>
          </p:nvPr>
        </p:nvSpPr>
        <p:spPr/>
        <p:txBody>
          <a:bodyPr/>
          <a:lstStyle/>
          <a:p>
            <a:endParaRPr lang="en-IE" dirty="0"/>
          </a:p>
        </p:txBody>
      </p:sp>
      <p:sp>
        <p:nvSpPr>
          <p:cNvPr id="6" name="Slide Number Placeholder 5"/>
          <p:cNvSpPr>
            <a:spLocks noGrp="1"/>
          </p:cNvSpPr>
          <p:nvPr>
            <p:ph type="sldNum" sz="quarter" idx="12"/>
          </p:nvPr>
        </p:nvSpPr>
        <p:spPr/>
        <p:txBody>
          <a:bodyPr/>
          <a:lstStyle/>
          <a:p>
            <a:fld id="{FEF6D6FB-DD34-4C85-917E-0FA6D75449AE}" type="slidenum">
              <a:rPr lang="en-IE" smtClean="0"/>
              <a:pPr/>
              <a:t>‹#›</a:t>
            </a:fld>
            <a:endParaRPr lang="en-IE" dirty="0"/>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p:cNvSpPr>
            <a:spLocks noGrp="1"/>
          </p:cNvSpPr>
          <p:nvPr>
            <p:ph type="dt" sz="half" idx="10"/>
          </p:nvPr>
        </p:nvSpPr>
        <p:spPr/>
        <p:txBody>
          <a:bodyPr/>
          <a:lstStyle/>
          <a:p>
            <a:fld id="{181CB105-05F1-49E6-BF74-32444ED6D9F4}" type="datetimeFigureOut">
              <a:rPr lang="en-IE" smtClean="0"/>
              <a:pPr/>
              <a:t>22/02/2020</a:t>
            </a:fld>
            <a:endParaRPr lang="en-IE" dirty="0"/>
          </a:p>
        </p:txBody>
      </p:sp>
      <p:sp>
        <p:nvSpPr>
          <p:cNvPr id="5" name="Footer Placeholder 4"/>
          <p:cNvSpPr>
            <a:spLocks noGrp="1"/>
          </p:cNvSpPr>
          <p:nvPr>
            <p:ph type="ftr" sz="quarter" idx="11"/>
          </p:nvPr>
        </p:nvSpPr>
        <p:spPr/>
        <p:txBody>
          <a:bodyPr/>
          <a:lstStyle/>
          <a:p>
            <a:endParaRPr lang="en-IE" dirty="0"/>
          </a:p>
        </p:txBody>
      </p:sp>
      <p:sp>
        <p:nvSpPr>
          <p:cNvPr id="6" name="Slide Number Placeholder 5"/>
          <p:cNvSpPr>
            <a:spLocks noGrp="1"/>
          </p:cNvSpPr>
          <p:nvPr>
            <p:ph type="sldNum" sz="quarter" idx="12"/>
          </p:nvPr>
        </p:nvSpPr>
        <p:spPr/>
        <p:txBody>
          <a:bodyPr/>
          <a:lstStyle/>
          <a:p>
            <a:fld id="{FEF6D6FB-DD34-4C85-917E-0FA6D75449AE}" type="slidenum">
              <a:rPr lang="en-IE" smtClean="0"/>
              <a:pPr/>
              <a:t>‹#›</a:t>
            </a:fld>
            <a:endParaRPr lang="en-IE"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ColTx" preserve="1">
  <p:cSld name="Title and 2-Column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Text Placeholder 2"/>
          <p:cNvSpPr>
            <a:spLocks noGrp="1"/>
          </p:cNvSpPr>
          <p:nvPr>
            <p:ph type="body" sz="half" idx="1"/>
          </p:nvPr>
        </p:nvSpPr>
        <p:spPr>
          <a:xfrm>
            <a:off x="457200" y="1219200"/>
            <a:ext cx="4038600" cy="49101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Text Placeholder 3"/>
          <p:cNvSpPr>
            <a:spLocks noGrp="1"/>
          </p:cNvSpPr>
          <p:nvPr>
            <p:ph type="body" sz="half" idx="2"/>
          </p:nvPr>
        </p:nvSpPr>
        <p:spPr>
          <a:xfrm>
            <a:off x="4648200" y="1219200"/>
            <a:ext cx="4038600" cy="49101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Date Placeholder 4"/>
          <p:cNvSpPr>
            <a:spLocks noGrp="1"/>
          </p:cNvSpPr>
          <p:nvPr>
            <p:ph type="dt" sz="half" idx="10"/>
          </p:nvPr>
        </p:nvSpPr>
        <p:spPr/>
        <p:txBody>
          <a:bodyPr/>
          <a:lstStyle/>
          <a:p>
            <a:fld id="{181CB105-05F1-49E6-BF74-32444ED6D9F4}" type="datetimeFigureOut">
              <a:rPr lang="en-IE" smtClean="0"/>
              <a:pPr/>
              <a:t>22/02/2020</a:t>
            </a:fld>
            <a:endParaRPr lang="en-IE" dirty="0"/>
          </a:p>
        </p:txBody>
      </p:sp>
      <p:sp>
        <p:nvSpPr>
          <p:cNvPr id="6" name="Footer Placeholder 5"/>
          <p:cNvSpPr>
            <a:spLocks noGrp="1"/>
          </p:cNvSpPr>
          <p:nvPr>
            <p:ph type="ftr" sz="quarter" idx="11"/>
          </p:nvPr>
        </p:nvSpPr>
        <p:spPr/>
        <p:txBody>
          <a:bodyPr/>
          <a:lstStyle/>
          <a:p>
            <a:endParaRPr lang="en-IE" dirty="0"/>
          </a:p>
        </p:txBody>
      </p:sp>
      <p:sp>
        <p:nvSpPr>
          <p:cNvPr id="7" name="Slide Number Placeholder 6"/>
          <p:cNvSpPr>
            <a:spLocks noGrp="1"/>
          </p:cNvSpPr>
          <p:nvPr>
            <p:ph type="sldNum" sz="quarter" idx="12"/>
          </p:nvPr>
        </p:nvSpPr>
        <p:spPr/>
        <p:txBody>
          <a:bodyPr/>
          <a:lstStyle/>
          <a:p>
            <a:fld id="{FEF6D6FB-DD34-4C85-917E-0FA6D75449AE}" type="slidenum">
              <a:rPr lang="en-IE" smtClean="0"/>
              <a:pPr/>
              <a:t>‹#›</a:t>
            </a:fld>
            <a:endParaRPr lang="en-IE"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fld id="{181CB105-05F1-49E6-BF74-32444ED6D9F4}" type="datetimeFigureOut">
              <a:rPr lang="en-IE" smtClean="0"/>
              <a:pPr/>
              <a:t>22/02/2020</a:t>
            </a:fld>
            <a:endParaRPr lang="en-IE" dirty="0"/>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endParaRPr lang="en-IE" dirty="0"/>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FEF6D6FB-DD34-4C85-917E-0FA6D75449AE}" type="slidenum">
              <a:rPr lang="en-IE" smtClean="0"/>
              <a:pPr/>
              <a:t>‹#›</a:t>
            </a:fld>
            <a:endParaRPr lang="en-IE" dirty="0"/>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 id="2147483713" r:id="rId12"/>
    <p:sldLayoutId id="2147483714" r:id="rId13"/>
  </p:sldLayoutIdLst>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8.xml.rels><?xml version="1.0" encoding="UTF-8" standalone="yes"?>
<Relationships xmlns="http://schemas.openxmlformats.org/package/2006/relationships"><Relationship Id="rId8" Type="http://schemas.openxmlformats.org/officeDocument/2006/relationships/image" Target="../media/image2.emf"/><Relationship Id="rId3" Type="http://schemas.openxmlformats.org/officeDocument/2006/relationships/tags" Target="../tags/tag8.xml"/><Relationship Id="rId7" Type="http://schemas.openxmlformats.org/officeDocument/2006/relationships/oleObject" Target="../embeddings/oleObject1.bin"/><Relationship Id="rId2" Type="http://schemas.openxmlformats.org/officeDocument/2006/relationships/tags" Target="../tags/tag7.xml"/><Relationship Id="rId1" Type="http://schemas.openxmlformats.org/officeDocument/2006/relationships/vmlDrawing" Target="../drawings/vmlDrawing1.vml"/><Relationship Id="rId6" Type="http://schemas.openxmlformats.org/officeDocument/2006/relationships/slideLayout" Target="../slideLayouts/slideLayout12.xml"/><Relationship Id="rId5" Type="http://schemas.openxmlformats.org/officeDocument/2006/relationships/tags" Target="../tags/tag10.xml"/><Relationship Id="rId4" Type="http://schemas.openxmlformats.org/officeDocument/2006/relationships/tags" Target="../tags/tag9.xml"/></Relationships>
</file>

<file path=ppt/slides/_rels/slide9.xml.rels><?xml version="1.0" encoding="UTF-8" standalone="yes"?>
<Relationships xmlns="http://schemas.openxmlformats.org/package/2006/relationships"><Relationship Id="rId8" Type="http://schemas.openxmlformats.org/officeDocument/2006/relationships/image" Target="../media/image2.emf"/><Relationship Id="rId3" Type="http://schemas.openxmlformats.org/officeDocument/2006/relationships/tags" Target="../tags/tag12.xml"/><Relationship Id="rId7" Type="http://schemas.openxmlformats.org/officeDocument/2006/relationships/oleObject" Target="../embeddings/oleObject2.bin"/><Relationship Id="rId2" Type="http://schemas.openxmlformats.org/officeDocument/2006/relationships/tags" Target="../tags/tag11.xml"/><Relationship Id="rId1" Type="http://schemas.openxmlformats.org/officeDocument/2006/relationships/vmlDrawing" Target="../drawings/vmlDrawing2.vml"/><Relationship Id="rId6" Type="http://schemas.openxmlformats.org/officeDocument/2006/relationships/slideLayout" Target="../slideLayouts/slideLayout12.xml"/><Relationship Id="rId5" Type="http://schemas.openxmlformats.org/officeDocument/2006/relationships/tags" Target="../tags/tag14.xml"/><Relationship Id="rId4" Type="http://schemas.openxmlformats.org/officeDocument/2006/relationships/tags" Target="../tags/tag13.xml"/></Relationships>
</file>

<file path=ppt/slides/_rels/slide10.xml.rels><?xml version="1.0" encoding="UTF-8" standalone="yes"?>
<Relationships xmlns="http://schemas.openxmlformats.org/package/2006/relationships"><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tags" Target="../tags/tag15.xml"/><Relationship Id="rId4"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8" Type="http://schemas.openxmlformats.org/officeDocument/2006/relationships/image" Target="../media/image2.emf"/><Relationship Id="rId3" Type="http://schemas.openxmlformats.org/officeDocument/2006/relationships/tags" Target="../tags/tag19.xml"/><Relationship Id="rId7" Type="http://schemas.openxmlformats.org/officeDocument/2006/relationships/oleObject" Target="../embeddings/oleObject3.bin"/><Relationship Id="rId2" Type="http://schemas.openxmlformats.org/officeDocument/2006/relationships/tags" Target="../tags/tag18.xml"/><Relationship Id="rId1" Type="http://schemas.openxmlformats.org/officeDocument/2006/relationships/vmlDrawing" Target="../drawings/vmlDrawing3.vml"/><Relationship Id="rId6" Type="http://schemas.openxmlformats.org/officeDocument/2006/relationships/slideLayout" Target="../slideLayouts/slideLayout12.xml"/><Relationship Id="rId5" Type="http://schemas.openxmlformats.org/officeDocument/2006/relationships/tags" Target="../tags/tag21.xml"/><Relationship Id="rId4" Type="http://schemas.openxmlformats.org/officeDocument/2006/relationships/tags" Target="../tags/tag20.xml"/></Relationships>
</file>

<file path=ppt/slides/_rels/slide12.xml.rels><?xml version="1.0" encoding="UTF-8" standalone="yes"?>
<Relationships xmlns="http://schemas.openxmlformats.org/package/2006/relationships"><Relationship Id="rId8" Type="http://schemas.openxmlformats.org/officeDocument/2006/relationships/image" Target="../media/image2.emf"/><Relationship Id="rId3" Type="http://schemas.openxmlformats.org/officeDocument/2006/relationships/tags" Target="../tags/tag23.xml"/><Relationship Id="rId7" Type="http://schemas.openxmlformats.org/officeDocument/2006/relationships/oleObject" Target="../embeddings/oleObject4.bin"/><Relationship Id="rId2" Type="http://schemas.openxmlformats.org/officeDocument/2006/relationships/tags" Target="../tags/tag22.xml"/><Relationship Id="rId1" Type="http://schemas.openxmlformats.org/officeDocument/2006/relationships/vmlDrawing" Target="../drawings/vmlDrawing4.vml"/><Relationship Id="rId6" Type="http://schemas.openxmlformats.org/officeDocument/2006/relationships/slideLayout" Target="../slideLayouts/slideLayout12.xml"/><Relationship Id="rId5" Type="http://schemas.openxmlformats.org/officeDocument/2006/relationships/tags" Target="../tags/tag25.xml"/><Relationship Id="rId4" Type="http://schemas.openxmlformats.org/officeDocument/2006/relationships/tags" Target="../tags/tag24.xml"/></Relationships>
</file>

<file path=ppt/slides/_rels/slide13.xml.rels><?xml version="1.0" encoding="UTF-8" standalone="yes"?>
<Relationships xmlns="http://schemas.openxmlformats.org/package/2006/relationships"><Relationship Id="rId2" Type="http://schemas.openxmlformats.org/officeDocument/2006/relationships/hyperlink" Target="https://www.indiana.edu/~plag/examples.html" TargetMode="Externa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26.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27.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28.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29.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30.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31.xml"/></Relationships>
</file>

<file path=ppt/slides/_rels/slide20.xml.rels><?xml version="1.0" encoding="UTF-8" standalone="yes"?>
<Relationships xmlns="http://schemas.openxmlformats.org/package/2006/relationships"><Relationship Id="rId3" Type="http://schemas.openxmlformats.org/officeDocument/2006/relationships/hyperlink" Target="http://www.ditsu.ie/education/exams/cheating/" TargetMode="External"/><Relationship Id="rId2" Type="http://schemas.openxmlformats.org/officeDocument/2006/relationships/slideLayout" Target="../slideLayouts/slideLayout12.xml"/><Relationship Id="rId1" Type="http://schemas.openxmlformats.org/officeDocument/2006/relationships/tags" Target="../tags/tag32.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33.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34.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35.xml"/></Relationships>
</file>

<file path=ppt/slides/_rels/slide24.xml.rels><?xml version="1.0" encoding="UTF-8" standalone="yes"?>
<Relationships xmlns="http://schemas.openxmlformats.org/package/2006/relationships"><Relationship Id="rId3" Type="http://schemas.openxmlformats.org/officeDocument/2006/relationships/hyperlink" Target="http://www.dit.ie/qualityassuranceandacademicprogrammerecords/student-assessment-regulations/general/" TargetMode="External"/><Relationship Id="rId2" Type="http://schemas.openxmlformats.org/officeDocument/2006/relationships/slideLayout" Target="../slideLayouts/slideLayout12.xml"/><Relationship Id="rId1" Type="http://schemas.openxmlformats.org/officeDocument/2006/relationships/tags" Target="../tags/tag36.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37.xml"/></Relationships>
</file>

<file path=ppt/slides/_rels/slide26.xml.rels><?xml version="1.0" encoding="UTF-8" standalone="yes"?>
<Relationships xmlns="http://schemas.openxmlformats.org/package/2006/relationships"><Relationship Id="rId2" Type="http://schemas.openxmlformats.org/officeDocument/2006/relationships/hyperlink" Target="https://help.blackboard.com/Learn/Instructor/Assignments/SafeAssign/SafeAssign_Originality_Reports" TargetMode="Externa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1219200" y="3878560"/>
            <a:ext cx="6858000" cy="990600"/>
          </a:xfrm>
        </p:spPr>
        <p:txBody>
          <a:bodyPr>
            <a:normAutofit/>
          </a:bodyPr>
          <a:lstStyle/>
          <a:p>
            <a:pPr fontAlgn="base">
              <a:spcAft>
                <a:spcPct val="0"/>
              </a:spcAft>
            </a:pPr>
            <a:r>
              <a:rPr lang="en-US" sz="2400" b="1" dirty="0"/>
              <a:t>Plagiarism</a:t>
            </a:r>
            <a:endParaRPr lang="en-GB" sz="24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r>
              <a:rPr lang="en-IE" dirty="0"/>
              <a:t>Aim of Session</a:t>
            </a:r>
          </a:p>
        </p:txBody>
      </p:sp>
      <p:sp>
        <p:nvSpPr>
          <p:cNvPr id="11267" name="Content Placeholder 2"/>
          <p:cNvSpPr>
            <a:spLocks noGrp="1"/>
          </p:cNvSpPr>
          <p:nvPr>
            <p:ph sz="quarter" idx="1"/>
          </p:nvPr>
        </p:nvSpPr>
        <p:spPr>
          <a:xfrm>
            <a:off x="457200" y="1219200"/>
            <a:ext cx="8229600" cy="4937125"/>
          </a:xfrm>
        </p:spPr>
        <p:txBody>
          <a:bodyPr/>
          <a:lstStyle/>
          <a:p>
            <a:r>
              <a:rPr lang="en-IE" dirty="0"/>
              <a:t>To identify what plagiarism is</a:t>
            </a:r>
          </a:p>
          <a:p>
            <a:r>
              <a:rPr lang="en-IE" dirty="0"/>
              <a:t>To analyse some common causes</a:t>
            </a:r>
          </a:p>
          <a:p>
            <a:r>
              <a:rPr lang="en-IE" dirty="0"/>
              <a:t>To recognize why it is important not to plagiarise </a:t>
            </a:r>
          </a:p>
          <a:p>
            <a:r>
              <a:rPr lang="en-IE" dirty="0"/>
              <a:t>To become aware of the DIT policy on plagiarism</a:t>
            </a:r>
          </a:p>
          <a:p>
            <a:r>
              <a:rPr lang="en-IE" dirty="0"/>
              <a:t>To remember how to avoid plagiarism</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267">
                                            <p:txEl>
                                              <p:pRg st="0" end="0"/>
                                            </p:txEl>
                                          </p:spTgt>
                                        </p:tgtEl>
                                        <p:attrNameLst>
                                          <p:attrName>style.visibility</p:attrName>
                                        </p:attrNameLst>
                                      </p:cBhvr>
                                      <p:to>
                                        <p:strVal val="visible"/>
                                      </p:to>
                                    </p:set>
                                    <p:anim calcmode="lin" valueType="num">
                                      <p:cBhvr additive="base">
                                        <p:cTn id="7" dur="500" fill="hold"/>
                                        <p:tgtEl>
                                          <p:spTgt spid="1126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26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267">
                                            <p:txEl>
                                              <p:pRg st="1" end="1"/>
                                            </p:txEl>
                                          </p:spTgt>
                                        </p:tgtEl>
                                        <p:attrNameLst>
                                          <p:attrName>style.visibility</p:attrName>
                                        </p:attrNameLst>
                                      </p:cBhvr>
                                      <p:to>
                                        <p:strVal val="visible"/>
                                      </p:to>
                                    </p:set>
                                    <p:anim calcmode="lin" valueType="num">
                                      <p:cBhvr additive="base">
                                        <p:cTn id="13" dur="500" fill="hold"/>
                                        <p:tgtEl>
                                          <p:spTgt spid="1126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126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267">
                                            <p:txEl>
                                              <p:pRg st="2" end="2"/>
                                            </p:txEl>
                                          </p:spTgt>
                                        </p:tgtEl>
                                        <p:attrNameLst>
                                          <p:attrName>style.visibility</p:attrName>
                                        </p:attrNameLst>
                                      </p:cBhvr>
                                      <p:to>
                                        <p:strVal val="visible"/>
                                      </p:to>
                                    </p:set>
                                    <p:anim calcmode="lin" valueType="num">
                                      <p:cBhvr additive="base">
                                        <p:cTn id="19" dur="500" fill="hold"/>
                                        <p:tgtEl>
                                          <p:spTgt spid="1126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126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1267">
                                            <p:txEl>
                                              <p:pRg st="3" end="3"/>
                                            </p:txEl>
                                          </p:spTgt>
                                        </p:tgtEl>
                                        <p:attrNameLst>
                                          <p:attrName>style.visibility</p:attrName>
                                        </p:attrNameLst>
                                      </p:cBhvr>
                                      <p:to>
                                        <p:strVal val="visible"/>
                                      </p:to>
                                    </p:set>
                                    <p:anim calcmode="lin" valueType="num">
                                      <p:cBhvr additive="base">
                                        <p:cTn id="25" dur="500" fill="hold"/>
                                        <p:tgtEl>
                                          <p:spTgt spid="1126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126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1267">
                                            <p:txEl>
                                              <p:pRg st="4" end="4"/>
                                            </p:txEl>
                                          </p:spTgt>
                                        </p:tgtEl>
                                        <p:attrNameLst>
                                          <p:attrName>style.visibility</p:attrName>
                                        </p:attrNameLst>
                                      </p:cBhvr>
                                      <p:to>
                                        <p:strVal val="visible"/>
                                      </p:to>
                                    </p:set>
                                    <p:anim calcmode="lin" valueType="num">
                                      <p:cBhvr additive="base">
                                        <p:cTn id="31" dur="500" fill="hold"/>
                                        <p:tgtEl>
                                          <p:spTgt spid="11267">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1267">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IE" dirty="0"/>
              <a:t>What is Plagiarism?</a:t>
            </a:r>
          </a:p>
        </p:txBody>
      </p:sp>
      <p:sp>
        <p:nvSpPr>
          <p:cNvPr id="3" name="Content Placeholder 2"/>
          <p:cNvSpPr>
            <a:spLocks noGrp="1"/>
          </p:cNvSpPr>
          <p:nvPr>
            <p:ph sz="quarter" idx="1"/>
          </p:nvPr>
        </p:nvSpPr>
        <p:spPr>
          <a:xfrm>
            <a:off x="457200" y="1219200"/>
            <a:ext cx="8229600" cy="4937125"/>
          </a:xfrm>
        </p:spPr>
        <p:txBody>
          <a:bodyPr/>
          <a:lstStyle/>
          <a:p>
            <a:r>
              <a:rPr lang="en-IE" dirty="0"/>
              <a:t>You use someone else’s words, work or ideas and present them as your own</a:t>
            </a:r>
          </a:p>
          <a:p>
            <a:r>
              <a:rPr lang="en-IE" dirty="0"/>
              <a:t>Without acknowledging them</a:t>
            </a:r>
          </a:p>
          <a:p>
            <a:r>
              <a:rPr lang="en-IE" dirty="0"/>
              <a:t>Can be intentional or unintentional</a:t>
            </a:r>
          </a:p>
          <a:p>
            <a:r>
              <a:rPr lang="en-IE" dirty="0"/>
              <a:t>It is important to note however, for postgraduate study,  that</a:t>
            </a:r>
          </a:p>
          <a:p>
            <a:pPr lvl="1"/>
            <a:r>
              <a:rPr lang="en-IE" dirty="0"/>
              <a:t>You will build on other people’s work BUT</a:t>
            </a:r>
          </a:p>
          <a:p>
            <a:pPr lvl="1"/>
            <a:r>
              <a:rPr lang="en-IE" dirty="0"/>
              <a:t>You must acknowledge it</a:t>
            </a:r>
          </a:p>
          <a:p>
            <a:endParaRPr lang="en-IE" dirty="0"/>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r>
              <a:rPr lang="en-IE" dirty="0"/>
              <a:t>Plagiarism - Definition</a:t>
            </a:r>
          </a:p>
        </p:txBody>
      </p:sp>
      <p:sp>
        <p:nvSpPr>
          <p:cNvPr id="14339" name="Content Placeholder 2"/>
          <p:cNvSpPr>
            <a:spLocks noGrp="1"/>
          </p:cNvSpPr>
          <p:nvPr>
            <p:ph sz="quarter" idx="1"/>
          </p:nvPr>
        </p:nvSpPr>
        <p:spPr>
          <a:xfrm>
            <a:off x="457200" y="1219200"/>
            <a:ext cx="8229600" cy="4937125"/>
          </a:xfrm>
        </p:spPr>
        <p:txBody>
          <a:bodyPr>
            <a:normAutofit/>
          </a:bodyPr>
          <a:lstStyle/>
          <a:p>
            <a:endParaRPr lang="en-IE" i="1" dirty="0"/>
          </a:p>
          <a:p>
            <a:r>
              <a:rPr lang="en-IE" i="1" dirty="0"/>
              <a:t>“… is regarded as either </a:t>
            </a:r>
            <a:r>
              <a:rPr lang="en-IE" i="1" dirty="0">
                <a:solidFill>
                  <a:srgbClr val="FF0000"/>
                </a:solidFill>
              </a:rPr>
              <a:t>intentionally or unintentionally </a:t>
            </a:r>
            <a:r>
              <a:rPr lang="en-IE" i="1" dirty="0"/>
              <a:t>the 'passing off' of others' work as one's own.  This includes the using of others' ideas, information presented or accessed in either visual or audio formats and asking or paying another to produce work.”</a:t>
            </a:r>
            <a:r>
              <a:rPr lang="en-IE" i="1" dirty="0">
                <a:cs typeface="Times New Roman" pitchFamily="18" charset="0"/>
              </a:rPr>
              <a:t>(</a:t>
            </a:r>
            <a:r>
              <a:rPr lang="en-IE" dirty="0">
                <a:cs typeface="Times New Roman" pitchFamily="18" charset="0"/>
              </a:rPr>
              <a:t>DIT, 2014)</a:t>
            </a:r>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Fair Use</a:t>
            </a:r>
          </a:p>
        </p:txBody>
      </p:sp>
      <p:sp>
        <p:nvSpPr>
          <p:cNvPr id="3" name="Content Placeholder 2"/>
          <p:cNvSpPr>
            <a:spLocks noGrp="1"/>
          </p:cNvSpPr>
          <p:nvPr>
            <p:ph sz="quarter" idx="1"/>
          </p:nvPr>
        </p:nvSpPr>
        <p:spPr/>
        <p:txBody>
          <a:bodyPr>
            <a:normAutofit/>
          </a:bodyPr>
          <a:lstStyle/>
          <a:p>
            <a:pPr fontAlgn="base"/>
            <a:r>
              <a:rPr lang="en-IE" dirty="0"/>
              <a:t>A work may be used by anyone for the purposes of research or private study </a:t>
            </a:r>
            <a:r>
              <a:rPr lang="en-IE" b="1" dirty="0"/>
              <a:t>without the permission </a:t>
            </a:r>
            <a:r>
              <a:rPr lang="en-IE" dirty="0"/>
              <a:t>of the author, provided the use is conducted in a way which does </a:t>
            </a:r>
            <a:r>
              <a:rPr lang="en-IE" b="1" dirty="0"/>
              <a:t>not prejudice the rights of the copyright owner</a:t>
            </a:r>
            <a:r>
              <a:rPr lang="en-IE" dirty="0"/>
              <a:t>. </a:t>
            </a:r>
          </a:p>
          <a:p>
            <a:pPr fontAlgn="base"/>
            <a:r>
              <a:rPr lang="en-IE" dirty="0"/>
              <a:t>The work may also be used for criticism or review or for reporting current events, with the same provision</a:t>
            </a:r>
          </a:p>
          <a:p>
            <a:pPr fontAlgn="base"/>
            <a:r>
              <a:rPr lang="en-IE" dirty="0"/>
              <a:t>Fair use provides for the legal, unlicensed </a:t>
            </a:r>
            <a:r>
              <a:rPr lang="en-IE" b="1" dirty="0"/>
              <a:t>citation or incorporation</a:t>
            </a:r>
            <a:r>
              <a:rPr lang="en-IE" dirty="0"/>
              <a:t> of copyrighted material in another author's work </a:t>
            </a:r>
          </a:p>
          <a:p>
            <a:endParaRPr lang="en-IE" b="1" dirty="0"/>
          </a:p>
        </p:txBody>
      </p:sp>
    </p:spTree>
    <p:extLst>
      <p:ext uri="{BB962C8B-B14F-4D97-AF65-F5344CB8AC3E}">
        <p14:creationId xmlns:p14="http://schemas.microsoft.com/office/powerpoint/2010/main" val="21413198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IE" dirty="0"/>
              <a:t>Why is Plagiarism a Serious Issue?</a:t>
            </a:r>
          </a:p>
        </p:txBody>
      </p:sp>
      <p:sp>
        <p:nvSpPr>
          <p:cNvPr id="3" name="Content Placeholder 2"/>
          <p:cNvSpPr>
            <a:spLocks noGrp="1"/>
          </p:cNvSpPr>
          <p:nvPr>
            <p:ph sz="quarter" idx="1"/>
          </p:nvPr>
        </p:nvSpPr>
        <p:spPr/>
        <p:txBody>
          <a:bodyPr>
            <a:normAutofit fontScale="92500" lnSpcReduction="10000"/>
          </a:bodyPr>
          <a:lstStyle/>
          <a:p>
            <a:r>
              <a:rPr lang="en-IE" dirty="0"/>
              <a:t>Part of what you are learning is </a:t>
            </a:r>
          </a:p>
          <a:p>
            <a:pPr lvl="1"/>
            <a:r>
              <a:rPr lang="en-IE" dirty="0"/>
              <a:t>To appreciate and acknowledge the work of others in your discipline</a:t>
            </a:r>
          </a:p>
          <a:p>
            <a:pPr lvl="1"/>
            <a:r>
              <a:rPr lang="en-IE" dirty="0"/>
              <a:t>The correct way to use the work of others in your discipline</a:t>
            </a:r>
          </a:p>
          <a:p>
            <a:pPr lvl="2"/>
            <a:r>
              <a:rPr lang="en-IE" dirty="0"/>
              <a:t>In order to be able to participate in your discipline in as professional manner</a:t>
            </a:r>
          </a:p>
          <a:p>
            <a:pPr lvl="2"/>
            <a:r>
              <a:rPr lang="en-IE" dirty="0"/>
              <a:t>Using appropriate academic techniques </a:t>
            </a:r>
          </a:p>
          <a:p>
            <a:r>
              <a:rPr lang="en-IE" dirty="0"/>
              <a:t>All your actions are conducted in relation to the body of knowledge</a:t>
            </a:r>
          </a:p>
          <a:p>
            <a:r>
              <a:rPr lang="en-IE" dirty="0"/>
              <a:t>You are interacting with the ‘body of knowledge’ and using it to build your work </a:t>
            </a:r>
          </a:p>
          <a:p>
            <a:pPr lvl="1"/>
            <a:r>
              <a:rPr lang="en-IE" dirty="0"/>
              <a:t>You must acknowledge those whose shoulders you are standing on</a:t>
            </a:r>
          </a:p>
          <a:p>
            <a:r>
              <a:rPr lang="en-IE" dirty="0"/>
              <a:t>Ethical behaviour is an essential skill in life </a:t>
            </a:r>
          </a:p>
          <a:p>
            <a:pPr lvl="1"/>
            <a:r>
              <a:rPr lang="en-IE" dirty="0"/>
              <a:t>Not just academic life</a:t>
            </a:r>
          </a:p>
          <a:p>
            <a:endParaRPr lang="en-IE" dirty="0"/>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r>
              <a:rPr lang="en-IE" dirty="0">
                <a:cs typeface="Times New Roman" pitchFamily="18" charset="0"/>
              </a:rPr>
              <a:t>What is the School Looking For? </a:t>
            </a:r>
            <a:endParaRPr lang="en-GB" dirty="0">
              <a:cs typeface="Times New Roman" pitchFamily="18" charset="0"/>
            </a:endParaRPr>
          </a:p>
        </p:txBody>
      </p:sp>
      <p:sp>
        <p:nvSpPr>
          <p:cNvPr id="6147" name="Rectangle 3" descr="Rectangle: Click to edit Master text styles&#10;Second level&#10;Third level&#10;Fourth level&#10;Fifth level"/>
          <p:cNvSpPr>
            <a:spLocks noGrp="1" noChangeArrowheads="1"/>
          </p:cNvSpPr>
          <p:nvPr>
            <p:ph type="body" idx="1"/>
          </p:nvPr>
        </p:nvSpPr>
        <p:spPr>
          <a:xfrm>
            <a:off x="457200" y="1219200"/>
            <a:ext cx="8229600" cy="4937125"/>
          </a:xfrm>
        </p:spPr>
        <p:txBody>
          <a:bodyPr>
            <a:normAutofit lnSpcReduction="10000"/>
          </a:bodyPr>
          <a:lstStyle/>
          <a:p>
            <a:pPr marL="274320" indent="-274320" fontAlgn="auto">
              <a:spcAft>
                <a:spcPts val="0"/>
              </a:spcAft>
              <a:buFont typeface="Wingdings 3"/>
              <a:buChar char=""/>
              <a:defRPr/>
            </a:pPr>
            <a:r>
              <a:rPr lang="en-IE" dirty="0">
                <a:cs typeface="Times New Roman" pitchFamily="18" charset="0"/>
              </a:rPr>
              <a:t>We are Not interested </a:t>
            </a:r>
          </a:p>
          <a:p>
            <a:pPr lvl="1">
              <a:defRPr/>
            </a:pPr>
            <a:r>
              <a:rPr lang="en-IE" dirty="0">
                <a:solidFill>
                  <a:schemeClr val="tx1"/>
                </a:solidFill>
                <a:cs typeface="Times New Roman" pitchFamily="18" charset="0"/>
              </a:rPr>
              <a:t>Focusing on issues not relevant to your programme of study</a:t>
            </a:r>
          </a:p>
          <a:p>
            <a:pPr marL="548640" lvl="1" indent="-274320" fontAlgn="auto">
              <a:spcAft>
                <a:spcPts val="0"/>
              </a:spcAft>
              <a:buFont typeface="Wingdings 3"/>
              <a:buChar char=""/>
              <a:defRPr/>
            </a:pPr>
            <a:r>
              <a:rPr lang="en-IE" dirty="0">
                <a:solidFill>
                  <a:schemeClr val="tx1"/>
                </a:solidFill>
                <a:cs typeface="Times New Roman" pitchFamily="18" charset="0"/>
              </a:rPr>
              <a:t>Putting unnecessary barriers in your way</a:t>
            </a:r>
          </a:p>
          <a:p>
            <a:pPr marL="548640" lvl="1" indent="-274320" fontAlgn="auto">
              <a:spcAft>
                <a:spcPts val="0"/>
              </a:spcAft>
              <a:buFont typeface="Wingdings 3"/>
              <a:buChar char=""/>
              <a:defRPr/>
            </a:pPr>
            <a:r>
              <a:rPr lang="en-IE" dirty="0">
                <a:solidFill>
                  <a:schemeClr val="tx1"/>
                </a:solidFill>
                <a:cs typeface="Times New Roman" pitchFamily="18" charset="0"/>
              </a:rPr>
              <a:t>Making your life difficult</a:t>
            </a:r>
          </a:p>
          <a:p>
            <a:pPr marL="274320" indent="-274320" fontAlgn="auto">
              <a:spcAft>
                <a:spcPts val="0"/>
              </a:spcAft>
              <a:buFont typeface="Wingdings 3"/>
              <a:buChar char=""/>
              <a:defRPr/>
            </a:pPr>
            <a:r>
              <a:rPr lang="en-IE" dirty="0">
                <a:cs typeface="Times New Roman" pitchFamily="18" charset="0"/>
              </a:rPr>
              <a:t>We are interested in</a:t>
            </a:r>
          </a:p>
          <a:p>
            <a:pPr marL="548640" lvl="1" indent="-274320" fontAlgn="auto">
              <a:spcAft>
                <a:spcPts val="0"/>
              </a:spcAft>
              <a:buFont typeface="Wingdings 3"/>
              <a:buChar char=""/>
              <a:defRPr/>
            </a:pPr>
            <a:r>
              <a:rPr lang="en-IE" dirty="0">
                <a:solidFill>
                  <a:schemeClr val="tx1"/>
                </a:solidFill>
                <a:cs typeface="Times New Roman" pitchFamily="18" charset="0"/>
              </a:rPr>
              <a:t>Educating a community of professionals</a:t>
            </a:r>
          </a:p>
          <a:p>
            <a:pPr marL="548640" lvl="1" indent="-274320" fontAlgn="auto">
              <a:spcAft>
                <a:spcPts val="0"/>
              </a:spcAft>
              <a:buFont typeface="Wingdings 3"/>
              <a:buChar char=""/>
              <a:defRPr/>
            </a:pPr>
            <a:r>
              <a:rPr lang="en-IE" dirty="0">
                <a:solidFill>
                  <a:schemeClr val="tx1"/>
                </a:solidFill>
                <a:cs typeface="Times New Roman" pitchFamily="18" charset="0"/>
              </a:rPr>
              <a:t>Who respect their discipline and its practitioners</a:t>
            </a:r>
          </a:p>
          <a:p>
            <a:pPr marL="548640" lvl="1" indent="-274320" fontAlgn="auto">
              <a:spcAft>
                <a:spcPts val="0"/>
              </a:spcAft>
              <a:buFont typeface="Wingdings 3"/>
              <a:buChar char=""/>
              <a:defRPr/>
            </a:pPr>
            <a:r>
              <a:rPr lang="en-IE" dirty="0">
                <a:solidFill>
                  <a:schemeClr val="tx1"/>
                </a:solidFill>
                <a:cs typeface="Times New Roman" pitchFamily="18" charset="0"/>
              </a:rPr>
              <a:t>Who can project their thoughts and ideas in a professional manner</a:t>
            </a:r>
          </a:p>
          <a:p>
            <a:pPr marL="548640" lvl="1" indent="-274320" fontAlgn="auto">
              <a:spcAft>
                <a:spcPts val="0"/>
              </a:spcAft>
              <a:buFont typeface="Wingdings 3"/>
              <a:buChar char=""/>
              <a:defRPr/>
            </a:pPr>
            <a:r>
              <a:rPr lang="en-IE" dirty="0">
                <a:solidFill>
                  <a:schemeClr val="tx1"/>
                </a:solidFill>
                <a:cs typeface="Times New Roman" pitchFamily="18" charset="0"/>
              </a:rPr>
              <a:t>Building on the work of others ethically</a:t>
            </a:r>
          </a:p>
          <a:p>
            <a:pPr marL="548640" lvl="1" indent="-274320" fontAlgn="auto">
              <a:spcAft>
                <a:spcPts val="0"/>
              </a:spcAft>
              <a:buFont typeface="Wingdings 3"/>
              <a:buChar char=""/>
              <a:defRPr/>
            </a:pPr>
            <a:r>
              <a:rPr lang="en-IE" dirty="0">
                <a:solidFill>
                  <a:schemeClr val="tx1"/>
                </a:solidFill>
                <a:cs typeface="Times New Roman" pitchFamily="18" charset="0"/>
              </a:rPr>
              <a:t>Contribute back to the body of knowledge so that others can benefit</a:t>
            </a:r>
          </a:p>
          <a:p>
            <a:pPr marL="548640" lvl="1" indent="-274320" fontAlgn="auto">
              <a:spcAft>
                <a:spcPts val="0"/>
              </a:spcAft>
              <a:buFont typeface="Wingdings 3"/>
              <a:buChar char=""/>
              <a:defRPr/>
            </a:pPr>
            <a:endParaRPr lang="en-IE" dirty="0">
              <a:cs typeface="Times New Roman"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47">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147">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147">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147">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147">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147">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147">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147">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14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PQuestion"/>
          <p:cNvSpPr>
            <a:spLocks noGrp="1"/>
          </p:cNvSpPr>
          <p:nvPr>
            <p:ph type="title"/>
          </p:nvPr>
        </p:nvSpPr>
        <p:spPr>
          <a:xfrm>
            <a:off x="457200" y="274637"/>
            <a:ext cx="8229600" cy="990600"/>
          </a:xfrm>
        </p:spPr>
        <p:txBody>
          <a:bodyPr/>
          <a:lstStyle/>
          <a:p>
            <a:r>
              <a:rPr lang="en-IE" dirty="0"/>
              <a:t>Is this Plagiarism?</a:t>
            </a:r>
          </a:p>
        </p:txBody>
      </p:sp>
      <p:graphicFrame>
        <p:nvGraphicFramePr>
          <p:cNvPr id="4" name="TPChart"/>
          <p:cNvGraphicFramePr>
            <a:graphicFrameLocks noChangeAspect="1"/>
          </p:cNvGraphicFramePr>
          <p:nvPr>
            <p:custDataLst>
              <p:tags r:id="rId3"/>
            </p:custDataLst>
          </p:nvPr>
        </p:nvGraphicFramePr>
        <p:xfrm>
          <a:off x="4508500" y="1651000"/>
          <a:ext cx="4572000" cy="5143500"/>
        </p:xfrm>
        <a:graphic>
          <a:graphicData uri="http://schemas.openxmlformats.org/presentationml/2006/ole">
            <mc:AlternateContent xmlns:mc="http://schemas.openxmlformats.org/markup-compatibility/2006">
              <mc:Choice xmlns:v="urn:schemas-microsoft-com:vml" Requires="v">
                <p:oleObj spid="_x0000_s1077" name="Chart" r:id="rId7" imgW="4571989" imgH="5143584" progId="MSGraph.Chart.8">
                  <p:embed followColorScheme="full"/>
                </p:oleObj>
              </mc:Choice>
              <mc:Fallback>
                <p:oleObj name="Chart" r:id="rId7" imgW="4571989" imgH="5143584" progId="MSGraph.Chart.8">
                  <p:embed followColorScheme="full"/>
                  <p:pic>
                    <p:nvPicPr>
                      <p:cNvPr id="0" name="Picture 4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08500" y="1651000"/>
                        <a:ext cx="4572000" cy="5143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PAnswers"/>
          <p:cNvSpPr>
            <a:spLocks noGrp="1"/>
          </p:cNvSpPr>
          <p:nvPr>
            <p:ph type="body" idx="1"/>
            <p:custDataLst>
              <p:tags r:id="rId4"/>
            </p:custDataLst>
          </p:nvPr>
        </p:nvSpPr>
        <p:spPr>
          <a:xfrm>
            <a:off x="1403648" y="3356992"/>
            <a:ext cx="4114800" cy="1785384"/>
          </a:xfrm>
        </p:spPr>
        <p:txBody>
          <a:bodyPr>
            <a:noAutofit/>
          </a:bodyPr>
          <a:lstStyle/>
          <a:p>
            <a:pPr marL="514350" indent="-514350">
              <a:spcBef>
                <a:spcPct val="20000"/>
              </a:spcBef>
              <a:buFont typeface="Wingdings 3"/>
              <a:buAutoNum type="arabicPeriod"/>
            </a:pPr>
            <a:r>
              <a:rPr lang="en-IE" sz="3200" dirty="0"/>
              <a:t>Yes</a:t>
            </a:r>
          </a:p>
          <a:p>
            <a:pPr marL="514350" indent="-514350">
              <a:spcBef>
                <a:spcPct val="20000"/>
              </a:spcBef>
              <a:buFont typeface="Wingdings 3"/>
              <a:buAutoNum type="arabicPeriod"/>
            </a:pPr>
            <a:r>
              <a:rPr lang="en-IE" sz="3200" dirty="0"/>
              <a:t>No</a:t>
            </a:r>
          </a:p>
        </p:txBody>
      </p:sp>
      <p:sp>
        <p:nvSpPr>
          <p:cNvPr id="5" name="TextBox 4"/>
          <p:cNvSpPr txBox="1"/>
          <p:nvPr/>
        </p:nvSpPr>
        <p:spPr>
          <a:xfrm>
            <a:off x="594610" y="1556792"/>
            <a:ext cx="7865822" cy="954107"/>
          </a:xfrm>
          <a:prstGeom prst="rect">
            <a:avLst/>
          </a:prstGeom>
          <a:noFill/>
        </p:spPr>
        <p:txBody>
          <a:bodyPr wrap="square" rtlCol="0">
            <a:spAutoFit/>
          </a:bodyPr>
          <a:lstStyle/>
          <a:p>
            <a:r>
              <a:rPr lang="en-IE" sz="2800" dirty="0">
                <a:cs typeface="Times New Roman" pitchFamily="18" charset="0"/>
              </a:rPr>
              <a:t>Copying and pasting text without acknowledging its source.</a:t>
            </a:r>
            <a:endParaRPr lang="en-IE" sz="2800" dirty="0"/>
          </a:p>
        </p:txBody>
      </p:sp>
      <p:sp>
        <p:nvSpPr>
          <p:cNvPr id="6" name="CorShape1"/>
          <p:cNvSpPr/>
          <p:nvPr>
            <p:custDataLst>
              <p:tags r:id="rId5"/>
            </p:custDataLst>
          </p:nvPr>
        </p:nvSpPr>
        <p:spPr>
          <a:xfrm rot="10800000">
            <a:off x="971600" y="3501008"/>
            <a:ext cx="355600" cy="355600"/>
          </a:xfrm>
          <a:custGeom>
            <a:avLst/>
            <a:gdLst/>
            <a:ahLst/>
            <a:cxnLst/>
            <a:rect l="0" t="0" r="0" b="0"/>
            <a:pathLst>
              <a:path w="1524001" h="1752601">
                <a:moveTo>
                  <a:pt x="1295400" y="1066800"/>
                </a:moveTo>
                <a:lnTo>
                  <a:pt x="1524000" y="533400"/>
                </a:lnTo>
                <a:lnTo>
                  <a:pt x="914400" y="0"/>
                </a:lnTo>
                <a:lnTo>
                  <a:pt x="0" y="1447800"/>
                </a:lnTo>
                <a:lnTo>
                  <a:pt x="0" y="1752600"/>
                </a:lnTo>
                <a:lnTo>
                  <a:pt x="990600" y="533400"/>
                </a:lnTo>
                <a:close/>
              </a:path>
            </a:pathLst>
          </a:custGeom>
          <a:solidFill>
            <a:srgbClr val="00C800"/>
          </a:solidFill>
          <a:ln>
            <a:noFill/>
          </a:ln>
          <a:effectLst>
            <a:prstShdw prst="shdw14" dist="35921" dir="2700000">
              <a:scrgbClr r="0" g="0" b="0">
                <a:alpha val="50000"/>
              </a:scrgbClr>
            </a:prst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dirty="0"/>
          </a:p>
        </p:txBody>
      </p:sp>
      <p:sp>
        <p:nvSpPr>
          <p:cNvPr id="7" name="TextBox 6"/>
          <p:cNvSpPr txBox="1"/>
          <p:nvPr/>
        </p:nvSpPr>
        <p:spPr>
          <a:xfrm>
            <a:off x="3419872" y="3501008"/>
            <a:ext cx="4536504" cy="923330"/>
          </a:xfrm>
          <a:prstGeom prst="rect">
            <a:avLst/>
          </a:prstGeom>
          <a:noFill/>
          <a:ln>
            <a:solidFill>
              <a:schemeClr val="accent1"/>
            </a:solidFill>
          </a:ln>
        </p:spPr>
        <p:txBody>
          <a:bodyPr wrap="square" rtlCol="0">
            <a:spAutoFit/>
          </a:bodyPr>
          <a:lstStyle/>
          <a:p>
            <a:r>
              <a:rPr lang="en-IE" dirty="0"/>
              <a:t>You must always acknowledge where you got any text you have included that has been copied and pasted from any type of source.</a:t>
            </a:r>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repeatDur="0" restart="never"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repeatDur="0" restart="never"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OleChart spid="4" grpId="0"/>
      <p:bldP spid="6" grpId="0" animBg="1"/>
      <p:bldP spid="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PQuestion"/>
          <p:cNvSpPr>
            <a:spLocks noGrp="1"/>
          </p:cNvSpPr>
          <p:nvPr>
            <p:ph type="title"/>
          </p:nvPr>
        </p:nvSpPr>
        <p:spPr>
          <a:xfrm>
            <a:off x="457200" y="274637"/>
            <a:ext cx="8229600" cy="990600"/>
          </a:xfrm>
        </p:spPr>
        <p:txBody>
          <a:bodyPr/>
          <a:lstStyle/>
          <a:p>
            <a:r>
              <a:rPr lang="en-IE" dirty="0"/>
              <a:t>Is this Plagiarism?</a:t>
            </a:r>
          </a:p>
        </p:txBody>
      </p:sp>
      <p:graphicFrame>
        <p:nvGraphicFramePr>
          <p:cNvPr id="4" name="TPChart"/>
          <p:cNvGraphicFramePr>
            <a:graphicFrameLocks noChangeAspect="1"/>
          </p:cNvGraphicFramePr>
          <p:nvPr>
            <p:custDataLst>
              <p:tags r:id="rId3"/>
            </p:custDataLst>
            <p:extLst>
              <p:ext uri="{D42A27DB-BD31-4B8C-83A1-F6EECF244321}">
                <p14:modId xmlns:p14="http://schemas.microsoft.com/office/powerpoint/2010/main" val="1183527061"/>
              </p:ext>
            </p:extLst>
          </p:nvPr>
        </p:nvGraphicFramePr>
        <p:xfrm>
          <a:off x="4508500" y="1651000"/>
          <a:ext cx="4572000" cy="5143500"/>
        </p:xfrm>
        <a:graphic>
          <a:graphicData uri="http://schemas.openxmlformats.org/presentationml/2006/ole">
            <mc:AlternateContent xmlns:mc="http://schemas.openxmlformats.org/markup-compatibility/2006">
              <mc:Choice xmlns:v="urn:schemas-microsoft-com:vml" Requires="v">
                <p:oleObj spid="_x0000_s2101" name="Chart" r:id="rId7" imgW="4571989" imgH="5143584" progId="MSGraph.Chart.8">
                  <p:embed followColorScheme="full"/>
                </p:oleObj>
              </mc:Choice>
              <mc:Fallback>
                <p:oleObj name="Chart" r:id="rId7" imgW="4571989" imgH="5143584" progId="MSGraph.Chart.8">
                  <p:embed followColorScheme="full"/>
                  <p:pic>
                    <p:nvPicPr>
                      <p:cNvPr id="0" name="Picture 4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08500" y="1651000"/>
                        <a:ext cx="4572000" cy="5143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TextBox 4"/>
          <p:cNvSpPr txBox="1"/>
          <p:nvPr/>
        </p:nvSpPr>
        <p:spPr>
          <a:xfrm>
            <a:off x="539552" y="1556792"/>
            <a:ext cx="8352928" cy="523220"/>
          </a:xfrm>
          <a:prstGeom prst="rect">
            <a:avLst/>
          </a:prstGeom>
          <a:noFill/>
        </p:spPr>
        <p:txBody>
          <a:bodyPr wrap="square" rtlCol="0">
            <a:spAutoFit/>
          </a:bodyPr>
          <a:lstStyle/>
          <a:p>
            <a:r>
              <a:rPr lang="en-IE" sz="2800" dirty="0">
                <a:cs typeface="Times New Roman" pitchFamily="18" charset="0"/>
              </a:rPr>
              <a:t>Copying and pasting text and acknowledging its source.</a:t>
            </a:r>
            <a:endParaRPr lang="en-IE" sz="2800" dirty="0"/>
          </a:p>
        </p:txBody>
      </p:sp>
      <p:sp>
        <p:nvSpPr>
          <p:cNvPr id="7" name="TextBox 6"/>
          <p:cNvSpPr txBox="1"/>
          <p:nvPr/>
        </p:nvSpPr>
        <p:spPr>
          <a:xfrm>
            <a:off x="3419872" y="3501008"/>
            <a:ext cx="4536504" cy="923330"/>
          </a:xfrm>
          <a:prstGeom prst="rect">
            <a:avLst/>
          </a:prstGeom>
          <a:noFill/>
          <a:ln>
            <a:solidFill>
              <a:schemeClr val="accent1"/>
            </a:solidFill>
          </a:ln>
        </p:spPr>
        <p:txBody>
          <a:bodyPr wrap="square" rtlCol="0">
            <a:spAutoFit/>
          </a:bodyPr>
          <a:lstStyle/>
          <a:p>
            <a:r>
              <a:rPr lang="en-IE" dirty="0"/>
              <a:t>Not only must to acknowledge the source, if it is a direct copy and paste you should treat it as a quote or,  alternately,  create a paraphrase.</a:t>
            </a:r>
          </a:p>
        </p:txBody>
      </p:sp>
      <p:sp>
        <p:nvSpPr>
          <p:cNvPr id="9" name="TPAnswers"/>
          <p:cNvSpPr txBox="1">
            <a:spLocks/>
          </p:cNvSpPr>
          <p:nvPr>
            <p:custDataLst>
              <p:tags r:id="rId4"/>
            </p:custDataLst>
          </p:nvPr>
        </p:nvSpPr>
        <p:spPr>
          <a:xfrm>
            <a:off x="1403648" y="3356992"/>
            <a:ext cx="4114800" cy="1785384"/>
          </a:xfrm>
          <a:prstGeom prst="rect">
            <a:avLst/>
          </a:prstGeom>
        </p:spPr>
        <p:txBody>
          <a:bodyPr vert="horz">
            <a:noAutofit/>
          </a:bodyPr>
          <a:lstStyle/>
          <a:p>
            <a:pPr marL="514350" marR="0" lvl="0" indent="-514350" algn="l" defTabSz="914400" rtl="0" eaLnBrk="1" fontAlgn="auto" latinLnBrk="0" hangingPunct="1">
              <a:lnSpc>
                <a:spcPct val="100000"/>
              </a:lnSpc>
              <a:spcBef>
                <a:spcPct val="20000"/>
              </a:spcBef>
              <a:spcAft>
                <a:spcPts val="0"/>
              </a:spcAft>
              <a:buClr>
                <a:schemeClr val="accent1"/>
              </a:buClr>
              <a:buSzPct val="76000"/>
              <a:buFont typeface="Wingdings 3"/>
              <a:buAutoNum type="arabicPeriod"/>
              <a:tabLst/>
              <a:defRPr/>
            </a:pPr>
            <a:r>
              <a:rPr kumimoji="0" lang="en-IE" sz="3200" b="0" i="0" u="none" strike="noStrike" kern="1200" cap="none" spc="0" normalizeH="0" baseline="0" noProof="0">
                <a:ln>
                  <a:noFill/>
                </a:ln>
                <a:solidFill>
                  <a:schemeClr val="tx1"/>
                </a:solidFill>
                <a:effectLst/>
                <a:uLnTx/>
                <a:uFillTx/>
                <a:latin typeface="+mn-lt"/>
                <a:ea typeface="+mn-ea"/>
                <a:cs typeface="+mn-cs"/>
              </a:rPr>
              <a:t>Yes</a:t>
            </a:r>
          </a:p>
          <a:p>
            <a:pPr marL="514350" marR="0" lvl="0" indent="-514350" algn="l" defTabSz="914400" rtl="0" eaLnBrk="1" fontAlgn="auto" latinLnBrk="0" hangingPunct="1">
              <a:lnSpc>
                <a:spcPct val="100000"/>
              </a:lnSpc>
              <a:spcBef>
                <a:spcPct val="20000"/>
              </a:spcBef>
              <a:spcAft>
                <a:spcPts val="0"/>
              </a:spcAft>
              <a:buClr>
                <a:schemeClr val="accent1"/>
              </a:buClr>
              <a:buSzPct val="76000"/>
              <a:buFont typeface="Wingdings 3"/>
              <a:buAutoNum type="arabicPeriod"/>
              <a:tabLst/>
              <a:defRPr/>
            </a:pPr>
            <a:r>
              <a:rPr kumimoji="0" lang="en-IE" sz="3200" b="0" i="0" u="none" strike="noStrike" kern="1200" cap="none" spc="0" normalizeH="0" baseline="0" noProof="0">
                <a:ln>
                  <a:noFill/>
                </a:ln>
                <a:solidFill>
                  <a:schemeClr val="tx1"/>
                </a:solidFill>
                <a:effectLst/>
                <a:uLnTx/>
                <a:uFillTx/>
                <a:latin typeface="+mn-lt"/>
                <a:ea typeface="+mn-ea"/>
                <a:cs typeface="+mn-cs"/>
              </a:rPr>
              <a:t>No</a:t>
            </a:r>
            <a:endParaRPr kumimoji="0" lang="en-IE" sz="3200" b="0" i="0" u="none" strike="noStrike" kern="1200" cap="none" spc="0" normalizeH="0" baseline="0" noProof="0" dirty="0">
              <a:ln>
                <a:noFill/>
              </a:ln>
              <a:solidFill>
                <a:schemeClr val="tx1"/>
              </a:solidFill>
              <a:effectLst/>
              <a:uLnTx/>
              <a:uFillTx/>
              <a:latin typeface="+mn-lt"/>
              <a:ea typeface="+mn-ea"/>
              <a:cs typeface="+mn-cs"/>
            </a:endParaRPr>
          </a:p>
        </p:txBody>
      </p:sp>
      <p:sp>
        <p:nvSpPr>
          <p:cNvPr id="10" name="CorShape1"/>
          <p:cNvSpPr/>
          <p:nvPr>
            <p:custDataLst>
              <p:tags r:id="rId5"/>
            </p:custDataLst>
          </p:nvPr>
        </p:nvSpPr>
        <p:spPr>
          <a:xfrm rot="10800000">
            <a:off x="971600" y="3501008"/>
            <a:ext cx="355600" cy="355600"/>
          </a:xfrm>
          <a:custGeom>
            <a:avLst/>
            <a:gdLst/>
            <a:ahLst/>
            <a:cxnLst/>
            <a:rect l="0" t="0" r="0" b="0"/>
            <a:pathLst>
              <a:path w="1524001" h="1752601">
                <a:moveTo>
                  <a:pt x="1295400" y="1066800"/>
                </a:moveTo>
                <a:lnTo>
                  <a:pt x="1524000" y="533400"/>
                </a:lnTo>
                <a:lnTo>
                  <a:pt x="914400" y="0"/>
                </a:lnTo>
                <a:lnTo>
                  <a:pt x="0" y="1447800"/>
                </a:lnTo>
                <a:lnTo>
                  <a:pt x="0" y="1752600"/>
                </a:lnTo>
                <a:lnTo>
                  <a:pt x="990600" y="533400"/>
                </a:lnTo>
                <a:close/>
              </a:path>
            </a:pathLst>
          </a:custGeom>
          <a:solidFill>
            <a:srgbClr val="00C800"/>
          </a:solidFill>
          <a:ln>
            <a:noFill/>
          </a:ln>
          <a:effectLst>
            <a:prstShdw prst="shdw14" dist="35921" dir="2700000">
              <a:scrgbClr r="0" g="0" b="0">
                <a:alpha val="50000"/>
              </a:scrgbClr>
            </a:prst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dirty="0"/>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repeatDur="0" restart="never"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repeatDur="0" restart="never"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fill="hold"/>
                                        <p:tgtEl>
                                          <p:spTgt spid="10"/>
                                        </p:tgtEl>
                                        <p:attrNameLst>
                                          <p:attrName>ppt_x</p:attrName>
                                        </p:attrNameLst>
                                      </p:cBhvr>
                                      <p:tavLst>
                                        <p:tav tm="0">
                                          <p:val>
                                            <p:strVal val="#ppt_x"/>
                                          </p:val>
                                        </p:tav>
                                        <p:tav tm="100000">
                                          <p:val>
                                            <p:strVal val="#ppt_x"/>
                                          </p:val>
                                        </p:tav>
                                      </p:tavLst>
                                    </p:anim>
                                    <p:anim calcmode="lin" valueType="num">
                                      <p:cBhvr additive="base">
                                        <p:cTn id="1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OleChart spid="4" grpId="0"/>
      <p:bldP spid="7" grpId="0" animBg="1"/>
      <p:bldP spid="1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PQuestion"/>
          <p:cNvSpPr>
            <a:spLocks noGrp="1"/>
          </p:cNvSpPr>
          <p:nvPr>
            <p:ph type="title"/>
          </p:nvPr>
        </p:nvSpPr>
        <p:spPr>
          <a:xfrm>
            <a:off x="457200" y="274637"/>
            <a:ext cx="8229600" cy="990600"/>
          </a:xfrm>
        </p:spPr>
        <p:txBody>
          <a:bodyPr/>
          <a:lstStyle/>
          <a:p>
            <a:r>
              <a:rPr lang="en-IE" dirty="0"/>
              <a:t>Is this Plagiarism?</a:t>
            </a:r>
          </a:p>
        </p:txBody>
      </p:sp>
      <p:sp>
        <p:nvSpPr>
          <p:cNvPr id="3" name="TPAnswers"/>
          <p:cNvSpPr>
            <a:spLocks noGrp="1"/>
          </p:cNvSpPr>
          <p:nvPr>
            <p:ph type="body" idx="1"/>
            <p:custDataLst>
              <p:tags r:id="rId2"/>
            </p:custDataLst>
          </p:nvPr>
        </p:nvSpPr>
        <p:spPr>
          <a:xfrm>
            <a:off x="1475656" y="4581128"/>
            <a:ext cx="4114800" cy="1785384"/>
          </a:xfrm>
        </p:spPr>
        <p:txBody>
          <a:bodyPr>
            <a:noAutofit/>
          </a:bodyPr>
          <a:lstStyle/>
          <a:p>
            <a:pPr marL="514350" indent="-514350">
              <a:spcBef>
                <a:spcPct val="20000"/>
              </a:spcBef>
              <a:buFont typeface="Wingdings 3"/>
              <a:buAutoNum type="arabicPeriod"/>
            </a:pPr>
            <a:r>
              <a:rPr lang="en-IE" sz="3200" dirty="0"/>
              <a:t>Yes</a:t>
            </a:r>
          </a:p>
          <a:p>
            <a:pPr marL="514350" indent="-514350">
              <a:spcBef>
                <a:spcPct val="20000"/>
              </a:spcBef>
              <a:buFont typeface="Wingdings 3"/>
              <a:buAutoNum type="arabicPeriod"/>
            </a:pPr>
            <a:r>
              <a:rPr lang="en-IE" sz="3200" dirty="0"/>
              <a:t>No</a:t>
            </a:r>
          </a:p>
        </p:txBody>
      </p:sp>
      <p:sp>
        <p:nvSpPr>
          <p:cNvPr id="5" name="TextBox 4"/>
          <p:cNvSpPr txBox="1"/>
          <p:nvPr/>
        </p:nvSpPr>
        <p:spPr>
          <a:xfrm>
            <a:off x="539552" y="1556792"/>
            <a:ext cx="7128792" cy="1384995"/>
          </a:xfrm>
          <a:prstGeom prst="rect">
            <a:avLst/>
          </a:prstGeom>
          <a:noFill/>
        </p:spPr>
        <p:txBody>
          <a:bodyPr wrap="square" rtlCol="0">
            <a:spAutoFit/>
          </a:bodyPr>
          <a:lstStyle/>
          <a:p>
            <a:r>
              <a:rPr lang="en-IE" sz="2800" dirty="0">
                <a:cs typeface="Times New Roman" pitchFamily="18" charset="0"/>
              </a:rPr>
              <a:t>Copying and pasting text, putting it in quotation marks, citing with page number and including the correct reference</a:t>
            </a:r>
            <a:endParaRPr lang="en-IE" sz="2800" dirty="0"/>
          </a:p>
        </p:txBody>
      </p:sp>
      <p:sp>
        <p:nvSpPr>
          <p:cNvPr id="6" name="CorShape1"/>
          <p:cNvSpPr/>
          <p:nvPr>
            <p:custDataLst>
              <p:tags r:id="rId3"/>
            </p:custDataLst>
          </p:nvPr>
        </p:nvSpPr>
        <p:spPr>
          <a:xfrm rot="10800000">
            <a:off x="1115616" y="5301208"/>
            <a:ext cx="355600" cy="355600"/>
          </a:xfrm>
          <a:custGeom>
            <a:avLst/>
            <a:gdLst/>
            <a:ahLst/>
            <a:cxnLst/>
            <a:rect l="0" t="0" r="0" b="0"/>
            <a:pathLst>
              <a:path w="1524001" h="1752601">
                <a:moveTo>
                  <a:pt x="1295400" y="1066800"/>
                </a:moveTo>
                <a:lnTo>
                  <a:pt x="1524000" y="533400"/>
                </a:lnTo>
                <a:lnTo>
                  <a:pt x="914400" y="0"/>
                </a:lnTo>
                <a:lnTo>
                  <a:pt x="0" y="1447800"/>
                </a:lnTo>
                <a:lnTo>
                  <a:pt x="0" y="1752600"/>
                </a:lnTo>
                <a:lnTo>
                  <a:pt x="990600" y="533400"/>
                </a:lnTo>
                <a:close/>
              </a:path>
            </a:pathLst>
          </a:custGeom>
          <a:solidFill>
            <a:srgbClr val="00C800"/>
          </a:solidFill>
          <a:ln>
            <a:noFill/>
          </a:ln>
          <a:effectLst>
            <a:prstShdw prst="shdw14" dist="35921" dir="2700000">
              <a:scrgbClr r="0" g="0" b="0">
                <a:alpha val="50000"/>
              </a:scrgbClr>
            </a:prst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dirty="0"/>
          </a:p>
        </p:txBody>
      </p:sp>
      <p:sp>
        <p:nvSpPr>
          <p:cNvPr id="7" name="TextBox 6"/>
          <p:cNvSpPr txBox="1"/>
          <p:nvPr/>
        </p:nvSpPr>
        <p:spPr>
          <a:xfrm>
            <a:off x="3635896" y="4725144"/>
            <a:ext cx="4536504" cy="646331"/>
          </a:xfrm>
          <a:prstGeom prst="rect">
            <a:avLst/>
          </a:prstGeom>
          <a:noFill/>
          <a:ln>
            <a:solidFill>
              <a:schemeClr val="accent1"/>
            </a:solidFill>
          </a:ln>
        </p:spPr>
        <p:txBody>
          <a:bodyPr wrap="square" rtlCol="0">
            <a:spAutoFit/>
          </a:bodyPr>
          <a:lstStyle/>
          <a:p>
            <a:r>
              <a:rPr lang="en-IE" dirty="0"/>
              <a:t>This is the correct way to include text copied and pasted directly from a source.</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repeatDur="0" restart="never"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PQuestion"/>
          <p:cNvSpPr>
            <a:spLocks noGrp="1"/>
          </p:cNvSpPr>
          <p:nvPr>
            <p:ph type="title"/>
          </p:nvPr>
        </p:nvSpPr>
        <p:spPr>
          <a:xfrm>
            <a:off x="457200" y="274637"/>
            <a:ext cx="8229600" cy="990600"/>
          </a:xfrm>
        </p:spPr>
        <p:txBody>
          <a:bodyPr/>
          <a:lstStyle/>
          <a:p>
            <a:r>
              <a:rPr lang="en-IE" dirty="0"/>
              <a:t>Is this Plagiarism?</a:t>
            </a:r>
          </a:p>
        </p:txBody>
      </p:sp>
      <p:graphicFrame>
        <p:nvGraphicFramePr>
          <p:cNvPr id="4" name="TPChart"/>
          <p:cNvGraphicFramePr>
            <a:graphicFrameLocks noChangeAspect="1"/>
          </p:cNvGraphicFramePr>
          <p:nvPr>
            <p:custDataLst>
              <p:tags r:id="rId3"/>
            </p:custDataLst>
            <p:extLst>
              <p:ext uri="{D42A27DB-BD31-4B8C-83A1-F6EECF244321}">
                <p14:modId xmlns:p14="http://schemas.microsoft.com/office/powerpoint/2010/main" val="2477056788"/>
              </p:ext>
            </p:extLst>
          </p:nvPr>
        </p:nvGraphicFramePr>
        <p:xfrm>
          <a:off x="4508500" y="1651000"/>
          <a:ext cx="4572000" cy="5143500"/>
        </p:xfrm>
        <a:graphic>
          <a:graphicData uri="http://schemas.openxmlformats.org/presentationml/2006/ole">
            <mc:AlternateContent xmlns:mc="http://schemas.openxmlformats.org/markup-compatibility/2006">
              <mc:Choice xmlns:v="urn:schemas-microsoft-com:vml" Requires="v">
                <p:oleObj spid="_x0000_s24628" name="Chart" r:id="rId7" imgW="4571989" imgH="5143584" progId="MSGraph.Chart.8">
                  <p:embed followColorScheme="full"/>
                </p:oleObj>
              </mc:Choice>
              <mc:Fallback>
                <p:oleObj name="Chart" r:id="rId7" imgW="4571989" imgH="5143584" progId="MSGraph.Chart.8">
                  <p:embed followColorScheme="full"/>
                  <p:pic>
                    <p:nvPicPr>
                      <p:cNvPr id="0" name="Picture 4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08500" y="1651000"/>
                        <a:ext cx="4572000" cy="5143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PAnswers"/>
          <p:cNvSpPr>
            <a:spLocks noGrp="1"/>
          </p:cNvSpPr>
          <p:nvPr>
            <p:ph type="body" idx="1"/>
            <p:custDataLst>
              <p:tags r:id="rId4"/>
            </p:custDataLst>
          </p:nvPr>
        </p:nvSpPr>
        <p:spPr>
          <a:xfrm>
            <a:off x="1403648" y="4005064"/>
            <a:ext cx="4114800" cy="1785384"/>
          </a:xfrm>
        </p:spPr>
        <p:txBody>
          <a:bodyPr>
            <a:noAutofit/>
          </a:bodyPr>
          <a:lstStyle/>
          <a:p>
            <a:pPr marL="514350" indent="-514350">
              <a:spcBef>
                <a:spcPct val="20000"/>
              </a:spcBef>
              <a:buFont typeface="Wingdings 3"/>
              <a:buAutoNum type="arabicPeriod"/>
            </a:pPr>
            <a:r>
              <a:rPr lang="en-IE" sz="3200" dirty="0"/>
              <a:t>Yes</a:t>
            </a:r>
          </a:p>
          <a:p>
            <a:pPr marL="514350" indent="-514350">
              <a:spcBef>
                <a:spcPct val="20000"/>
              </a:spcBef>
              <a:buFont typeface="Wingdings 3"/>
              <a:buAutoNum type="arabicPeriod"/>
            </a:pPr>
            <a:r>
              <a:rPr lang="en-IE" sz="3200" dirty="0"/>
              <a:t>No</a:t>
            </a:r>
          </a:p>
        </p:txBody>
      </p:sp>
      <p:sp>
        <p:nvSpPr>
          <p:cNvPr id="5" name="TextBox 4"/>
          <p:cNvSpPr txBox="1"/>
          <p:nvPr/>
        </p:nvSpPr>
        <p:spPr>
          <a:xfrm>
            <a:off x="539552" y="1556792"/>
            <a:ext cx="7848872" cy="2246769"/>
          </a:xfrm>
          <a:prstGeom prst="rect">
            <a:avLst/>
          </a:prstGeom>
          <a:noFill/>
        </p:spPr>
        <p:txBody>
          <a:bodyPr wrap="square" rtlCol="0">
            <a:spAutoFit/>
          </a:bodyPr>
          <a:lstStyle/>
          <a:p>
            <a:r>
              <a:rPr lang="en-US" sz="2800" dirty="0">
                <a:ea typeface="ＭＳ Ｐゴシック" pitchFamily="34" charset="-128"/>
              </a:rPr>
              <a:t>Copying some of the author’s sentence(s) - either by mixing the author’s phrases with your own without using quotation marks or by putting some synonyms into the author’s sentence structure</a:t>
            </a:r>
            <a:r>
              <a:rPr lang="en-IE" sz="2800" dirty="0">
                <a:cs typeface="Times New Roman" pitchFamily="18" charset="0"/>
              </a:rPr>
              <a:t> without acknowledging its source.</a:t>
            </a:r>
            <a:endParaRPr lang="en-IE" sz="2800" dirty="0"/>
          </a:p>
        </p:txBody>
      </p:sp>
      <p:sp>
        <p:nvSpPr>
          <p:cNvPr id="7" name="CorShape1"/>
          <p:cNvSpPr/>
          <p:nvPr>
            <p:custDataLst>
              <p:tags r:id="rId5"/>
            </p:custDataLst>
          </p:nvPr>
        </p:nvSpPr>
        <p:spPr>
          <a:xfrm rot="10800000">
            <a:off x="1043608" y="4149080"/>
            <a:ext cx="355600" cy="355600"/>
          </a:xfrm>
          <a:custGeom>
            <a:avLst/>
            <a:gdLst/>
            <a:ahLst/>
            <a:cxnLst/>
            <a:rect l="0" t="0" r="0" b="0"/>
            <a:pathLst>
              <a:path w="1524001" h="1752601">
                <a:moveTo>
                  <a:pt x="1295400" y="1066800"/>
                </a:moveTo>
                <a:lnTo>
                  <a:pt x="1524000" y="533400"/>
                </a:lnTo>
                <a:lnTo>
                  <a:pt x="914400" y="0"/>
                </a:lnTo>
                <a:lnTo>
                  <a:pt x="0" y="1447800"/>
                </a:lnTo>
                <a:lnTo>
                  <a:pt x="0" y="1752600"/>
                </a:lnTo>
                <a:lnTo>
                  <a:pt x="990600" y="533400"/>
                </a:lnTo>
                <a:close/>
              </a:path>
            </a:pathLst>
          </a:custGeom>
          <a:solidFill>
            <a:srgbClr val="00C800"/>
          </a:solidFill>
          <a:ln>
            <a:noFill/>
          </a:ln>
          <a:effectLst>
            <a:prstShdw prst="shdw14" dist="35921" dir="2700000">
              <a:scrgbClr r="0" g="0" b="0">
                <a:alpha val="50000"/>
              </a:scrgbClr>
            </a:prst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dirty="0"/>
          </a:p>
        </p:txBody>
      </p:sp>
      <p:sp>
        <p:nvSpPr>
          <p:cNvPr id="8" name="TextBox 7"/>
          <p:cNvSpPr txBox="1"/>
          <p:nvPr/>
        </p:nvSpPr>
        <p:spPr>
          <a:xfrm>
            <a:off x="3419872" y="4149080"/>
            <a:ext cx="4536504" cy="923330"/>
          </a:xfrm>
          <a:prstGeom prst="rect">
            <a:avLst/>
          </a:prstGeom>
          <a:noFill/>
          <a:ln>
            <a:solidFill>
              <a:schemeClr val="accent1"/>
            </a:solidFill>
          </a:ln>
        </p:spPr>
        <p:txBody>
          <a:bodyPr wrap="square" rtlCol="0">
            <a:spAutoFit/>
          </a:bodyPr>
          <a:lstStyle/>
          <a:p>
            <a:r>
              <a:rPr lang="en-IE" dirty="0"/>
              <a:t>If you are paraphrasing you must use your own words. It must be sufficiently different from the original – if not, you should quote the text.</a:t>
            </a:r>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repeatDur="0" restart="never"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repeatDur="0" restart="never"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OleChart spid="4" grpId="0"/>
      <p:bldP spid="7" grpId="0" animBg="1"/>
      <p:bldP spid="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PQuestion"/>
          <p:cNvSpPr>
            <a:spLocks noGrp="1"/>
          </p:cNvSpPr>
          <p:nvPr>
            <p:ph type="title"/>
          </p:nvPr>
        </p:nvSpPr>
        <p:spPr>
          <a:xfrm>
            <a:off x="457200" y="274637"/>
            <a:ext cx="8229600" cy="990600"/>
          </a:xfrm>
        </p:spPr>
        <p:txBody>
          <a:bodyPr/>
          <a:lstStyle/>
          <a:p>
            <a:r>
              <a:rPr lang="en-IE" dirty="0"/>
              <a:t>Is this Plagiarism?</a:t>
            </a:r>
          </a:p>
        </p:txBody>
      </p:sp>
      <p:graphicFrame>
        <p:nvGraphicFramePr>
          <p:cNvPr id="4" name="TPChart"/>
          <p:cNvGraphicFramePr>
            <a:graphicFrameLocks noChangeAspect="1"/>
          </p:cNvGraphicFramePr>
          <p:nvPr>
            <p:custDataLst>
              <p:tags r:id="rId3"/>
            </p:custDataLst>
            <p:extLst>
              <p:ext uri="{D42A27DB-BD31-4B8C-83A1-F6EECF244321}">
                <p14:modId xmlns:p14="http://schemas.microsoft.com/office/powerpoint/2010/main" val="3368332733"/>
              </p:ext>
            </p:extLst>
          </p:nvPr>
        </p:nvGraphicFramePr>
        <p:xfrm>
          <a:off x="4508500" y="1651000"/>
          <a:ext cx="4572000" cy="5143500"/>
        </p:xfrm>
        <a:graphic>
          <a:graphicData uri="http://schemas.openxmlformats.org/presentationml/2006/ole">
            <mc:AlternateContent xmlns:mc="http://schemas.openxmlformats.org/markup-compatibility/2006">
              <mc:Choice xmlns:v="urn:schemas-microsoft-com:vml" Requires="v">
                <p:oleObj spid="_x0000_s26676" name="Chart" r:id="rId7" imgW="4571989" imgH="5143584" progId="MSGraph.Chart.8">
                  <p:embed followColorScheme="full"/>
                </p:oleObj>
              </mc:Choice>
              <mc:Fallback>
                <p:oleObj name="Chart" r:id="rId7" imgW="4571989" imgH="5143584" progId="MSGraph.Chart.8">
                  <p:embed followColorScheme="full"/>
                  <p:pic>
                    <p:nvPicPr>
                      <p:cNvPr id="0" name="Picture 4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08500" y="1651000"/>
                        <a:ext cx="4572000" cy="5143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PAnswers"/>
          <p:cNvSpPr>
            <a:spLocks noGrp="1"/>
          </p:cNvSpPr>
          <p:nvPr>
            <p:ph type="body" idx="1"/>
            <p:custDataLst>
              <p:tags r:id="rId4"/>
            </p:custDataLst>
          </p:nvPr>
        </p:nvSpPr>
        <p:spPr>
          <a:xfrm>
            <a:off x="1115616" y="3501008"/>
            <a:ext cx="4114800" cy="1785384"/>
          </a:xfrm>
        </p:spPr>
        <p:txBody>
          <a:bodyPr>
            <a:noAutofit/>
          </a:bodyPr>
          <a:lstStyle/>
          <a:p>
            <a:pPr marL="514350" indent="-514350">
              <a:spcBef>
                <a:spcPct val="20000"/>
              </a:spcBef>
              <a:buFont typeface="Wingdings 3"/>
              <a:buAutoNum type="arabicPeriod"/>
            </a:pPr>
            <a:r>
              <a:rPr lang="en-IE" sz="3200" dirty="0"/>
              <a:t>Yes</a:t>
            </a:r>
          </a:p>
          <a:p>
            <a:pPr marL="514350" indent="-514350">
              <a:spcBef>
                <a:spcPct val="20000"/>
              </a:spcBef>
              <a:buFont typeface="Wingdings 3"/>
              <a:buAutoNum type="arabicPeriod"/>
            </a:pPr>
            <a:r>
              <a:rPr lang="en-IE" sz="3200" dirty="0"/>
              <a:t>No</a:t>
            </a:r>
          </a:p>
        </p:txBody>
      </p:sp>
      <p:sp>
        <p:nvSpPr>
          <p:cNvPr id="5" name="TextBox 4"/>
          <p:cNvSpPr txBox="1"/>
          <p:nvPr/>
        </p:nvSpPr>
        <p:spPr>
          <a:xfrm>
            <a:off x="539552" y="1556792"/>
            <a:ext cx="7632848" cy="954107"/>
          </a:xfrm>
          <a:prstGeom prst="rect">
            <a:avLst/>
          </a:prstGeom>
          <a:noFill/>
        </p:spPr>
        <p:txBody>
          <a:bodyPr wrap="square" rtlCol="0">
            <a:spAutoFit/>
          </a:bodyPr>
          <a:lstStyle/>
          <a:p>
            <a:r>
              <a:rPr lang="en-IE" sz="2800" dirty="0">
                <a:ea typeface="ＭＳ Ｐゴシック" pitchFamily="34" charset="-128"/>
              </a:rPr>
              <a:t>Restating the authors views in your own words with a citation at the end, e.g. (Smith, 2006)</a:t>
            </a:r>
          </a:p>
        </p:txBody>
      </p:sp>
      <p:sp>
        <p:nvSpPr>
          <p:cNvPr id="6" name="CorShape1"/>
          <p:cNvSpPr/>
          <p:nvPr>
            <p:custDataLst>
              <p:tags r:id="rId5"/>
            </p:custDataLst>
          </p:nvPr>
        </p:nvSpPr>
        <p:spPr>
          <a:xfrm rot="10800000">
            <a:off x="683568" y="4221088"/>
            <a:ext cx="355600" cy="355600"/>
          </a:xfrm>
          <a:custGeom>
            <a:avLst/>
            <a:gdLst/>
            <a:ahLst/>
            <a:cxnLst/>
            <a:rect l="0" t="0" r="0" b="0"/>
            <a:pathLst>
              <a:path w="1524001" h="1752601">
                <a:moveTo>
                  <a:pt x="1295400" y="1066800"/>
                </a:moveTo>
                <a:lnTo>
                  <a:pt x="1524000" y="533400"/>
                </a:lnTo>
                <a:lnTo>
                  <a:pt x="914400" y="0"/>
                </a:lnTo>
                <a:lnTo>
                  <a:pt x="0" y="1447800"/>
                </a:lnTo>
                <a:lnTo>
                  <a:pt x="0" y="1752600"/>
                </a:lnTo>
                <a:lnTo>
                  <a:pt x="990600" y="533400"/>
                </a:lnTo>
                <a:close/>
              </a:path>
            </a:pathLst>
          </a:custGeom>
          <a:solidFill>
            <a:srgbClr val="00C800"/>
          </a:solidFill>
          <a:ln>
            <a:noFill/>
          </a:ln>
          <a:effectLst>
            <a:prstShdw prst="shdw14" dist="35921" dir="2700000">
              <a:scrgbClr r="0" g="0" b="0">
                <a:alpha val="50000"/>
              </a:scrgbClr>
            </a:prst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dirty="0"/>
          </a:p>
        </p:txBody>
      </p:sp>
      <p:sp>
        <p:nvSpPr>
          <p:cNvPr id="7" name="TextBox 6"/>
          <p:cNvSpPr txBox="1"/>
          <p:nvPr/>
        </p:nvSpPr>
        <p:spPr>
          <a:xfrm>
            <a:off x="3419872" y="4149080"/>
            <a:ext cx="4536504" cy="369332"/>
          </a:xfrm>
          <a:prstGeom prst="rect">
            <a:avLst/>
          </a:prstGeom>
          <a:noFill/>
          <a:ln>
            <a:solidFill>
              <a:schemeClr val="accent1"/>
            </a:solidFill>
          </a:ln>
        </p:spPr>
        <p:txBody>
          <a:bodyPr wrap="square" rtlCol="0">
            <a:spAutoFit/>
          </a:bodyPr>
          <a:lstStyle/>
          <a:p>
            <a:r>
              <a:rPr lang="en-IE" dirty="0"/>
              <a:t>This is the correct way to paraphrase.</a:t>
            </a:r>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repeatDur="0" restart="never"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OleChart spid="4" grpId="0"/>
      <p:bldP spid="6" grpId="0" animBg="1"/>
      <p:bldP spid="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How to Recognize Plagiarism?</a:t>
            </a:r>
          </a:p>
        </p:txBody>
      </p:sp>
      <p:sp>
        <p:nvSpPr>
          <p:cNvPr id="3" name="Text Placeholder 2"/>
          <p:cNvSpPr>
            <a:spLocks noGrp="1"/>
          </p:cNvSpPr>
          <p:nvPr>
            <p:ph type="body" idx="1"/>
          </p:nvPr>
        </p:nvSpPr>
        <p:spPr/>
        <p:txBody>
          <a:bodyPr/>
          <a:lstStyle/>
          <a:p>
            <a:r>
              <a:rPr lang="pt-PT" dirty="0"/>
              <a:t>“</a:t>
            </a:r>
            <a:r>
              <a:rPr lang="en-GB" dirty="0"/>
              <a:t>Word-for-word plagiarism is committed when a writer takes a sequence of </a:t>
            </a:r>
            <a:r>
              <a:rPr lang="en-GB" dirty="0">
                <a:solidFill>
                  <a:srgbClr val="FF0000"/>
                </a:solidFill>
              </a:rPr>
              <a:t>7 or more words </a:t>
            </a:r>
            <a:r>
              <a:rPr lang="en-GB" dirty="0"/>
              <a:t>from another source, but fails to identify the quoted passage, fails to provide the full in-text citation crediting the author(s), and fails to provide the bibliographic reference.”</a:t>
            </a:r>
          </a:p>
          <a:p>
            <a:endParaRPr lang="en-GB" dirty="0"/>
          </a:p>
          <a:p>
            <a:r>
              <a:rPr lang="pt-PT" dirty="0"/>
              <a:t>Examples, Practice:</a:t>
            </a:r>
            <a:endParaRPr lang="en-GB" dirty="0">
              <a:hlinkClick r:id="rId2"/>
            </a:endParaRPr>
          </a:p>
          <a:p>
            <a:pPr lvl="1"/>
            <a:r>
              <a:rPr lang="en-GB" dirty="0">
                <a:hlinkClick r:id="rId2"/>
              </a:rPr>
              <a:t>https://www.indiana.edu/~plag/examples.html</a:t>
            </a:r>
            <a:endParaRPr lang="en-GB" dirty="0"/>
          </a:p>
          <a:p>
            <a:pPr marL="0" indent="0">
              <a:buNone/>
            </a:pPr>
            <a:endParaRPr lang="pt-PT"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E" dirty="0"/>
              <a:t>How to Work Correctly?</a:t>
            </a:r>
          </a:p>
        </p:txBody>
      </p:sp>
      <p:sp>
        <p:nvSpPr>
          <p:cNvPr id="3" name="Text Placeholder 2"/>
          <p:cNvSpPr>
            <a:spLocks noGrp="1"/>
          </p:cNvSpPr>
          <p:nvPr>
            <p:ph type="body" idx="1"/>
          </p:nvPr>
        </p:nvSpPr>
        <p:spPr/>
        <p:txBody>
          <a:bodyPr>
            <a:normAutofit/>
          </a:bodyPr>
          <a:lstStyle/>
          <a:p>
            <a:r>
              <a:rPr lang="en-IE" dirty="0"/>
              <a:t>Be familiar with the institute guidelines</a:t>
            </a:r>
          </a:p>
          <a:p>
            <a:r>
              <a:rPr lang="en-IE" dirty="0"/>
              <a:t>Ask your lecturer about the style required for individual assignments</a:t>
            </a:r>
          </a:p>
          <a:p>
            <a:r>
              <a:rPr lang="en-IE" dirty="0"/>
              <a:t>Make notes when you are reading (where things come from)</a:t>
            </a:r>
          </a:p>
          <a:p>
            <a:r>
              <a:rPr lang="en-IE" dirty="0"/>
              <a:t>Always give credit for ideas or data that are not your own</a:t>
            </a:r>
          </a:p>
          <a:p>
            <a:r>
              <a:rPr lang="en-IE" dirty="0"/>
              <a:t>Manage your time</a:t>
            </a:r>
          </a:p>
          <a:p>
            <a:r>
              <a:rPr lang="en-IE" dirty="0"/>
              <a:t>Read your work before you submit it</a:t>
            </a:r>
          </a:p>
          <a:p>
            <a:endParaRPr lang="en-IE" dirty="0"/>
          </a:p>
        </p:txBody>
      </p:sp>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Unacceptable Excuses</a:t>
            </a:r>
          </a:p>
        </p:txBody>
      </p:sp>
      <p:sp>
        <p:nvSpPr>
          <p:cNvPr id="3" name="Text Placeholder 2"/>
          <p:cNvSpPr>
            <a:spLocks noGrp="1"/>
          </p:cNvSpPr>
          <p:nvPr>
            <p:ph type="body" idx="1"/>
          </p:nvPr>
        </p:nvSpPr>
        <p:spPr/>
        <p:txBody>
          <a:bodyPr>
            <a:normAutofit/>
          </a:bodyPr>
          <a:lstStyle/>
          <a:p>
            <a:r>
              <a:rPr lang="en-IE" dirty="0"/>
              <a:t>I ran out of time… </a:t>
            </a:r>
          </a:p>
          <a:p>
            <a:r>
              <a:rPr lang="en-IE" dirty="0"/>
              <a:t>I asked for an extension and wasn’t allowed...</a:t>
            </a:r>
          </a:p>
          <a:p>
            <a:endParaRPr lang="en-IE" dirty="0"/>
          </a:p>
          <a:p>
            <a:r>
              <a:rPr lang="en-IE" dirty="0"/>
              <a:t>Why is this unacceptable? </a:t>
            </a:r>
          </a:p>
          <a:p>
            <a:pPr lvl="1"/>
            <a:r>
              <a:rPr lang="en-IE" dirty="0"/>
              <a:t>Part of what you are being assessed on is your ability to submit work</a:t>
            </a:r>
          </a:p>
          <a:p>
            <a:pPr lvl="2"/>
            <a:r>
              <a:rPr lang="en-IE" dirty="0"/>
              <a:t>On time</a:t>
            </a:r>
          </a:p>
          <a:p>
            <a:pPr lvl="2"/>
            <a:r>
              <a:rPr lang="en-IE" dirty="0"/>
              <a:t>In a professional and ethical manner</a:t>
            </a:r>
          </a:p>
          <a:p>
            <a:pPr lvl="2"/>
            <a:r>
              <a:rPr lang="en-IE" dirty="0"/>
              <a:t>In the form requested</a:t>
            </a:r>
          </a:p>
          <a:p>
            <a:pPr marL="274320" lvl="1" indent="0">
              <a:buNone/>
            </a:pPr>
            <a:endParaRPr lang="en-IE" dirty="0"/>
          </a:p>
          <a:p>
            <a:endParaRPr lang="en-IE"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Unacceptable Excuses</a:t>
            </a:r>
          </a:p>
        </p:txBody>
      </p:sp>
      <p:sp>
        <p:nvSpPr>
          <p:cNvPr id="3" name="Text Placeholder 2"/>
          <p:cNvSpPr>
            <a:spLocks noGrp="1"/>
          </p:cNvSpPr>
          <p:nvPr>
            <p:ph type="body" idx="1"/>
          </p:nvPr>
        </p:nvSpPr>
        <p:spPr/>
        <p:txBody>
          <a:bodyPr>
            <a:normAutofit/>
          </a:bodyPr>
          <a:lstStyle/>
          <a:p>
            <a:r>
              <a:rPr lang="en-IE" dirty="0"/>
              <a:t>No one ever explained the policy…</a:t>
            </a:r>
          </a:p>
          <a:p>
            <a:r>
              <a:rPr lang="en-IE" dirty="0"/>
              <a:t>I didn’t know I had to cite and reference…</a:t>
            </a:r>
          </a:p>
          <a:p>
            <a:endParaRPr lang="en-IE" dirty="0"/>
          </a:p>
          <a:p>
            <a:r>
              <a:rPr lang="en-IE" dirty="0"/>
              <a:t>Why is this unacceptable? </a:t>
            </a:r>
          </a:p>
          <a:p>
            <a:pPr lvl="1"/>
            <a:r>
              <a:rPr lang="en-IE" dirty="0"/>
              <a:t>On registration you are expected to make yourself aware of all Institute guidelines and regulations</a:t>
            </a:r>
          </a:p>
          <a:p>
            <a:pPr lvl="1"/>
            <a:r>
              <a:rPr lang="en-IE" dirty="0"/>
              <a:t>It is your responsibility to be adhere to all Institute guidelines and regulations</a:t>
            </a:r>
          </a:p>
          <a:p>
            <a:pPr lvl="1"/>
            <a:r>
              <a:rPr lang="en-IE" dirty="0"/>
              <a:t>Individual lecturers do not have to explicitly restate all institute policies </a:t>
            </a:r>
          </a:p>
          <a:p>
            <a:pPr lvl="1"/>
            <a:r>
              <a:rPr lang="en-IE" dirty="0"/>
              <a:t>Ignorance is not an acceptable excuse</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 calcmode="lin" valueType="num">
                                      <p:cBhvr additive="base">
                                        <p:cTn id="1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 calcmode="lin" valueType="num">
                                      <p:cBhvr additive="base">
                                        <p:cTn id="3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3">
                                            <p:txEl>
                                              <p:pRg st="7" end="7"/>
                                            </p:txEl>
                                          </p:spTgt>
                                        </p:tgtEl>
                                        <p:attrNameLst>
                                          <p:attrName>style.visibility</p:attrName>
                                        </p:attrNameLst>
                                      </p:cBhvr>
                                      <p:to>
                                        <p:strVal val="visible"/>
                                      </p:to>
                                    </p:set>
                                    <p:anim calcmode="lin" valueType="num">
                                      <p:cBhvr additive="base">
                                        <p:cTn id="4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Unacceptable Excuses</a:t>
            </a:r>
          </a:p>
        </p:txBody>
      </p:sp>
      <p:sp>
        <p:nvSpPr>
          <p:cNvPr id="3" name="Text Placeholder 2"/>
          <p:cNvSpPr>
            <a:spLocks noGrp="1"/>
          </p:cNvSpPr>
          <p:nvPr>
            <p:ph type="body" idx="1"/>
          </p:nvPr>
        </p:nvSpPr>
        <p:spPr/>
        <p:txBody>
          <a:bodyPr>
            <a:normAutofit fontScale="92500"/>
          </a:bodyPr>
          <a:lstStyle/>
          <a:p>
            <a:r>
              <a:rPr lang="en-IE" sz="2800" dirty="0"/>
              <a:t>I didn’t understand what it meant…	</a:t>
            </a:r>
          </a:p>
          <a:p>
            <a:r>
              <a:rPr lang="en-IE" sz="2800" dirty="0"/>
              <a:t>I didn’t realise I was doing it…</a:t>
            </a:r>
          </a:p>
          <a:p>
            <a:endParaRPr lang="en-IE" dirty="0"/>
          </a:p>
          <a:p>
            <a:r>
              <a:rPr lang="en-IE" dirty="0"/>
              <a:t>Why is this unacceptable? </a:t>
            </a:r>
          </a:p>
          <a:p>
            <a:pPr lvl="1"/>
            <a:r>
              <a:rPr lang="en-IE" sz="2400" dirty="0"/>
              <a:t>You are responsible for your own conduct and the work you submit</a:t>
            </a:r>
          </a:p>
          <a:p>
            <a:pPr lvl="1"/>
            <a:r>
              <a:rPr lang="en-IE" sz="2400" dirty="0"/>
              <a:t>You are expected to have a clear understanding of academic practice - if anything is unclear you must ask</a:t>
            </a:r>
          </a:p>
          <a:p>
            <a:pPr lvl="1"/>
            <a:r>
              <a:rPr lang="en-IE" sz="2400" dirty="0">
                <a:cs typeface="Times New Roman" pitchFamily="18" charset="0"/>
              </a:rPr>
              <a:t>You are responsible for the work that you submit for marking</a:t>
            </a:r>
          </a:p>
          <a:p>
            <a:pPr lvl="1"/>
            <a:r>
              <a:rPr lang="en-IE" sz="2400" dirty="0">
                <a:cs typeface="Times New Roman" pitchFamily="18" charset="0"/>
              </a:rPr>
              <a:t>It is your responsibility to fully understand what plagiarism is and to ensure that you do not commit plagiarism (intentionally or unintentionally)</a:t>
            </a:r>
            <a:endParaRPr lang="en-GB" sz="2400" dirty="0">
              <a:cs typeface="Times New Roman" pitchFamily="18" charset="0"/>
            </a:endParaRPr>
          </a:p>
          <a:p>
            <a:endParaRPr lang="en-IE" sz="2400"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 calcmode="lin" valueType="num">
                                      <p:cBhvr additive="base">
                                        <p:cTn id="1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 calcmode="lin" valueType="num">
                                      <p:cBhvr additive="base">
                                        <p:cTn id="3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3">
                                            <p:txEl>
                                              <p:pRg st="7" end="7"/>
                                            </p:txEl>
                                          </p:spTgt>
                                        </p:tgtEl>
                                        <p:attrNameLst>
                                          <p:attrName>style.visibility</p:attrName>
                                        </p:attrNameLst>
                                      </p:cBhvr>
                                      <p:to>
                                        <p:strVal val="visible"/>
                                      </p:to>
                                    </p:set>
                                    <p:anim calcmode="lin" valueType="num">
                                      <p:cBhvr additive="base">
                                        <p:cTn id="4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Unacceptable Excuses</a:t>
            </a:r>
          </a:p>
        </p:txBody>
      </p:sp>
      <p:sp>
        <p:nvSpPr>
          <p:cNvPr id="3" name="Text Placeholder 2"/>
          <p:cNvSpPr>
            <a:spLocks noGrp="1"/>
          </p:cNvSpPr>
          <p:nvPr>
            <p:ph type="body" idx="1"/>
          </p:nvPr>
        </p:nvSpPr>
        <p:spPr/>
        <p:txBody>
          <a:bodyPr>
            <a:normAutofit/>
          </a:bodyPr>
          <a:lstStyle/>
          <a:p>
            <a:r>
              <a:rPr lang="en-IE" dirty="0"/>
              <a:t>I worked on it with someone else…	</a:t>
            </a:r>
          </a:p>
          <a:p>
            <a:pPr lvl="1"/>
            <a:endParaRPr lang="en-IE" dirty="0"/>
          </a:p>
          <a:p>
            <a:r>
              <a:rPr lang="en-IE" dirty="0"/>
              <a:t>Why is this unacceptable? </a:t>
            </a:r>
          </a:p>
          <a:p>
            <a:pPr lvl="1"/>
            <a:r>
              <a:rPr lang="en-IE" dirty="0"/>
              <a:t>If you are working with someone else you </a:t>
            </a:r>
            <a:r>
              <a:rPr lang="en-IE" i="1" dirty="0"/>
              <a:t>both</a:t>
            </a:r>
            <a:r>
              <a:rPr lang="en-IE" dirty="0"/>
              <a:t> have responsibility for the finished work.</a:t>
            </a:r>
          </a:p>
          <a:p>
            <a:pPr lvl="1"/>
            <a:r>
              <a:rPr lang="en-IE" dirty="0"/>
              <a:t>If plagiarism has occurred, you will both be held responsible</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 calcmode="lin" valueType="num">
                                      <p:cBhvr additive="base">
                                        <p:cTn id="1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 calcmode="lin" valueType="num">
                                      <p:cBhvr additive="base">
                                        <p:cTn id="2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Unacceptable Excuses</a:t>
            </a:r>
          </a:p>
        </p:txBody>
      </p:sp>
      <p:sp>
        <p:nvSpPr>
          <p:cNvPr id="3" name="Text Placeholder 2"/>
          <p:cNvSpPr>
            <a:spLocks noGrp="1"/>
          </p:cNvSpPr>
          <p:nvPr>
            <p:ph type="body" idx="1"/>
          </p:nvPr>
        </p:nvSpPr>
        <p:spPr/>
        <p:txBody>
          <a:bodyPr>
            <a:normAutofit lnSpcReduction="10000"/>
          </a:bodyPr>
          <a:lstStyle/>
          <a:p>
            <a:r>
              <a:rPr lang="en-IE" dirty="0"/>
              <a:t>I showed this work to my lecturer/supervisor before I submitted it and s/he didn't comment on it…</a:t>
            </a:r>
          </a:p>
          <a:p>
            <a:endParaRPr lang="en-IE" dirty="0"/>
          </a:p>
          <a:p>
            <a:r>
              <a:rPr lang="en-IE" dirty="0"/>
              <a:t>Why is this unacceptable? </a:t>
            </a:r>
          </a:p>
          <a:p>
            <a:pPr lvl="1"/>
            <a:r>
              <a:rPr lang="en-IE" dirty="0"/>
              <a:t>This is not part of the lecturer/supervisor role</a:t>
            </a:r>
          </a:p>
          <a:p>
            <a:pPr lvl="2"/>
            <a:r>
              <a:rPr lang="en-IE" dirty="0"/>
              <a:t>Lecturers will assume that anything you submit in draft form will be corrected</a:t>
            </a:r>
          </a:p>
          <a:p>
            <a:pPr lvl="2"/>
            <a:r>
              <a:rPr lang="en-IE" dirty="0"/>
              <a:t>Correct citation and referencing is something your lecturers/supervisors will assume that you will be doing before you submit. </a:t>
            </a:r>
          </a:p>
          <a:p>
            <a:pPr lvl="1"/>
            <a:r>
              <a:rPr lang="en-IE" dirty="0"/>
              <a:t>If you submit a draft the lecturer/supervisor will provide guidance on content, approach – they will not examine it in the same way as a submission</a:t>
            </a:r>
          </a:p>
          <a:p>
            <a:endParaRPr lang="en-IE" dirty="0"/>
          </a:p>
        </p:txBody>
      </p:sp>
    </p:spTree>
    <p:custDataLst>
      <p:tags r:id="rId1"/>
    </p:custDataLst>
    <p:extLst>
      <p:ext uri="{BB962C8B-B14F-4D97-AF65-F5344CB8AC3E}">
        <p14:creationId xmlns:p14="http://schemas.microsoft.com/office/powerpoint/2010/main" val="1116097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 calcmode="lin" valueType="num">
                                      <p:cBhvr additive="base">
                                        <p:cTn id="2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 calcmode="lin" valueType="num">
                                      <p:cBhvr additive="base">
                                        <p:cTn id="3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Unacceptable Excuses</a:t>
            </a:r>
          </a:p>
        </p:txBody>
      </p:sp>
      <p:sp>
        <p:nvSpPr>
          <p:cNvPr id="3" name="Text Placeholder 2"/>
          <p:cNvSpPr>
            <a:spLocks noGrp="1"/>
          </p:cNvSpPr>
          <p:nvPr>
            <p:ph type="body" idx="1"/>
          </p:nvPr>
        </p:nvSpPr>
        <p:spPr/>
        <p:txBody>
          <a:bodyPr>
            <a:normAutofit/>
          </a:bodyPr>
          <a:lstStyle/>
          <a:p>
            <a:r>
              <a:rPr lang="en-IE" dirty="0"/>
              <a:t>I didn’t think it mattered (or I would get caught)…</a:t>
            </a:r>
          </a:p>
          <a:p>
            <a:endParaRPr lang="en-IE" dirty="0"/>
          </a:p>
          <a:p>
            <a:r>
              <a:rPr lang="en-IE" dirty="0"/>
              <a:t>Why is this unacceptable? </a:t>
            </a:r>
          </a:p>
          <a:p>
            <a:pPr lvl="1"/>
            <a:r>
              <a:rPr lang="en-IE" dirty="0"/>
              <a:t>It matters</a:t>
            </a:r>
          </a:p>
          <a:p>
            <a:pPr lvl="1"/>
            <a:r>
              <a:rPr lang="en-IE" dirty="0"/>
              <a:t>You are very likely to be found out.</a:t>
            </a:r>
          </a:p>
          <a:p>
            <a:pPr lvl="2"/>
            <a:r>
              <a:rPr lang="en-IE" dirty="0"/>
              <a:t>Lecturers have been marking material for a lot longer than you have been creating it! </a:t>
            </a:r>
          </a:p>
          <a:p>
            <a:pPr lvl="1"/>
            <a:r>
              <a:rPr lang="en-IE" dirty="0"/>
              <a:t>It’s not worth it.</a:t>
            </a:r>
          </a:p>
          <a:p>
            <a:pPr lvl="2"/>
            <a:r>
              <a:rPr lang="en-IE" dirty="0"/>
              <a:t>Make sure you are aware of the possible penalties</a:t>
            </a:r>
          </a:p>
          <a:p>
            <a:pPr lvl="2"/>
            <a:r>
              <a:rPr lang="en-IE" dirty="0">
                <a:hlinkClick r:id="rId3"/>
              </a:rPr>
              <a:t>http://www.ditsu.ie/education/exams/cheating/</a:t>
            </a:r>
            <a:endParaRPr lang="en-IE" dirty="0"/>
          </a:p>
          <a:p>
            <a:pPr marL="594360" lvl="2" indent="0">
              <a:buNone/>
            </a:pPr>
            <a:endParaRPr lang="en-IE" dirty="0"/>
          </a:p>
          <a:p>
            <a:pPr marL="274320" lvl="1" indent="0">
              <a:buNone/>
            </a:pPr>
            <a:endParaRPr lang="en-IE"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 calcmode="lin" valueType="num">
                                      <p:cBhvr additive="base">
                                        <p:cTn id="2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 calcmode="lin" valueType="num">
                                      <p:cBhvr additive="base">
                                        <p:cTn id="3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 calcmode="lin" valueType="num">
                                      <p:cBhvr additive="base">
                                        <p:cTn id="3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7" end="7"/>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anim calcmode="lin" valueType="num">
                                      <p:cBhvr additive="base">
                                        <p:cTn id="39"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Unacceptable Excuses</a:t>
            </a:r>
          </a:p>
        </p:txBody>
      </p:sp>
      <p:sp>
        <p:nvSpPr>
          <p:cNvPr id="3" name="Text Placeholder 2"/>
          <p:cNvSpPr>
            <a:spLocks noGrp="1"/>
          </p:cNvSpPr>
          <p:nvPr>
            <p:ph type="body" idx="1"/>
          </p:nvPr>
        </p:nvSpPr>
        <p:spPr/>
        <p:txBody>
          <a:bodyPr/>
          <a:lstStyle/>
          <a:p>
            <a:r>
              <a:rPr lang="en-IE" dirty="0"/>
              <a:t>But I worked really hard on it…</a:t>
            </a:r>
          </a:p>
          <a:p>
            <a:pPr lvl="1"/>
            <a:endParaRPr lang="en-IE" dirty="0"/>
          </a:p>
          <a:p>
            <a:r>
              <a:rPr lang="en-IE" dirty="0"/>
              <a:t>Why is this unacceptable? </a:t>
            </a:r>
          </a:p>
          <a:p>
            <a:pPr lvl="1"/>
            <a:r>
              <a:rPr lang="en-IE" dirty="0"/>
              <a:t>You didn’t do what was asked of you</a:t>
            </a:r>
          </a:p>
          <a:p>
            <a:pPr lvl="1"/>
            <a:r>
              <a:rPr lang="en-IE" dirty="0"/>
              <a:t>You didn’t work smart</a:t>
            </a:r>
          </a:p>
          <a:p>
            <a:pPr lvl="1"/>
            <a:r>
              <a:rPr lang="en-IE" dirty="0"/>
              <a:t>You didn’t operate in the same way as everyone else who submitted </a:t>
            </a:r>
          </a:p>
          <a:p>
            <a:pPr lvl="1"/>
            <a:r>
              <a:rPr lang="en-IE" dirty="0"/>
              <a:t>You had an advantage over those who spent time correctly citing and referencing</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 calcmode="lin" valueType="num">
                                      <p:cBhvr additive="base">
                                        <p:cTn id="2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 calcmode="lin" valueType="num">
                                      <p:cBhvr additive="base">
                                        <p:cTn id="3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Unacceptable Excuses</a:t>
            </a:r>
          </a:p>
        </p:txBody>
      </p:sp>
      <p:sp>
        <p:nvSpPr>
          <p:cNvPr id="3" name="Text Placeholder 2"/>
          <p:cNvSpPr>
            <a:spLocks noGrp="1"/>
          </p:cNvSpPr>
          <p:nvPr>
            <p:ph type="body" idx="1"/>
          </p:nvPr>
        </p:nvSpPr>
        <p:spPr/>
        <p:txBody>
          <a:bodyPr/>
          <a:lstStyle/>
          <a:p>
            <a:r>
              <a:rPr lang="en-IE" dirty="0"/>
              <a:t>It was ok for another assignment… </a:t>
            </a:r>
          </a:p>
          <a:p>
            <a:r>
              <a:rPr lang="en-IE" dirty="0"/>
              <a:t>Someone else did the same thing and no action was taken…</a:t>
            </a:r>
          </a:p>
          <a:p>
            <a:r>
              <a:rPr lang="en-IE" dirty="0"/>
              <a:t>It wasn’t a problem in my last college…</a:t>
            </a:r>
          </a:p>
          <a:p>
            <a:endParaRPr lang="en-IE" dirty="0"/>
          </a:p>
          <a:p>
            <a:r>
              <a:rPr lang="en-IE" dirty="0"/>
              <a:t>Why is this unacceptable? </a:t>
            </a:r>
          </a:p>
          <a:p>
            <a:pPr lvl="1"/>
            <a:r>
              <a:rPr lang="en-IE" dirty="0"/>
              <a:t>The policies of the Institute are clear and publicly available</a:t>
            </a:r>
          </a:p>
          <a:p>
            <a:pPr lvl="1"/>
            <a:r>
              <a:rPr lang="en-IE" dirty="0"/>
              <a:t>You have to take responsibility for your academic behaviour</a:t>
            </a:r>
          </a:p>
        </p:txBody>
      </p:sp>
    </p:spTree>
    <p:custDataLst>
      <p:tags r:id="rId1"/>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Unacceptable Excuses</a:t>
            </a:r>
          </a:p>
        </p:txBody>
      </p:sp>
      <p:sp>
        <p:nvSpPr>
          <p:cNvPr id="3" name="Text Placeholder 2"/>
          <p:cNvSpPr>
            <a:spLocks noGrp="1"/>
          </p:cNvSpPr>
          <p:nvPr>
            <p:ph type="body" idx="1"/>
          </p:nvPr>
        </p:nvSpPr>
        <p:spPr/>
        <p:txBody>
          <a:bodyPr/>
          <a:lstStyle/>
          <a:p>
            <a:r>
              <a:rPr lang="en-IE" dirty="0"/>
              <a:t>I’m not a native English speaker…</a:t>
            </a:r>
          </a:p>
          <a:p>
            <a:endParaRPr lang="en-IE" dirty="0"/>
          </a:p>
          <a:p>
            <a:r>
              <a:rPr lang="en-IE" dirty="0"/>
              <a:t>Why is this unacceptable? </a:t>
            </a:r>
          </a:p>
          <a:p>
            <a:pPr lvl="1"/>
            <a:r>
              <a:rPr lang="en-IE" dirty="0"/>
              <a:t>Admission to the Programme requires a pre-defined level of proficiency in English</a:t>
            </a:r>
          </a:p>
          <a:p>
            <a:pPr lvl="1"/>
            <a:r>
              <a:rPr lang="en-IE" dirty="0"/>
              <a:t>That level is considered adequate for you to successfully complete your studies</a:t>
            </a:r>
          </a:p>
        </p:txBody>
      </p:sp>
    </p:spTree>
    <p:custDataLst>
      <p:tags r:id="rId1"/>
    </p:custDataLst>
    <p:extLst>
      <p:ext uri="{BB962C8B-B14F-4D97-AF65-F5344CB8AC3E}">
        <p14:creationId xmlns:p14="http://schemas.microsoft.com/office/powerpoint/2010/main" val="25866288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E" dirty="0"/>
              <a:t>Before You Submit</a:t>
            </a:r>
          </a:p>
        </p:txBody>
      </p:sp>
      <p:sp>
        <p:nvSpPr>
          <p:cNvPr id="3" name="Text Placeholder 2"/>
          <p:cNvSpPr>
            <a:spLocks noGrp="1"/>
          </p:cNvSpPr>
          <p:nvPr>
            <p:ph type="body" idx="1"/>
          </p:nvPr>
        </p:nvSpPr>
        <p:spPr/>
        <p:txBody>
          <a:bodyPr/>
          <a:lstStyle/>
          <a:p>
            <a:r>
              <a:rPr lang="en-IE" dirty="0"/>
              <a:t>Would you be confident that no one could accuse you of plagiarism?</a:t>
            </a:r>
          </a:p>
          <a:p>
            <a:endParaRPr lang="en-IE" dirty="0"/>
          </a:p>
          <a:p>
            <a:r>
              <a:rPr lang="en-IE" dirty="0"/>
              <a:t>DIT General Assessment Regulations</a:t>
            </a:r>
          </a:p>
          <a:p>
            <a:pPr lvl="1"/>
            <a:r>
              <a:rPr lang="en-IE" dirty="0">
                <a:hlinkClick r:id="rId3"/>
              </a:rPr>
              <a:t>http://www.dit.ie/qualityassuranceandacademicprogrammerecords/student-assessment-regulations/general/</a:t>
            </a:r>
            <a:endParaRPr lang="en-IE" dirty="0"/>
          </a:p>
          <a:p>
            <a:endParaRPr lang="en-IE"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 calcmode="lin" valueType="num">
                                      <p:cBhvr additive="base">
                                        <p:cTn id="1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E" dirty="0"/>
              <a:t>In Case of Suspicion</a:t>
            </a:r>
          </a:p>
        </p:txBody>
      </p:sp>
      <p:sp>
        <p:nvSpPr>
          <p:cNvPr id="3" name="Text Placeholder 2"/>
          <p:cNvSpPr>
            <a:spLocks noGrp="1"/>
          </p:cNvSpPr>
          <p:nvPr>
            <p:ph type="body" idx="1"/>
          </p:nvPr>
        </p:nvSpPr>
        <p:spPr/>
        <p:txBody>
          <a:bodyPr>
            <a:normAutofit fontScale="85000" lnSpcReduction="10000"/>
          </a:bodyPr>
          <a:lstStyle/>
          <a:p>
            <a:r>
              <a:rPr lang="en-IE" dirty="0"/>
              <a:t>The lecturer may utilise their own professional judgement firstly to resolve the matter.</a:t>
            </a:r>
          </a:p>
          <a:p>
            <a:r>
              <a:rPr lang="en-IE" dirty="0"/>
              <a:t>However some cases may be so severe they have to be dealt with through the Institute Policy.</a:t>
            </a:r>
          </a:p>
          <a:p>
            <a:pPr lvl="2"/>
            <a:r>
              <a:rPr lang="en-IE" dirty="0"/>
              <a:t>If a lecturer suspects that plagiarism has occurred, they shall notify school management</a:t>
            </a:r>
          </a:p>
          <a:p>
            <a:pPr lvl="2"/>
            <a:r>
              <a:rPr lang="en-IE" dirty="0"/>
              <a:t>School management will inform the student of the concern and arrange a meeting (within 10 working days)</a:t>
            </a:r>
          </a:p>
          <a:p>
            <a:pPr lvl="2"/>
            <a:r>
              <a:rPr lang="en-IE" dirty="0"/>
              <a:t>At the end of this meeting the Head of Department/Assistant Head of School and the lecturer will consider the case, make an academic decision and choose one of the following options:</a:t>
            </a:r>
          </a:p>
          <a:p>
            <a:pPr lvl="3"/>
            <a:r>
              <a:rPr lang="en-IE" dirty="0"/>
              <a:t>The matter has been resolved.</a:t>
            </a:r>
          </a:p>
          <a:p>
            <a:pPr lvl="3"/>
            <a:r>
              <a:rPr lang="en-IE" dirty="0"/>
              <a:t>To resolve the matter the student may need to resubmit the work in question.</a:t>
            </a:r>
          </a:p>
          <a:p>
            <a:pPr lvl="3"/>
            <a:r>
              <a:rPr lang="en-IE" dirty="0"/>
              <a:t>The matter is not resolved.  </a:t>
            </a:r>
          </a:p>
          <a:p>
            <a:pPr lvl="3"/>
            <a:r>
              <a:rPr lang="en-IE" dirty="0"/>
              <a:t>If the matter is not resolved (option iii) the Head of Department/Assistant Head of School will report should promptly report the case to the Head of School who in turn will request the Faculty Administrator to move the case to the Panel of Enquiry.</a:t>
            </a:r>
          </a:p>
          <a:p>
            <a:pPr lvl="3"/>
            <a:r>
              <a:rPr lang="en-IE" dirty="0"/>
              <a:t>Details of Panel of Enquiry are outlined in the General Assessment Regulations.  </a:t>
            </a:r>
          </a:p>
          <a:p>
            <a:endParaRPr lang="en-IE" dirty="0"/>
          </a:p>
          <a:p>
            <a:endParaRPr lang="en-IE" dirty="0"/>
          </a:p>
        </p:txBody>
      </p:sp>
    </p:spTree>
    <p:custDataLst>
      <p:tags r:id="rId1"/>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PT" dirty="0"/>
              <a:t>SafeAssign on Webcourses</a:t>
            </a:r>
            <a:endParaRPr lang="en-GB" dirty="0"/>
          </a:p>
        </p:txBody>
      </p:sp>
      <p:sp>
        <p:nvSpPr>
          <p:cNvPr id="3" name="Text Placeholder 2"/>
          <p:cNvSpPr>
            <a:spLocks noGrp="1"/>
          </p:cNvSpPr>
          <p:nvPr>
            <p:ph type="body" idx="1"/>
          </p:nvPr>
        </p:nvSpPr>
        <p:spPr/>
        <p:txBody>
          <a:bodyPr>
            <a:normAutofit lnSpcReduction="10000"/>
          </a:bodyPr>
          <a:lstStyle/>
          <a:p>
            <a:r>
              <a:rPr lang="en-GB" dirty="0" err="1"/>
              <a:t>SafeAssign</a:t>
            </a:r>
            <a:r>
              <a:rPr lang="en-GB" dirty="0"/>
              <a:t> Originality Report</a:t>
            </a:r>
          </a:p>
          <a:p>
            <a:pPr marL="0" indent="0">
              <a:buNone/>
            </a:pPr>
            <a:r>
              <a:rPr lang="en-GB" dirty="0">
                <a:hlinkClick r:id="rId2"/>
              </a:rPr>
              <a:t>https://help.blackboard.com/Learn/Instructor/Assignments/SafeAssign/SafeAssign_Originality_Reports</a:t>
            </a:r>
            <a:endParaRPr lang="en-GB" dirty="0"/>
          </a:p>
          <a:p>
            <a:pPr marL="0" indent="0">
              <a:buNone/>
            </a:pPr>
            <a:r>
              <a:rPr lang="en-GB" dirty="0"/>
              <a:t> </a:t>
            </a:r>
          </a:p>
          <a:p>
            <a:r>
              <a:rPr lang="pt-PT" dirty="0"/>
              <a:t>In </a:t>
            </a:r>
            <a:r>
              <a:rPr lang="pt-PT" dirty="0" err="1"/>
              <a:t>this</a:t>
            </a:r>
            <a:r>
              <a:rPr lang="pt-PT" dirty="0"/>
              <a:t> module, </a:t>
            </a:r>
            <a:r>
              <a:rPr lang="pt-PT" dirty="0" err="1"/>
              <a:t>you’ll</a:t>
            </a:r>
            <a:r>
              <a:rPr lang="pt-PT" dirty="0"/>
              <a:t> </a:t>
            </a:r>
            <a:r>
              <a:rPr lang="pt-PT" dirty="0" err="1"/>
              <a:t>be</a:t>
            </a:r>
            <a:r>
              <a:rPr lang="pt-PT" dirty="0"/>
              <a:t> </a:t>
            </a:r>
            <a:r>
              <a:rPr lang="pt-PT" dirty="0" err="1"/>
              <a:t>granted</a:t>
            </a:r>
            <a:r>
              <a:rPr lang="pt-PT" dirty="0"/>
              <a:t> 3 </a:t>
            </a:r>
            <a:r>
              <a:rPr lang="pt-PT" dirty="0" err="1"/>
              <a:t>attempts</a:t>
            </a:r>
            <a:r>
              <a:rPr lang="pt-PT" dirty="0"/>
              <a:t> to </a:t>
            </a:r>
            <a:r>
              <a:rPr lang="pt-PT" dirty="0" err="1"/>
              <a:t>submit</a:t>
            </a:r>
            <a:r>
              <a:rPr lang="pt-PT" dirty="0"/>
              <a:t> </a:t>
            </a:r>
            <a:r>
              <a:rPr lang="pt-PT" dirty="0" err="1"/>
              <a:t>your</a:t>
            </a:r>
            <a:r>
              <a:rPr lang="pt-PT" dirty="0"/>
              <a:t> </a:t>
            </a:r>
            <a:r>
              <a:rPr lang="pt-PT" dirty="0" err="1"/>
              <a:t>assignments</a:t>
            </a:r>
            <a:r>
              <a:rPr lang="pt-PT" dirty="0"/>
              <a:t>. </a:t>
            </a:r>
          </a:p>
          <a:p>
            <a:r>
              <a:rPr lang="pt-PT" dirty="0" err="1"/>
              <a:t>You’ll</a:t>
            </a:r>
            <a:r>
              <a:rPr lang="pt-PT" dirty="0"/>
              <a:t> </a:t>
            </a:r>
            <a:r>
              <a:rPr lang="pt-PT" dirty="0" err="1"/>
              <a:t>have</a:t>
            </a:r>
            <a:r>
              <a:rPr lang="pt-PT" dirty="0"/>
              <a:t> </a:t>
            </a:r>
            <a:r>
              <a:rPr lang="pt-PT" dirty="0" err="1"/>
              <a:t>access</a:t>
            </a:r>
            <a:r>
              <a:rPr lang="pt-PT" dirty="0"/>
              <a:t> to </a:t>
            </a:r>
            <a:r>
              <a:rPr lang="pt-PT" dirty="0" err="1"/>
              <a:t>the</a:t>
            </a:r>
            <a:r>
              <a:rPr lang="pt-PT" dirty="0"/>
              <a:t> </a:t>
            </a:r>
            <a:r>
              <a:rPr lang="pt-PT" dirty="0" err="1"/>
              <a:t>SafeAssign</a:t>
            </a:r>
            <a:r>
              <a:rPr lang="pt-PT" dirty="0"/>
              <a:t> </a:t>
            </a:r>
            <a:r>
              <a:rPr lang="pt-PT" dirty="0" err="1"/>
              <a:t>originality</a:t>
            </a:r>
            <a:r>
              <a:rPr lang="pt-PT" dirty="0"/>
              <a:t> </a:t>
            </a:r>
            <a:r>
              <a:rPr lang="pt-PT" dirty="0" err="1"/>
              <a:t>report</a:t>
            </a:r>
            <a:r>
              <a:rPr lang="pt-PT" dirty="0"/>
              <a:t>.</a:t>
            </a:r>
          </a:p>
          <a:p>
            <a:r>
              <a:rPr lang="pt-PT" dirty="0" err="1"/>
              <a:t>You</a:t>
            </a:r>
            <a:r>
              <a:rPr lang="pt-PT" dirty="0"/>
              <a:t> </a:t>
            </a:r>
            <a:r>
              <a:rPr lang="pt-PT" dirty="0" err="1"/>
              <a:t>may</a:t>
            </a:r>
            <a:r>
              <a:rPr lang="pt-PT" dirty="0"/>
              <a:t> </a:t>
            </a:r>
            <a:r>
              <a:rPr lang="pt-PT" dirty="0" err="1"/>
              <a:t>review</a:t>
            </a:r>
            <a:r>
              <a:rPr lang="pt-PT" dirty="0"/>
              <a:t> </a:t>
            </a:r>
            <a:r>
              <a:rPr lang="pt-PT" dirty="0" err="1"/>
              <a:t>the</a:t>
            </a:r>
            <a:r>
              <a:rPr lang="pt-PT" dirty="0"/>
              <a:t> </a:t>
            </a:r>
            <a:r>
              <a:rPr lang="pt-PT" dirty="0" err="1"/>
              <a:t>report</a:t>
            </a:r>
            <a:r>
              <a:rPr lang="pt-PT" dirty="0"/>
              <a:t>, </a:t>
            </a:r>
            <a:r>
              <a:rPr lang="pt-PT" dirty="0" err="1"/>
              <a:t>correct</a:t>
            </a:r>
            <a:r>
              <a:rPr lang="pt-PT" dirty="0"/>
              <a:t> </a:t>
            </a:r>
            <a:r>
              <a:rPr lang="pt-PT" dirty="0" err="1"/>
              <a:t>your</a:t>
            </a:r>
            <a:r>
              <a:rPr lang="pt-PT" dirty="0"/>
              <a:t> </a:t>
            </a:r>
            <a:r>
              <a:rPr lang="pt-PT" dirty="0" err="1"/>
              <a:t>paper</a:t>
            </a:r>
            <a:r>
              <a:rPr lang="pt-PT" dirty="0"/>
              <a:t>, </a:t>
            </a:r>
            <a:r>
              <a:rPr lang="pt-PT" dirty="0" err="1"/>
              <a:t>and</a:t>
            </a:r>
            <a:r>
              <a:rPr lang="pt-PT" dirty="0"/>
              <a:t> </a:t>
            </a:r>
            <a:r>
              <a:rPr lang="pt-PT" dirty="0" err="1"/>
              <a:t>resubmit</a:t>
            </a:r>
            <a:r>
              <a:rPr lang="pt-PT" dirty="0"/>
              <a:t> </a:t>
            </a:r>
            <a:r>
              <a:rPr lang="pt-PT" dirty="0" err="1"/>
              <a:t>twice</a:t>
            </a:r>
            <a:r>
              <a:rPr lang="pt-PT" dirty="0"/>
              <a:t>, </a:t>
            </a:r>
            <a:r>
              <a:rPr lang="pt-PT" dirty="0" err="1"/>
              <a:t>up</a:t>
            </a:r>
            <a:r>
              <a:rPr lang="pt-PT" dirty="0"/>
              <a:t> </a:t>
            </a:r>
            <a:r>
              <a:rPr lang="pt-PT" dirty="0" err="1"/>
              <a:t>until</a:t>
            </a:r>
            <a:r>
              <a:rPr lang="pt-PT" dirty="0"/>
              <a:t> </a:t>
            </a:r>
            <a:r>
              <a:rPr lang="pt-PT" dirty="0" err="1"/>
              <a:t>the</a:t>
            </a:r>
            <a:r>
              <a:rPr lang="pt-PT" dirty="0"/>
              <a:t> </a:t>
            </a:r>
            <a:r>
              <a:rPr lang="pt-PT" dirty="0" err="1"/>
              <a:t>assignment</a:t>
            </a:r>
            <a:r>
              <a:rPr lang="pt-PT" dirty="0"/>
              <a:t> </a:t>
            </a:r>
            <a:r>
              <a:rPr lang="pt-PT" dirty="0" err="1"/>
              <a:t>due</a:t>
            </a:r>
            <a:r>
              <a:rPr lang="pt-PT" dirty="0"/>
              <a:t> date.</a:t>
            </a:r>
          </a:p>
          <a:p>
            <a:endParaRPr lang="pt-PT" dirty="0"/>
          </a:p>
          <a:p>
            <a:r>
              <a:rPr lang="en-GB" dirty="0"/>
              <a:t>If you plagiarize, you’ll get zero.</a:t>
            </a:r>
          </a:p>
          <a:p>
            <a:endParaRPr lang="en-GB"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OWERPOINTVERSION" val="12.0"/>
  <p:tag name="TPVERSION" val="2008"/>
  <p:tag name="PPVERSION" val="12.0"/>
  <p:tag name="TPFULLVERSION" val="4.2.4.1012"/>
  <p:tag name="DELIMITERS" val="3.1"/>
  <p:tag name="SHOWBARVISIBLE" val="True"/>
  <p:tag name="EXPANDSHOWBAR" val="True"/>
  <p:tag name="USESECONDARYMONITOR" val="True"/>
  <p:tag name="SAVECSVWITHSESSION" val="True"/>
  <p:tag name="CSVFORMAT" val="0"/>
  <p:tag name="BULLETTYPE" val="3"/>
  <p:tag name="ANSWERNOWSTYLE" val="-1"/>
  <p:tag name="ANSWERNOWTEXT" val="Answer Now"/>
  <p:tag name="COUNTDOWNSTYLE" val="-1"/>
  <p:tag name="RESPCOUNTERSTYLE" val="-1"/>
  <p:tag name="RESPCOUNTERFORMAT" val="0"/>
  <p:tag name="RESPTABLESTYLE" val="-1"/>
  <p:tag name="COUNTDOWNSECONDS" val="10"/>
  <p:tag name="INPUTSOURCE" val="1"/>
  <p:tag name="NUMRESPONSES" val="1"/>
  <p:tag name="ALLOWDUPLICATES" val="False"/>
  <p:tag name="BACKUPSESSIONS" val="True"/>
  <p:tag name="BACKUPMAINTENANCE" val="7"/>
  <p:tag name="CHARTVALUEFORMAT" val="0%"/>
  <p:tag name="AUTOADVANCE" val="False"/>
  <p:tag name="REVIEWONLY" val="False"/>
  <p:tag name="ROTATIONINTERVAL" val="2"/>
  <p:tag name="AUTOUPDATEALIASES" val="True"/>
  <p:tag name="STDCHART" val="1"/>
  <p:tag name="RACEENDPOINTS" val="100"/>
  <p:tag name="RACERSMAXDISPLAYED" val="5"/>
  <p:tag name="RACEANIMATIONSPEED" val="3"/>
  <p:tag name="SKIPREMAININGRACESLIDES" val="True"/>
  <p:tag name="PARTICIPANTSINLEADERBOARD" val="5"/>
  <p:tag name="TEAMSINLEADERBOARD" val="5"/>
  <p:tag name="MAXRESPONDERS" val="5"/>
  <p:tag name="BUBBLENAMEVISIBLE" val="True"/>
  <p:tag name="BUBBLESIZEVISIBLE" val="True"/>
  <p:tag name="BUBBLEVALUEFORMAT" val="0.0"/>
  <p:tag name="BUBBLEGROUPING" val="3"/>
  <p:tag name="DEFAULTNUMTEAMS" val="5"/>
  <p:tag name="CUSTOMGRIDBACKCOLOR" val="-722948"/>
  <p:tag name="CUSTOMCELLFORECOLOR" val="-16777216"/>
  <p:tag name="CUSTOMCELLBACKCOLOR1" val="-657956"/>
  <p:tag name="CUSTOMCELLBACKCOLOR2" val="-13395457"/>
  <p:tag name="CUSTOMCELLBACKCOLOR3" val="-268652"/>
  <p:tag name="CUSTOMCELLBACKCOLOR4" val="-8355712"/>
  <p:tag name="USESCHEMECOLORS" val="True"/>
  <p:tag name="DISPLAYNAME" val="True"/>
  <p:tag name="DISPLAYDEVICENUMBER" val="True"/>
  <p:tag name="DISPLAYDEVICEID" val="True"/>
  <p:tag name="GRIDOPACITY" val="90"/>
  <p:tag name="GRIDROTATIONINTERVAL" val="2"/>
  <p:tag name="AUTOSIZEGRID" val="True"/>
  <p:tag name="GRIDSIZE" val="{Width=800, Height=600}"/>
  <p:tag name="GRIDPOSITION" val="1"/>
  <p:tag name="POLLINGCYCLE" val="2"/>
  <p:tag name="CHARTCOLORS" val="0"/>
  <p:tag name="CHARTLABELS" val="1"/>
  <p:tag name="RESETCHARTS" val="True"/>
  <p:tag name="INCLUDENONRESPONDERS" val="False"/>
  <p:tag name="MULTIRESPDIVISOR" val="1"/>
  <p:tag name="INCLUDEPPT" val="True"/>
  <p:tag name="ALLOWUSERFEEDBACK" val="True"/>
  <p:tag name="CORRECTPOINTVALUE" val="1"/>
  <p:tag name="INCORRECTPOINTVALUE" val="0"/>
  <p:tag name="REALTIMEBACKUP" val="False"/>
  <p:tag name="REALTIMEBACKUPPATH" val="(None)"/>
  <p:tag name="ZEROBASED" val="False"/>
  <p:tag name="AUTOADJUSTPARTRANGE" val="True"/>
  <p:tag name="CHARTSCALE" val="True"/>
  <p:tag name="ADVANCEDSETTINGSVIEW" val="False"/>
  <p:tag name="FIBDISPLAYRESULTS" val="True"/>
  <p:tag name="FIBNUMRESULTS" val="5"/>
  <p:tag name="FIBINCLUDEOTHER" val="True"/>
  <p:tag name="FIBDISPLAYKEYWORDS" val="True"/>
  <p:tag name="PRRESPONSE1" val="10"/>
  <p:tag name="PRRESPONSE2" val="9"/>
  <p:tag name="PRRESPONSE3" val="8"/>
  <p:tag name="PRRESPONSE4" val="7"/>
  <p:tag name="PRRESPONSE5" val="6"/>
  <p:tag name="PRRESPONSE6" val="5"/>
  <p:tag name="PRRESPONSE7" val="4"/>
  <p:tag name="PRRESPONSE8" val="3"/>
  <p:tag name="PRRESPONSE9" val="2"/>
  <p:tag name="PRRESPONSE10" val="1"/>
  <p:tag name="SHOWFLASHWARNING" val="True"/>
  <p:tag name="ALWAYSOPENPOLL" val="False"/>
  <p:tag name="LUIDIAENABLED" val="False"/>
</p:tagLst>
</file>

<file path=ppt/tags/tag2.xml><?xml version="1.0" encoding="utf-8"?>
<p:tagLst xmlns:a="http://schemas.openxmlformats.org/drawingml/2006/main" xmlns:r="http://schemas.openxmlformats.org/officeDocument/2006/relationships" xmlns:p="http://schemas.openxmlformats.org/presentationml/2006/main">
  <p:tag name="DELIMITERS" val="3.1"/>
</p:tagLst>
</file>

<file path=ppt/tags/tag3.xml><?xml version="1.0" encoding="utf-8"?>
<p:tagLst xmlns:a="http://schemas.openxmlformats.org/drawingml/2006/main" xmlns:r="http://schemas.openxmlformats.org/officeDocument/2006/relationships" xmlns:p="http://schemas.openxmlformats.org/presentationml/2006/main">
  <p:tag name="DELIMITERS" val="3.1"/>
</p:tagLst>
</file>

<file path=ppt/tags/tag4.xml><?xml version="1.0" encoding="utf-8"?>
<p:tagLst xmlns:a="http://schemas.openxmlformats.org/drawingml/2006/main" xmlns:r="http://schemas.openxmlformats.org/officeDocument/2006/relationships" xmlns:p="http://schemas.openxmlformats.org/presentationml/2006/main">
  <p:tag name="DELIMITERS" val="3.1"/>
</p:tagLst>
</file>

<file path=ppt/tags/tag5.xml><?xml version="1.0" encoding="utf-8"?>
<p:tagLst xmlns:a="http://schemas.openxmlformats.org/drawingml/2006/main" xmlns:r="http://schemas.openxmlformats.org/officeDocument/2006/relationships" xmlns:p="http://schemas.openxmlformats.org/presentationml/2006/main">
  <p:tag name="DELIMITERS" val="3.1"/>
</p:tagLst>
</file>

<file path=ppt/tags/tag6.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7.xml><?xml version="1.0" encoding="utf-8"?>
<p:tagLst xmlns:a="http://schemas.openxmlformats.org/drawingml/2006/main" xmlns:r="http://schemas.openxmlformats.org/officeDocument/2006/relationships" xmlns:p="http://schemas.openxmlformats.org/presentationml/2006/main">
  <p:tag name="SLIDEGUID" val="D06F0FA053D64CD9AC30160AB9AC1F3F"/>
  <p:tag name="SLIDEID" val="D06F0FA053D64CD9AC30160AB9AC1F3F"/>
  <p:tag name="SLIDEORDER" val="1"/>
  <p:tag name="SLIDETYPE" val="Q"/>
  <p:tag name="DEMOGRAPHIC" val="False"/>
  <p:tag name="TEAMASSIGN" val="False"/>
  <p:tag name="SPEEDSCORING" val="False"/>
  <p:tag name="CORRECTPOINTVALUE" val="1"/>
  <p:tag name="INCORRECTPOINTVALUE" val="0"/>
  <p:tag name="ZEROBASED" val="False"/>
  <p:tag name="NUMRESPONSES" val="1"/>
  <p:tag name="AUTOADVANCE" val="False"/>
  <p:tag name="QUESTIONALIAS" val="Do you agree?"/>
  <p:tag name="ANSWERSALIAS" val="Yes|smicln|No"/>
  <p:tag name="DELIMITERS" val="3.1"/>
  <p:tag name="VALUEFORMAT" val="0%"/>
  <p:tag name="RESPONSECOUNT" val="25"/>
  <p:tag name="SLICED" val="False"/>
  <p:tag name="RESPONSES" val="1;1;1;1;1;2;1;1;1;1;1;1;1;1;1;1;1;1;1;1;1;1;1;-;1;1;"/>
  <p:tag name="CHARTSTRINGSTD" val="24 1"/>
  <p:tag name="CHARTSTRINGREV" val="1 24"/>
  <p:tag name="CHARTSTRINGSTDPER" val="0.96 0.04"/>
  <p:tag name="CHARTSTRINGREVPER" val="0.04 0.96"/>
  <p:tag name="VALUES" val="Correct|smicln|Incorrect"/>
  <p:tag name="RESPONSESGATHERED" val="False"/>
  <p:tag name="TOTALRESPONSES" val="0"/>
</p:tagLst>
</file>

<file path=ppt/tags/tag8.xml><?xml version="1.0" encoding="utf-8"?>
<p:tagLst xmlns:a="http://schemas.openxmlformats.org/drawingml/2006/main" xmlns:r="http://schemas.openxmlformats.org/officeDocument/2006/relationships" xmlns:p="http://schemas.openxmlformats.org/presentationml/2006/main">
  <p:tag name="CHARTTYPE" val="0"/>
</p:tagLst>
</file>

<file path=ppt/tags/tag9.xml><?xml version="1.0" encoding="utf-8"?>
<p:tagLst xmlns:a="http://schemas.openxmlformats.org/drawingml/2006/main" xmlns:r="http://schemas.openxmlformats.org/officeDocument/2006/relationships" xmlns:p="http://schemas.openxmlformats.org/presentationml/2006/main">
  <p:tag name="ANSWERBULLETS" val="3"/>
  <p:tag name="OLDNUMANSWERS" val="2"/>
  <p:tag name="TEXTLENGTH" val="6"/>
  <p:tag name="FONTSIZE" val="32"/>
  <p:tag name="BULLETTYPE" val="ppBulletArabicPeriod"/>
  <p:tag name="ANSWERTEXT" val="Yes&#10;No"/>
</p:tagLst>
</file>

<file path=ppt/tags/tag10.xml><?xml version="1.0" encoding="utf-8"?>
<p:tagLst xmlns:a="http://schemas.openxmlformats.org/drawingml/2006/main" xmlns:r="http://schemas.openxmlformats.org/officeDocument/2006/relationships" xmlns:p="http://schemas.openxmlformats.org/presentationml/2006/main">
  <p:tag name="CORSHAPE" val="True"/>
  <p:tag name="SHAPETYPE" val="2"/>
</p:tagLst>
</file>

<file path=ppt/tags/tag11.xml><?xml version="1.0" encoding="utf-8"?>
<p:tagLst xmlns:a="http://schemas.openxmlformats.org/drawingml/2006/main" xmlns:r="http://schemas.openxmlformats.org/officeDocument/2006/relationships" xmlns:p="http://schemas.openxmlformats.org/presentationml/2006/main">
  <p:tag name="SLIDEID" val="D06F0FA053D64CD9AC30160AB9AC1F3F"/>
  <p:tag name="SLIDETYPE" val="Q"/>
  <p:tag name="DEMOGRAPHIC" val="False"/>
  <p:tag name="TEAMASSIGN" val="False"/>
  <p:tag name="SPEEDSCORING" val="False"/>
  <p:tag name="CORRECTPOINTVALUE" val="1"/>
  <p:tag name="INCORRECTPOINTVALUE" val="0"/>
  <p:tag name="ZEROBASED" val="False"/>
  <p:tag name="NUMRESPONSES" val="1"/>
  <p:tag name="AUTOADVANCE" val="False"/>
  <p:tag name="QUESTIONALIAS" val="Do you agree?"/>
  <p:tag name="ANSWERSALIAS" val="Yes|smicln|No"/>
  <p:tag name="DELIMITERS" val="3.1"/>
  <p:tag name="VALUEFORMAT" val="0%"/>
  <p:tag name="SLIDEORDER" val="2"/>
  <p:tag name="SLIDEGUID" val="26DBCBE443D04FF1BCC3DBDBBA17B2EF"/>
  <p:tag name="RESPONSECOUNT" val="25"/>
  <p:tag name="SLICED" val="False"/>
  <p:tag name="RESPONSES" val="2;2;2;2;2;-;2;2;2;2;2;2;2;2;2;2;2;2;2;2;2;2;2;2;2;2;"/>
  <p:tag name="CHARTSTRINGSTD" val="0 25"/>
  <p:tag name="CHARTSTRINGREV" val="25 0"/>
  <p:tag name="CHARTSTRINGSTDPER" val="0 1"/>
  <p:tag name="CHARTSTRINGREVPER" val="1 0"/>
  <p:tag name="VALUES" val="Correct|smicln|Incorrect"/>
  <p:tag name="RESPONSESGATHERED" val="False"/>
  <p:tag name="TOTALRESPONSES" val="0"/>
</p:tagLst>
</file>

<file path=ppt/tags/tag12.xml><?xml version="1.0" encoding="utf-8"?>
<p:tagLst xmlns:a="http://schemas.openxmlformats.org/drawingml/2006/main" xmlns:r="http://schemas.openxmlformats.org/officeDocument/2006/relationships" xmlns:p="http://schemas.openxmlformats.org/presentationml/2006/main">
  <p:tag name="CHARTTYPE" val="0"/>
</p:tagLst>
</file>

<file path=ppt/tags/tag13.xml><?xml version="1.0" encoding="utf-8"?>
<p:tagLst xmlns:a="http://schemas.openxmlformats.org/drawingml/2006/main" xmlns:r="http://schemas.openxmlformats.org/officeDocument/2006/relationships" xmlns:p="http://schemas.openxmlformats.org/presentationml/2006/main">
  <p:tag name="ANSWERBULLETS" val="3"/>
  <p:tag name="OLDNUMANSWERS" val="2"/>
  <p:tag name="TEXTLENGTH" val="6"/>
  <p:tag name="FONTSIZE" val="32"/>
  <p:tag name="BULLETTYPE" val="ppBulletArabicPeriod"/>
  <p:tag name="ANSWERTEXT" val="Yes&#10;No"/>
</p:tagLst>
</file>

<file path=ppt/tags/tag14.xml><?xml version="1.0" encoding="utf-8"?>
<p:tagLst xmlns:a="http://schemas.openxmlformats.org/drawingml/2006/main" xmlns:r="http://schemas.openxmlformats.org/officeDocument/2006/relationships" xmlns:p="http://schemas.openxmlformats.org/presentationml/2006/main">
  <p:tag name="CORSHAPE" val="True"/>
  <p:tag name="SHAPETYPE" val="2"/>
</p:tagLst>
</file>

<file path=ppt/tags/tag15.xml><?xml version="1.0" encoding="utf-8"?>
<p:tagLst xmlns:a="http://schemas.openxmlformats.org/drawingml/2006/main" xmlns:r="http://schemas.openxmlformats.org/officeDocument/2006/relationships" xmlns:p="http://schemas.openxmlformats.org/presentationml/2006/main">
  <p:tag name="SLIDEID" val="D06F0FA053D64CD9AC30160AB9AC1F3F"/>
  <p:tag name="SLIDETYPE" val="Q"/>
  <p:tag name="DEMOGRAPHIC" val="False"/>
  <p:tag name="TEAMASSIGN" val="False"/>
  <p:tag name="SPEEDSCORING" val="False"/>
  <p:tag name="CORRECTPOINTVALUE" val="1"/>
  <p:tag name="INCORRECTPOINTVALUE" val="0"/>
  <p:tag name="ZEROBASED" val="False"/>
  <p:tag name="NUMRESPONSES" val="1"/>
  <p:tag name="AUTOADVANCE" val="False"/>
  <p:tag name="QUESTIONALIAS" val="Do you agree?"/>
  <p:tag name="ANSWERSALIAS" val="Yes|smicln|No"/>
  <p:tag name="DELIMITERS" val="3.1"/>
  <p:tag name="VALUEFORMAT" val="0%"/>
  <p:tag name="SLIDEORDER" val="3"/>
  <p:tag name="SLIDEGUID" val="0EA073F3DD374EACBF6B31785F3CC851"/>
  <p:tag name="RESPONSECOUNT" val="25"/>
  <p:tag name="SLICED" val="False"/>
  <p:tag name="RESPONSES" val="2;2;2;1;2;2;2;2;2;2;1;1;2;1;-;2;2;2;2;1;2;1;1;2;1;1;"/>
  <p:tag name="CHARTSTRINGSTD" val="9 16"/>
  <p:tag name="CHARTSTRINGREV" val="16 9"/>
  <p:tag name="CHARTSTRINGSTDPER" val="0.36 0.64"/>
  <p:tag name="CHARTSTRINGREVPER" val="0.64 0.36"/>
  <p:tag name="VALUES" val="Correct|smicln|Incorrect"/>
  <p:tag name="RESPONSESGATHERED" val="False"/>
  <p:tag name="TOTALRESPONSES" val="0"/>
</p:tagLst>
</file>

<file path=ppt/tags/tag16.xml><?xml version="1.0" encoding="utf-8"?>
<p:tagLst xmlns:a="http://schemas.openxmlformats.org/drawingml/2006/main" xmlns:r="http://schemas.openxmlformats.org/officeDocument/2006/relationships" xmlns:p="http://schemas.openxmlformats.org/presentationml/2006/main">
  <p:tag name="ANSWERBULLETS" val="3"/>
  <p:tag name="OLDNUMANSWERS" val="2"/>
  <p:tag name="TEXTLENGTH" val="6"/>
  <p:tag name="FONTSIZE" val="32"/>
  <p:tag name="BULLETTYPE" val="ppBulletArabicPeriod"/>
  <p:tag name="ANSWERTEXT" val="Yes&#10;No"/>
</p:tagLst>
</file>

<file path=ppt/tags/tag17.xml><?xml version="1.0" encoding="utf-8"?>
<p:tagLst xmlns:a="http://schemas.openxmlformats.org/drawingml/2006/main" xmlns:r="http://schemas.openxmlformats.org/officeDocument/2006/relationships" xmlns:p="http://schemas.openxmlformats.org/presentationml/2006/main">
  <p:tag name="CORSHAPE" val="True"/>
  <p:tag name="SHAPETYPE" val="2"/>
</p:tagLst>
</file>

<file path=ppt/tags/tag18.xml><?xml version="1.0" encoding="utf-8"?>
<p:tagLst xmlns:a="http://schemas.openxmlformats.org/drawingml/2006/main" xmlns:r="http://schemas.openxmlformats.org/officeDocument/2006/relationships" xmlns:p="http://schemas.openxmlformats.org/presentationml/2006/main">
  <p:tag name="SLIDEID" val="D06F0FA053D64CD9AC30160AB9AC1F3F"/>
  <p:tag name="SLIDETYPE" val="Q"/>
  <p:tag name="DEMOGRAPHIC" val="False"/>
  <p:tag name="TEAMASSIGN" val="False"/>
  <p:tag name="SPEEDSCORING" val="False"/>
  <p:tag name="CORRECTPOINTVALUE" val="1"/>
  <p:tag name="INCORRECTPOINTVALUE" val="0"/>
  <p:tag name="ZEROBASED" val="False"/>
  <p:tag name="NUMRESPONSES" val="1"/>
  <p:tag name="AUTOADVANCE" val="False"/>
  <p:tag name="QUESTIONALIAS" val="Do you agree?"/>
  <p:tag name="ANSWERSALIAS" val="Yes|smicln|No"/>
  <p:tag name="DELIMITERS" val="3.1"/>
  <p:tag name="VALUEFORMAT" val="0%"/>
  <p:tag name="SLIDEORDER" val="4"/>
  <p:tag name="SLIDEGUID" val="6B79531FA0574C2888FD03843CAB0AF6"/>
  <p:tag name="RESPONSECOUNT" val="25"/>
  <p:tag name="SLICED" val="False"/>
  <p:tag name="RESPONSES" val="1;1;1;1;1;2;-;1;1;1;1;1;1;1;1;1;1;1;2;1;1;1;1;1;1;1;"/>
  <p:tag name="CHARTSTRINGSTD" val="23 2"/>
  <p:tag name="CHARTSTRINGREV" val="2 23"/>
  <p:tag name="CHARTSTRINGSTDPER" val="0.92 0.08"/>
  <p:tag name="CHARTSTRINGREVPER" val="0.08 0.92"/>
  <p:tag name="VALUES" val="Correct|smicln|Incorrect"/>
  <p:tag name="RESPONSESGATHERED" val="False"/>
  <p:tag name="TOTALRESPONSES" val="0"/>
</p:tagLst>
</file>

<file path=ppt/tags/tag19.xml><?xml version="1.0" encoding="utf-8"?>
<p:tagLst xmlns:a="http://schemas.openxmlformats.org/drawingml/2006/main" xmlns:r="http://schemas.openxmlformats.org/officeDocument/2006/relationships" xmlns:p="http://schemas.openxmlformats.org/presentationml/2006/main">
  <p:tag name="CHARTTYPE" val="0"/>
</p:tagLst>
</file>

<file path=ppt/tags/tag20.xml><?xml version="1.0" encoding="utf-8"?>
<p:tagLst xmlns:a="http://schemas.openxmlformats.org/drawingml/2006/main" xmlns:r="http://schemas.openxmlformats.org/officeDocument/2006/relationships" xmlns:p="http://schemas.openxmlformats.org/presentationml/2006/main">
  <p:tag name="ANSWERBULLETS" val="3"/>
  <p:tag name="OLDNUMANSWERS" val="2"/>
  <p:tag name="TEXTLENGTH" val="6"/>
  <p:tag name="FONTSIZE" val="32"/>
  <p:tag name="BULLETTYPE" val="ppBulletArabicPeriod"/>
  <p:tag name="ANSWERTEXT" val="Yes&#10;No"/>
</p:tagLst>
</file>

<file path=ppt/tags/tag21.xml><?xml version="1.0" encoding="utf-8"?>
<p:tagLst xmlns:a="http://schemas.openxmlformats.org/drawingml/2006/main" xmlns:r="http://schemas.openxmlformats.org/officeDocument/2006/relationships" xmlns:p="http://schemas.openxmlformats.org/presentationml/2006/main">
  <p:tag name="CORSHAPE" val="True"/>
  <p:tag name="SHAPETYPE" val="2"/>
</p:tagLst>
</file>

<file path=ppt/tags/tag22.xml><?xml version="1.0" encoding="utf-8"?>
<p:tagLst xmlns:a="http://schemas.openxmlformats.org/drawingml/2006/main" xmlns:r="http://schemas.openxmlformats.org/officeDocument/2006/relationships" xmlns:p="http://schemas.openxmlformats.org/presentationml/2006/main">
  <p:tag name="SLIDEID" val="D06F0FA053D64CD9AC30160AB9AC1F3F"/>
  <p:tag name="SLIDETYPE" val="Q"/>
  <p:tag name="DEMOGRAPHIC" val="False"/>
  <p:tag name="TEAMASSIGN" val="False"/>
  <p:tag name="SPEEDSCORING" val="False"/>
  <p:tag name="INCORRECTPOINTVALUE" val="0"/>
  <p:tag name="ZEROBASED" val="False"/>
  <p:tag name="NUMRESPONSES" val="1"/>
  <p:tag name="AUTOADVANCE" val="False"/>
  <p:tag name="QUESTIONALIAS" val="Do you agree?"/>
  <p:tag name="ANSWERSALIAS" val="Yes|smicln|No"/>
  <p:tag name="DELIMITERS" val="3.1"/>
  <p:tag name="VALUEFORMAT" val="0%"/>
  <p:tag name="SLIDEORDER" val="6"/>
  <p:tag name="SLIDEGUID" val="E756FFCA19D0443189AEB64A638E06BF"/>
  <p:tag name="CORRECTPOINTVALUE" val="1"/>
  <p:tag name="RESPONSECOUNT" val="1"/>
  <p:tag name="SLICED" val="False"/>
  <p:tag name="RESPONSES" val="-;-;-;2;-;-;-;-;-;-;-;-;-;-;-;-;-;-;-;-;-;-;-;-;-;-;"/>
  <p:tag name="CHARTSTRINGSTD" val="0 1"/>
  <p:tag name="CHARTSTRINGREV" val="1 0"/>
  <p:tag name="CHARTSTRINGSTDPER" val="0 1"/>
  <p:tag name="CHARTSTRINGREVPER" val="1 0"/>
  <p:tag name="VALUES" val="Incorrect|smicln|Correct"/>
  <p:tag name="RESPONSESGATHERED" val="False"/>
  <p:tag name="TOTALRESPONSES" val="0"/>
</p:tagLst>
</file>

<file path=ppt/tags/tag23.xml><?xml version="1.0" encoding="utf-8"?>
<p:tagLst xmlns:a="http://schemas.openxmlformats.org/drawingml/2006/main" xmlns:r="http://schemas.openxmlformats.org/officeDocument/2006/relationships" xmlns:p="http://schemas.openxmlformats.org/presentationml/2006/main">
  <p:tag name="CHARTTYPE" val="0"/>
</p:tagLst>
</file>

<file path=ppt/tags/tag24.xml><?xml version="1.0" encoding="utf-8"?>
<p:tagLst xmlns:a="http://schemas.openxmlformats.org/drawingml/2006/main" xmlns:r="http://schemas.openxmlformats.org/officeDocument/2006/relationships" xmlns:p="http://schemas.openxmlformats.org/presentationml/2006/main">
  <p:tag name="ANSWERBULLETS" val="3"/>
  <p:tag name="OLDNUMANSWERS" val="2"/>
  <p:tag name="TEXTLENGTH" val="6"/>
  <p:tag name="FONTSIZE" val="32"/>
  <p:tag name="BULLETTYPE" val="ppBulletArabicPeriod"/>
  <p:tag name="ANSWERTEXT" val="Yes&#10;No"/>
</p:tagLst>
</file>

<file path=ppt/tags/tag25.xml><?xml version="1.0" encoding="utf-8"?>
<p:tagLst xmlns:a="http://schemas.openxmlformats.org/drawingml/2006/main" xmlns:r="http://schemas.openxmlformats.org/officeDocument/2006/relationships" xmlns:p="http://schemas.openxmlformats.org/presentationml/2006/main">
  <p:tag name="CORSHAPE" val="True"/>
  <p:tag name="SHAPETYPE" val="2"/>
</p:tagLst>
</file>

<file path=ppt/tags/tag26.xml><?xml version="1.0" encoding="utf-8"?>
<p:tagLst xmlns:a="http://schemas.openxmlformats.org/drawingml/2006/main" xmlns:r="http://schemas.openxmlformats.org/officeDocument/2006/relationships" xmlns:p="http://schemas.openxmlformats.org/presentationml/2006/main">
  <p:tag name="DELIMITERS" val="3.1"/>
</p:tagLst>
</file>

<file path=ppt/tags/tag27.xml><?xml version="1.0" encoding="utf-8"?>
<p:tagLst xmlns:a="http://schemas.openxmlformats.org/drawingml/2006/main" xmlns:r="http://schemas.openxmlformats.org/officeDocument/2006/relationships" xmlns:p="http://schemas.openxmlformats.org/presentationml/2006/main">
  <p:tag name="DELIMITERS" val="3.1"/>
</p:tagLst>
</file>

<file path=ppt/tags/tag28.xml><?xml version="1.0" encoding="utf-8"?>
<p:tagLst xmlns:a="http://schemas.openxmlformats.org/drawingml/2006/main" xmlns:r="http://schemas.openxmlformats.org/officeDocument/2006/relationships" xmlns:p="http://schemas.openxmlformats.org/presentationml/2006/main">
  <p:tag name="DELIMITERS" val="3.1"/>
</p:tagLst>
</file>

<file path=ppt/tags/tag29.xml><?xml version="1.0" encoding="utf-8"?>
<p:tagLst xmlns:a="http://schemas.openxmlformats.org/drawingml/2006/main" xmlns:r="http://schemas.openxmlformats.org/officeDocument/2006/relationships" xmlns:p="http://schemas.openxmlformats.org/presentationml/2006/main">
  <p:tag name="DELIMITERS" val="3.1"/>
</p:tagLst>
</file>

<file path=ppt/tags/tag30.xml><?xml version="1.0" encoding="utf-8"?>
<p:tagLst xmlns:a="http://schemas.openxmlformats.org/drawingml/2006/main" xmlns:r="http://schemas.openxmlformats.org/officeDocument/2006/relationships" xmlns:p="http://schemas.openxmlformats.org/presentationml/2006/main">
  <p:tag name="DELIMITERS" val="3.1"/>
</p:tagLst>
</file>

<file path=ppt/tags/tag31.xml><?xml version="1.0" encoding="utf-8"?>
<p:tagLst xmlns:a="http://schemas.openxmlformats.org/drawingml/2006/main" xmlns:r="http://schemas.openxmlformats.org/officeDocument/2006/relationships" xmlns:p="http://schemas.openxmlformats.org/presentationml/2006/main">
  <p:tag name="DELIMITERS" val="3.1"/>
</p:tagLst>
</file>

<file path=ppt/tags/tag32.xml><?xml version="1.0" encoding="utf-8"?>
<p:tagLst xmlns:a="http://schemas.openxmlformats.org/drawingml/2006/main" xmlns:r="http://schemas.openxmlformats.org/officeDocument/2006/relationships" xmlns:p="http://schemas.openxmlformats.org/presentationml/2006/main">
  <p:tag name="DELIMITERS" val="3.1"/>
</p:tagLst>
</file>

<file path=ppt/tags/tag33.xml><?xml version="1.0" encoding="utf-8"?>
<p:tagLst xmlns:a="http://schemas.openxmlformats.org/drawingml/2006/main" xmlns:r="http://schemas.openxmlformats.org/officeDocument/2006/relationships" xmlns:p="http://schemas.openxmlformats.org/presentationml/2006/main">
  <p:tag name="DELIMITERS" val="3.1"/>
</p:tagLst>
</file>

<file path=ppt/tags/tag34.xml><?xml version="1.0" encoding="utf-8"?>
<p:tagLst xmlns:a="http://schemas.openxmlformats.org/drawingml/2006/main" xmlns:r="http://schemas.openxmlformats.org/officeDocument/2006/relationships" xmlns:p="http://schemas.openxmlformats.org/presentationml/2006/main">
  <p:tag name="DELIMITERS" val="3.1"/>
</p:tagLst>
</file>

<file path=ppt/tags/tag35.xml><?xml version="1.0" encoding="utf-8"?>
<p:tagLst xmlns:a="http://schemas.openxmlformats.org/drawingml/2006/main" xmlns:r="http://schemas.openxmlformats.org/officeDocument/2006/relationships" xmlns:p="http://schemas.openxmlformats.org/presentationml/2006/main">
  <p:tag name="DELIMITERS" val="3.1"/>
</p:tagLst>
</file>

<file path=ppt/tags/tag36.xml><?xml version="1.0" encoding="utf-8"?>
<p:tagLst xmlns:a="http://schemas.openxmlformats.org/drawingml/2006/main" xmlns:r="http://schemas.openxmlformats.org/officeDocument/2006/relationships" xmlns:p="http://schemas.openxmlformats.org/presentationml/2006/main">
  <p:tag name="DELIMITERS" val="3.1"/>
</p:tagLst>
</file>

<file path=ppt/tags/tag37.xml><?xml version="1.0" encoding="utf-8"?>
<p:tagLst xmlns:a="http://schemas.openxmlformats.org/drawingml/2006/main" xmlns:r="http://schemas.openxmlformats.org/officeDocument/2006/relationships" xmlns:p="http://schemas.openxmlformats.org/presentationml/2006/main">
  <p:tag name="DELIMITERS" val="3.1"/>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txDef>
      <a:spPr>
        <a:noFill/>
        <a:ln>
          <a:solidFill>
            <a:schemeClr val="accent1"/>
          </a:solidFill>
        </a:ln>
      </a:spPr>
      <a:bodyPr wrap="square" rtlCol="0">
        <a:spAutoFit/>
      </a:bodyPr>
      <a:lstStyle>
        <a:defPPr>
          <a:defRPr dirty="0" smtClean="0"/>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Template>
  <TotalTime>722</TotalTime>
  <Words>1429</Words>
  <Application>Microsoft Office PowerPoint</Application>
  <PresentationFormat>On-screen Show (4:3)</PresentationFormat>
  <Paragraphs>178</Paragraphs>
  <Slides>26</Slides>
  <Notes>0</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26</vt:i4>
      </vt:variant>
    </vt:vector>
  </HeadingPairs>
  <TitlesOfParts>
    <vt:vector size="28" baseType="lpstr">
      <vt:lpstr>Origin</vt:lpstr>
      <vt:lpstr>Chart</vt:lpstr>
      <vt:lpstr>Plagiarism</vt:lpstr>
      <vt:lpstr>Aim of Session</vt:lpstr>
      <vt:lpstr>What is Plagiarism?</vt:lpstr>
      <vt:lpstr>Plagiarism - Definition</vt:lpstr>
      <vt:lpstr>Fair Use</vt:lpstr>
      <vt:lpstr>Why is Plagiarism a Serious Issue?</vt:lpstr>
      <vt:lpstr>What is the School Looking For? </vt:lpstr>
      <vt:lpstr>Is this Plagiarism?</vt:lpstr>
      <vt:lpstr>Is this Plagiarism?</vt:lpstr>
      <vt:lpstr>Is this Plagiarism?</vt:lpstr>
      <vt:lpstr>Is this Plagiarism?</vt:lpstr>
      <vt:lpstr>Is this Plagiarism?</vt:lpstr>
      <vt:lpstr>How to Recognize Plagiarism?</vt:lpstr>
      <vt:lpstr>How to Work Correctly?</vt:lpstr>
      <vt:lpstr>Unacceptable Excuses</vt:lpstr>
      <vt:lpstr>Unacceptable Excuses</vt:lpstr>
      <vt:lpstr>Unacceptable Excuses</vt:lpstr>
      <vt:lpstr>Unacceptable Excuses</vt:lpstr>
      <vt:lpstr>Unacceptable Excuses</vt:lpstr>
      <vt:lpstr>Unacceptable Excuses</vt:lpstr>
      <vt:lpstr>Unacceptable Excuses</vt:lpstr>
      <vt:lpstr>Unacceptable Excuses</vt:lpstr>
      <vt:lpstr>Unacceptable Excuses</vt:lpstr>
      <vt:lpstr>Before You Submit</vt:lpstr>
      <vt:lpstr>In Case of Suspicion</vt:lpstr>
      <vt:lpstr>SafeAssign on Webcourses</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dlawless</dc:creator>
  <cp:lastModifiedBy>John-PC</cp:lastModifiedBy>
  <cp:revision>150</cp:revision>
  <dcterms:created xsi:type="dcterms:W3CDTF">2011-02-21T15:55:44Z</dcterms:created>
  <dcterms:modified xsi:type="dcterms:W3CDTF">2020-02-22T08:25:35Z</dcterms:modified>
</cp:coreProperties>
</file>