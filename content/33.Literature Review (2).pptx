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49" r:id="rId1"/>
  </p:sldMasterIdLst>
  <p:notesMasterIdLst>
    <p:notesMasterId r:id="rId30"/>
  </p:notesMasterIdLst>
  <p:handoutMasterIdLst>
    <p:handoutMasterId r:id="rId31"/>
  </p:handoutMasterIdLst>
  <p:sldIdLst>
    <p:sldId id="467" r:id="rId2"/>
    <p:sldId id="468" r:id="rId3"/>
    <p:sldId id="469" r:id="rId4"/>
    <p:sldId id="504" r:id="rId5"/>
    <p:sldId id="524" r:id="rId6"/>
    <p:sldId id="470" r:id="rId7"/>
    <p:sldId id="471" r:id="rId8"/>
    <p:sldId id="472" r:id="rId9"/>
    <p:sldId id="473" r:id="rId10"/>
    <p:sldId id="474" r:id="rId11"/>
    <p:sldId id="497" r:id="rId12"/>
    <p:sldId id="475" r:id="rId13"/>
    <p:sldId id="506" r:id="rId14"/>
    <p:sldId id="505" r:id="rId15"/>
    <p:sldId id="507" r:id="rId16"/>
    <p:sldId id="513" r:id="rId17"/>
    <p:sldId id="514" r:id="rId18"/>
    <p:sldId id="515" r:id="rId19"/>
    <p:sldId id="516" r:id="rId20"/>
    <p:sldId id="518" r:id="rId21"/>
    <p:sldId id="519" r:id="rId22"/>
    <p:sldId id="478" r:id="rId23"/>
    <p:sldId id="479" r:id="rId24"/>
    <p:sldId id="480" r:id="rId25"/>
    <p:sldId id="481" r:id="rId26"/>
    <p:sldId id="482" r:id="rId27"/>
    <p:sldId id="483" r:id="rId28"/>
    <p:sldId id="525" r:id="rId29"/>
  </p:sldIdLst>
  <p:sldSz cx="9144000" cy="6858000" type="screen4x3"/>
  <p:notesSz cx="6858000" cy="9144000"/>
  <p:defaultTextStyle>
    <a:defPPr>
      <a:defRPr lang="en-GB"/>
    </a:defPPr>
    <a:lvl1pPr algn="ctr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cording Comprehension and Review" id="{D7949D57-D050-4013-92AD-2C4EC68751D2}">
          <p14:sldIdLst>
            <p14:sldId id="467"/>
            <p14:sldId id="468"/>
            <p14:sldId id="469"/>
            <p14:sldId id="504"/>
            <p14:sldId id="524"/>
            <p14:sldId id="470"/>
            <p14:sldId id="471"/>
            <p14:sldId id="472"/>
            <p14:sldId id="473"/>
            <p14:sldId id="474"/>
            <p14:sldId id="497"/>
            <p14:sldId id="475"/>
            <p14:sldId id="506"/>
            <p14:sldId id="505"/>
            <p14:sldId id="507"/>
            <p14:sldId id="513"/>
            <p14:sldId id="514"/>
            <p14:sldId id="515"/>
            <p14:sldId id="516"/>
            <p14:sldId id="518"/>
            <p14:sldId id="519"/>
            <p14:sldId id="478"/>
            <p14:sldId id="479"/>
            <p14:sldId id="480"/>
            <p14:sldId id="481"/>
            <p14:sldId id="482"/>
            <p14:sldId id="483"/>
            <p14:sldId id="525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F85"/>
    <a:srgbClr val="0099FF"/>
    <a:srgbClr val="CCECFF"/>
    <a:srgbClr val="FFFFCC"/>
    <a:srgbClr val="FFFF99"/>
    <a:srgbClr val="0033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22" autoAdjust="0"/>
    <p:restoredTop sz="94624" autoAdjust="0"/>
  </p:normalViewPr>
  <p:slideViewPr>
    <p:cSldViewPr>
      <p:cViewPr>
        <p:scale>
          <a:sx n="118" d="100"/>
          <a:sy n="118" d="100"/>
        </p:scale>
        <p:origin x="-1524" y="-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4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84C93A-9B89-402E-90DA-C7780B9032D0}" type="doc">
      <dgm:prSet loTypeId="urn:microsoft.com/office/officeart/2005/8/layout/cycle5" loCatId="cycle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E"/>
        </a:p>
      </dgm:t>
    </dgm:pt>
    <dgm:pt modelId="{4B17684A-06AF-48CA-9AC5-8F4D2E819239}">
      <dgm:prSet phldrT="[Text]"/>
      <dgm:spPr/>
      <dgm:t>
        <a:bodyPr/>
        <a:lstStyle/>
        <a:p>
          <a:r>
            <a:rPr lang="en-IE" dirty="0"/>
            <a:t>Literature Comprehension</a:t>
          </a:r>
        </a:p>
      </dgm:t>
    </dgm:pt>
    <dgm:pt modelId="{AEF74792-D4E0-4298-922F-0E08425A560C}" type="parTrans" cxnId="{81105FA2-F8FA-4C26-9EA2-E24BEBFE0F1E}">
      <dgm:prSet/>
      <dgm:spPr/>
      <dgm:t>
        <a:bodyPr/>
        <a:lstStyle/>
        <a:p>
          <a:endParaRPr lang="en-IE"/>
        </a:p>
      </dgm:t>
    </dgm:pt>
    <dgm:pt modelId="{B292B5E5-58F5-4393-98C3-72DD8EB80354}" type="sibTrans" cxnId="{81105FA2-F8FA-4C26-9EA2-E24BEBFE0F1E}">
      <dgm:prSet/>
      <dgm:spPr/>
      <dgm:t>
        <a:bodyPr/>
        <a:lstStyle/>
        <a:p>
          <a:endParaRPr lang="en-IE"/>
        </a:p>
      </dgm:t>
    </dgm:pt>
    <dgm:pt modelId="{48B1F27D-5622-407C-9029-8F91A04BB285}">
      <dgm:prSet phldrT="[Text]"/>
      <dgm:spPr/>
      <dgm:t>
        <a:bodyPr/>
        <a:lstStyle/>
        <a:p>
          <a:r>
            <a:rPr lang="en-IE" dirty="0"/>
            <a:t>Literature Review</a:t>
          </a:r>
        </a:p>
      </dgm:t>
    </dgm:pt>
    <dgm:pt modelId="{8648E622-77CC-4CAB-BF47-B3487A070E9D}" type="parTrans" cxnId="{ABF96842-6128-4512-B244-0A8C4B280976}">
      <dgm:prSet/>
      <dgm:spPr/>
      <dgm:t>
        <a:bodyPr/>
        <a:lstStyle/>
        <a:p>
          <a:endParaRPr lang="en-IE"/>
        </a:p>
      </dgm:t>
    </dgm:pt>
    <dgm:pt modelId="{90689682-96D5-4472-BE2B-A1CDC7F63519}" type="sibTrans" cxnId="{ABF96842-6128-4512-B244-0A8C4B280976}">
      <dgm:prSet/>
      <dgm:spPr/>
      <dgm:t>
        <a:bodyPr/>
        <a:lstStyle/>
        <a:p>
          <a:endParaRPr lang="en-IE"/>
        </a:p>
      </dgm:t>
    </dgm:pt>
    <dgm:pt modelId="{1020F756-38D4-4418-8FC2-3ACDB646D6F9}">
      <dgm:prSet phldrT="[Text]"/>
      <dgm:spPr/>
      <dgm:t>
        <a:bodyPr/>
        <a:lstStyle/>
        <a:p>
          <a:r>
            <a:rPr lang="en-IE" dirty="0"/>
            <a:t>Literature Search</a:t>
          </a:r>
        </a:p>
      </dgm:t>
    </dgm:pt>
    <dgm:pt modelId="{C949D7CE-0164-459F-A7F5-E59E3C65CF93}" type="parTrans" cxnId="{9838F85B-68BF-4D3E-BD66-590144A366A6}">
      <dgm:prSet/>
      <dgm:spPr/>
      <dgm:t>
        <a:bodyPr/>
        <a:lstStyle/>
        <a:p>
          <a:endParaRPr lang="en-IE"/>
        </a:p>
      </dgm:t>
    </dgm:pt>
    <dgm:pt modelId="{61326EAE-E9A1-4924-AB5D-5AF0DDBAA0AF}" type="sibTrans" cxnId="{9838F85B-68BF-4D3E-BD66-590144A366A6}">
      <dgm:prSet/>
      <dgm:spPr/>
      <dgm:t>
        <a:bodyPr/>
        <a:lstStyle/>
        <a:p>
          <a:endParaRPr lang="en-IE"/>
        </a:p>
      </dgm:t>
    </dgm:pt>
    <dgm:pt modelId="{037C00A9-5D69-48F3-92AB-D9DDB3B8DDB2}" type="pres">
      <dgm:prSet presAssocID="{C984C93A-9B89-402E-90DA-C7780B9032D0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E"/>
        </a:p>
      </dgm:t>
    </dgm:pt>
    <dgm:pt modelId="{29510852-2E61-4B51-95F3-23CEFD657748}" type="pres">
      <dgm:prSet presAssocID="{4B17684A-06AF-48CA-9AC5-8F4D2E819239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E"/>
        </a:p>
      </dgm:t>
    </dgm:pt>
    <dgm:pt modelId="{591162ED-79B4-4723-B235-1E2EACE7A1A0}" type="pres">
      <dgm:prSet presAssocID="{4B17684A-06AF-48CA-9AC5-8F4D2E819239}" presName="spNode" presStyleCnt="0"/>
      <dgm:spPr/>
    </dgm:pt>
    <dgm:pt modelId="{DF8F02F8-FA7A-49EF-8D90-81FD21DBA406}" type="pres">
      <dgm:prSet presAssocID="{B292B5E5-58F5-4393-98C3-72DD8EB80354}" presName="sibTrans" presStyleLbl="sibTrans1D1" presStyleIdx="0" presStyleCnt="3"/>
      <dgm:spPr/>
      <dgm:t>
        <a:bodyPr/>
        <a:lstStyle/>
        <a:p>
          <a:endParaRPr lang="en-IE"/>
        </a:p>
      </dgm:t>
    </dgm:pt>
    <dgm:pt modelId="{2ABDA085-53E3-4838-A122-F9B7060F5B20}" type="pres">
      <dgm:prSet presAssocID="{48B1F27D-5622-407C-9029-8F91A04BB285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E"/>
        </a:p>
      </dgm:t>
    </dgm:pt>
    <dgm:pt modelId="{D77B55FC-9521-431A-A479-0AE4E7481360}" type="pres">
      <dgm:prSet presAssocID="{48B1F27D-5622-407C-9029-8F91A04BB285}" presName="spNode" presStyleCnt="0"/>
      <dgm:spPr/>
    </dgm:pt>
    <dgm:pt modelId="{9E656BE4-CCF2-48C0-A78D-1CFDCF1CA02F}" type="pres">
      <dgm:prSet presAssocID="{90689682-96D5-4472-BE2B-A1CDC7F63519}" presName="sibTrans" presStyleLbl="sibTrans1D1" presStyleIdx="1" presStyleCnt="3"/>
      <dgm:spPr/>
      <dgm:t>
        <a:bodyPr/>
        <a:lstStyle/>
        <a:p>
          <a:endParaRPr lang="en-IE"/>
        </a:p>
      </dgm:t>
    </dgm:pt>
    <dgm:pt modelId="{24978311-25BF-4509-9033-3C654E8C5398}" type="pres">
      <dgm:prSet presAssocID="{1020F756-38D4-4418-8FC2-3ACDB646D6F9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E"/>
        </a:p>
      </dgm:t>
    </dgm:pt>
    <dgm:pt modelId="{3B8E1507-3946-46D4-8367-A840006F6AC7}" type="pres">
      <dgm:prSet presAssocID="{1020F756-38D4-4418-8FC2-3ACDB646D6F9}" presName="spNode" presStyleCnt="0"/>
      <dgm:spPr/>
    </dgm:pt>
    <dgm:pt modelId="{6F24248B-B8F6-4ACB-A055-F4C083A82236}" type="pres">
      <dgm:prSet presAssocID="{61326EAE-E9A1-4924-AB5D-5AF0DDBAA0AF}" presName="sibTrans" presStyleLbl="sibTrans1D1" presStyleIdx="2" presStyleCnt="3"/>
      <dgm:spPr/>
      <dgm:t>
        <a:bodyPr/>
        <a:lstStyle/>
        <a:p>
          <a:endParaRPr lang="en-IE"/>
        </a:p>
      </dgm:t>
    </dgm:pt>
  </dgm:ptLst>
  <dgm:cxnLst>
    <dgm:cxn modelId="{C6B1E4D8-2A00-4895-9451-1C3A05167ECA}" type="presOf" srcId="{61326EAE-E9A1-4924-AB5D-5AF0DDBAA0AF}" destId="{6F24248B-B8F6-4ACB-A055-F4C083A82236}" srcOrd="0" destOrd="0" presId="urn:microsoft.com/office/officeart/2005/8/layout/cycle5"/>
    <dgm:cxn modelId="{ABF96842-6128-4512-B244-0A8C4B280976}" srcId="{C984C93A-9B89-402E-90DA-C7780B9032D0}" destId="{48B1F27D-5622-407C-9029-8F91A04BB285}" srcOrd="1" destOrd="0" parTransId="{8648E622-77CC-4CAB-BF47-B3487A070E9D}" sibTransId="{90689682-96D5-4472-BE2B-A1CDC7F63519}"/>
    <dgm:cxn modelId="{811FBEDB-E734-4C1B-AD43-54D169DECDE2}" type="presOf" srcId="{1020F756-38D4-4418-8FC2-3ACDB646D6F9}" destId="{24978311-25BF-4509-9033-3C654E8C5398}" srcOrd="0" destOrd="0" presId="urn:microsoft.com/office/officeart/2005/8/layout/cycle5"/>
    <dgm:cxn modelId="{F930D09F-1724-4AE3-B688-F04AF5CDBA4A}" type="presOf" srcId="{B292B5E5-58F5-4393-98C3-72DD8EB80354}" destId="{DF8F02F8-FA7A-49EF-8D90-81FD21DBA406}" srcOrd="0" destOrd="0" presId="urn:microsoft.com/office/officeart/2005/8/layout/cycle5"/>
    <dgm:cxn modelId="{A0CBDA34-5E95-491B-A7FA-6067170BCE85}" type="presOf" srcId="{48B1F27D-5622-407C-9029-8F91A04BB285}" destId="{2ABDA085-53E3-4838-A122-F9B7060F5B20}" srcOrd="0" destOrd="0" presId="urn:microsoft.com/office/officeart/2005/8/layout/cycle5"/>
    <dgm:cxn modelId="{AF76E69A-7ECD-4E60-BE55-5008A9916123}" type="presOf" srcId="{4B17684A-06AF-48CA-9AC5-8F4D2E819239}" destId="{29510852-2E61-4B51-95F3-23CEFD657748}" srcOrd="0" destOrd="0" presId="urn:microsoft.com/office/officeart/2005/8/layout/cycle5"/>
    <dgm:cxn modelId="{45961D1F-92F6-4BF3-B355-D6F97B3C24CF}" type="presOf" srcId="{90689682-96D5-4472-BE2B-A1CDC7F63519}" destId="{9E656BE4-CCF2-48C0-A78D-1CFDCF1CA02F}" srcOrd="0" destOrd="0" presId="urn:microsoft.com/office/officeart/2005/8/layout/cycle5"/>
    <dgm:cxn modelId="{9838F85B-68BF-4D3E-BD66-590144A366A6}" srcId="{C984C93A-9B89-402E-90DA-C7780B9032D0}" destId="{1020F756-38D4-4418-8FC2-3ACDB646D6F9}" srcOrd="2" destOrd="0" parTransId="{C949D7CE-0164-459F-A7F5-E59E3C65CF93}" sibTransId="{61326EAE-E9A1-4924-AB5D-5AF0DDBAA0AF}"/>
    <dgm:cxn modelId="{92F4D1CB-F3C1-4A43-9E5A-B4473D399BCD}" type="presOf" srcId="{C984C93A-9B89-402E-90DA-C7780B9032D0}" destId="{037C00A9-5D69-48F3-92AB-D9DDB3B8DDB2}" srcOrd="0" destOrd="0" presId="urn:microsoft.com/office/officeart/2005/8/layout/cycle5"/>
    <dgm:cxn modelId="{81105FA2-F8FA-4C26-9EA2-E24BEBFE0F1E}" srcId="{C984C93A-9B89-402E-90DA-C7780B9032D0}" destId="{4B17684A-06AF-48CA-9AC5-8F4D2E819239}" srcOrd="0" destOrd="0" parTransId="{AEF74792-D4E0-4298-922F-0E08425A560C}" sibTransId="{B292B5E5-58F5-4393-98C3-72DD8EB80354}"/>
    <dgm:cxn modelId="{75C9BD84-803E-4C9F-85AD-8CAC5D942907}" type="presParOf" srcId="{037C00A9-5D69-48F3-92AB-D9DDB3B8DDB2}" destId="{29510852-2E61-4B51-95F3-23CEFD657748}" srcOrd="0" destOrd="0" presId="urn:microsoft.com/office/officeart/2005/8/layout/cycle5"/>
    <dgm:cxn modelId="{787CC227-F1BE-4ECA-B8FD-124EB81157C4}" type="presParOf" srcId="{037C00A9-5D69-48F3-92AB-D9DDB3B8DDB2}" destId="{591162ED-79B4-4723-B235-1E2EACE7A1A0}" srcOrd="1" destOrd="0" presId="urn:microsoft.com/office/officeart/2005/8/layout/cycle5"/>
    <dgm:cxn modelId="{EC0679FB-2A77-4B2F-A7B0-5ED1A86CE1DC}" type="presParOf" srcId="{037C00A9-5D69-48F3-92AB-D9DDB3B8DDB2}" destId="{DF8F02F8-FA7A-49EF-8D90-81FD21DBA406}" srcOrd="2" destOrd="0" presId="urn:microsoft.com/office/officeart/2005/8/layout/cycle5"/>
    <dgm:cxn modelId="{EEB49864-8A1F-4996-83B9-59D97EE92539}" type="presParOf" srcId="{037C00A9-5D69-48F3-92AB-D9DDB3B8DDB2}" destId="{2ABDA085-53E3-4838-A122-F9B7060F5B20}" srcOrd="3" destOrd="0" presId="urn:microsoft.com/office/officeart/2005/8/layout/cycle5"/>
    <dgm:cxn modelId="{B2C16271-1279-45A5-9EC3-1FB26AC47B1A}" type="presParOf" srcId="{037C00A9-5D69-48F3-92AB-D9DDB3B8DDB2}" destId="{D77B55FC-9521-431A-A479-0AE4E7481360}" srcOrd="4" destOrd="0" presId="urn:microsoft.com/office/officeart/2005/8/layout/cycle5"/>
    <dgm:cxn modelId="{821AC794-86E4-4B14-91D0-6623AD22105C}" type="presParOf" srcId="{037C00A9-5D69-48F3-92AB-D9DDB3B8DDB2}" destId="{9E656BE4-CCF2-48C0-A78D-1CFDCF1CA02F}" srcOrd="5" destOrd="0" presId="urn:microsoft.com/office/officeart/2005/8/layout/cycle5"/>
    <dgm:cxn modelId="{F845D67C-E58B-4672-B577-40A42335E722}" type="presParOf" srcId="{037C00A9-5D69-48F3-92AB-D9DDB3B8DDB2}" destId="{24978311-25BF-4509-9033-3C654E8C5398}" srcOrd="6" destOrd="0" presId="urn:microsoft.com/office/officeart/2005/8/layout/cycle5"/>
    <dgm:cxn modelId="{C7919943-8B71-437E-990F-CDCDCF96609C}" type="presParOf" srcId="{037C00A9-5D69-48F3-92AB-D9DDB3B8DDB2}" destId="{3B8E1507-3946-46D4-8367-A840006F6AC7}" srcOrd="7" destOrd="0" presId="urn:microsoft.com/office/officeart/2005/8/layout/cycle5"/>
    <dgm:cxn modelId="{551C8399-C49F-43F9-B906-7AB6EE5EED14}" type="presParOf" srcId="{037C00A9-5D69-48F3-92AB-D9DDB3B8DDB2}" destId="{6F24248B-B8F6-4ACB-A055-F4C083A82236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1C25869A-7728-4793-9605-2C6E9E771B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4655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CF6C93F1-03F5-4E05-B847-3D3AE41227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899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5700AE-9807-496A-9E67-E5E8E4277AA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9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B15EE0-8B01-44D4-B727-C5E47DD30F6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45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2449AE-B2DD-4D40-9282-6AD9B3D3645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4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220A00-441E-4AEC-B534-09C1826F6C4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04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38B4D8-92E0-41D7-A2E5-A6509EB68C61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68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DAE517-EA88-4EA2-9DAB-A581343BAC07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15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FE75AB-21F5-49AC-8177-4028FFBA866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2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7A3DFA-6A95-4BD8-9A9D-47818953F48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69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8D8F3A-EFB9-4D1D-AD3B-6374DA136C8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442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A96E4C-F556-481C-866D-A94A683936D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32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7210AB-B1AD-4ECF-89A6-32EB83406EA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65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229D30-2B55-423F-AD47-E8329B9B18BD}" type="datetime1">
              <a:rPr lang="en-GB" smtClean="0"/>
              <a:pPr>
                <a:defRPr/>
              </a:pPr>
              <a:t>16/11/2020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pPr>
              <a:defRPr/>
            </a:pPr>
            <a:fld id="{48076E33-36BC-4206-B585-4AA258B7E18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F2B78E-00E6-4D7E-AEA6-670F3AB1E72B}" type="datetime1">
              <a:rPr lang="en-GB" smtClean="0"/>
              <a:pPr>
                <a:defRPr/>
              </a:pPr>
              <a:t>16/11/2020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CAA0A0-D4F8-471E-89B0-E1F60F16D8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>
              <a:defRPr/>
            </a:pPr>
            <a:fld id="{978643A6-1587-4153-A0CF-C3828F1CAE17}" type="datetime1">
              <a:rPr lang="en-GB" smtClean="0"/>
              <a:pPr>
                <a:defRPr/>
              </a:pPr>
              <a:t>16/11/2020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pPr>
              <a:defRPr/>
            </a:pPr>
            <a:fld id="{A5BB3667-CA58-4D16-8027-4C172F00283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8296A6-BB42-47BC-BAA5-080872BD777E}" type="datetime1">
              <a:rPr lang="en-GB" smtClean="0"/>
              <a:pPr>
                <a:defRPr/>
              </a:pPr>
              <a:t>16/11/2020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4B640D-7CFA-4B14-8FFD-0714D5D600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A25078-1419-44DB-AF21-0CC1FAFFA9BC}" type="datetime1">
              <a:rPr lang="en-GB" smtClean="0"/>
              <a:pPr>
                <a:defRPr/>
              </a:pPr>
              <a:t>16/11/2020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F92D1D-051D-4184-8005-30FDD958B9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B457DBA-A831-40EA-91C9-74216DE27FAB}" type="datetime1">
              <a:rPr lang="en-GB" smtClean="0"/>
              <a:pPr>
                <a:defRPr/>
              </a:pPr>
              <a:t>16/11/2020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C1140-190D-4499-8B94-2DD64DD9CE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D37777-8C54-48FC-B746-A79F27375A6C}" type="datetime1">
              <a:rPr lang="en-GB" smtClean="0"/>
              <a:pPr>
                <a:defRPr/>
              </a:pPr>
              <a:t>16/11/2020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CEF355-917E-4633-B46E-A0F076163DE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F402E2-2750-4D0B-B19E-CF249B3E0350}" type="datetime1">
              <a:rPr lang="en-GB" smtClean="0"/>
              <a:pPr>
                <a:defRPr/>
              </a:pPr>
              <a:t>16/11/2020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F9A678-8982-4A75-BBE2-D238F060C4A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222C98-9DBB-41D0-A291-164E2D715A4E}" type="datetime1">
              <a:rPr lang="en-GB" smtClean="0"/>
              <a:pPr>
                <a:defRPr/>
              </a:pPr>
              <a:t>16/11/2020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D8D70C-C178-40F9-82D1-04D9AB71EC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BAAFEE-3F2B-4393-AB3C-FB93FD722A45}" type="datetime1">
              <a:rPr lang="en-GB" smtClean="0"/>
              <a:pPr>
                <a:defRPr/>
              </a:pPr>
              <a:t>16/11/2020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09B74-0E48-4EB7-95B6-EC52E0C860D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794CD7-43AD-44BA-85E1-20ADD1CC4DA9}" type="datetime1">
              <a:rPr lang="en-GB" smtClean="0"/>
              <a:pPr>
                <a:defRPr/>
              </a:pPr>
              <a:t>16/11/2020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BF2099-EC94-4491-B4A5-C63E74FAC28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863" y="96838"/>
            <a:ext cx="7158037" cy="14128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56163" y="1981200"/>
            <a:ext cx="3754437" cy="4114800"/>
          </a:xfrm>
        </p:spPr>
        <p:txBody>
          <a:bodyPr>
            <a:normAutofit/>
          </a:bodyPr>
          <a:lstStyle/>
          <a:p>
            <a:pPr lvl="0"/>
            <a:endParaRPr lang="en-IE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4615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24B8E5-A790-462B-AD80-E184F43DD9E7}" type="datetime1">
              <a:rPr lang="en-GB"/>
              <a:pPr>
                <a:defRPr/>
              </a:pPr>
              <a:t>16/11/2020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30EBF-B30E-4925-955E-4D0973D58E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7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F48736D-98E3-4A66-A824-35D60A145163}" type="datetime1">
              <a:rPr lang="en-GB" smtClean="0"/>
              <a:pPr>
                <a:defRPr/>
              </a:pPr>
              <a:t>16/11/2020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6E5C72A-F46A-4D15-92AB-C9D2BD1D618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645024"/>
            <a:ext cx="6858000" cy="99060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Literature Survey, </a:t>
            </a:r>
            <a:br>
              <a:rPr lang="en-US" sz="2400" dirty="0"/>
            </a:br>
            <a:r>
              <a:rPr lang="en-US" sz="2400" dirty="0"/>
              <a:t>Literature Comprehension &amp; </a:t>
            </a:r>
            <a:br>
              <a:rPr lang="en-US" sz="2400" dirty="0"/>
            </a:br>
            <a:r>
              <a:rPr lang="en-US" sz="2400" b="1" dirty="0"/>
              <a:t>Literature Review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683942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Literature Review Process</a:t>
            </a:r>
          </a:p>
        </p:txBody>
      </p:sp>
      <p:graphicFrame>
        <p:nvGraphicFramePr>
          <p:cNvPr id="25" name="Diagram 24"/>
          <p:cNvGraphicFramePr/>
          <p:nvPr/>
        </p:nvGraphicFramePr>
        <p:xfrm>
          <a:off x="1403648" y="1412776"/>
          <a:ext cx="6840760" cy="439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9" name="Group 38"/>
          <p:cNvGrpSpPr/>
          <p:nvPr/>
        </p:nvGrpSpPr>
        <p:grpSpPr>
          <a:xfrm>
            <a:off x="1475656" y="2276872"/>
            <a:ext cx="1944216" cy="1675929"/>
            <a:chOff x="1403648" y="2420888"/>
            <a:chExt cx="1656184" cy="1675929"/>
          </a:xfrm>
        </p:grpSpPr>
        <p:sp>
          <p:nvSpPr>
            <p:cNvPr id="27" name="TextBox 26"/>
            <p:cNvSpPr txBox="1"/>
            <p:nvPr/>
          </p:nvSpPr>
          <p:spPr>
            <a:xfrm>
              <a:off x="1403648" y="3789040"/>
              <a:ext cx="12241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E" sz="1400" dirty="0"/>
                <a:t>Identifying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763688" y="2852936"/>
              <a:ext cx="10081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E" sz="1400" dirty="0"/>
                <a:t>Exploring 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475656" y="3284984"/>
              <a:ext cx="13681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E" sz="1400" dirty="0"/>
                <a:t>Contextualising 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979712" y="2420888"/>
              <a:ext cx="10801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E" sz="1400" dirty="0"/>
                <a:t>Formulating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203848" y="5733256"/>
            <a:ext cx="3744416" cy="667817"/>
            <a:chOff x="3203848" y="5733256"/>
            <a:chExt cx="3744416" cy="667817"/>
          </a:xfrm>
        </p:grpSpPr>
        <p:sp>
          <p:nvSpPr>
            <p:cNvPr id="31" name="TextBox 30"/>
            <p:cNvSpPr txBox="1"/>
            <p:nvPr/>
          </p:nvSpPr>
          <p:spPr>
            <a:xfrm>
              <a:off x="3203848" y="5733256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1400" dirty="0"/>
                <a:t>Justifying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508104" y="5733256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1400" dirty="0"/>
                <a:t>Noting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76056" y="6093296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1400" dirty="0"/>
                <a:t>Summarising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491880" y="6093296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1400" dirty="0"/>
                <a:t>Commenting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156176" y="2420888"/>
            <a:ext cx="2016224" cy="1531913"/>
            <a:chOff x="6372200" y="2492896"/>
            <a:chExt cx="2016224" cy="1531913"/>
          </a:xfrm>
        </p:grpSpPr>
        <p:sp>
          <p:nvSpPr>
            <p:cNvPr id="35" name="TextBox 34"/>
            <p:cNvSpPr txBox="1"/>
            <p:nvPr/>
          </p:nvSpPr>
          <p:spPr>
            <a:xfrm>
              <a:off x="6372200" y="2492896"/>
              <a:ext cx="1080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E" sz="1400" dirty="0"/>
                <a:t>Structuring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804248" y="2852936"/>
              <a:ext cx="1080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E" sz="1400" dirty="0"/>
                <a:t>Drafting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092280" y="3284984"/>
              <a:ext cx="1080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E" sz="1400" dirty="0"/>
                <a:t>Developing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308304" y="3717032"/>
              <a:ext cx="1080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E" sz="1400" dirty="0"/>
                <a:t>Clarifying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3896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Non-critical Reading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IE" dirty="0"/>
              <a:t>Reading for comprehension</a:t>
            </a:r>
          </a:p>
          <a:p>
            <a:r>
              <a:rPr lang="en-IE" dirty="0"/>
              <a:t>Concerned with recognizing what a text says about the topic</a:t>
            </a:r>
          </a:p>
          <a:p>
            <a:r>
              <a:rPr lang="en-IE" dirty="0"/>
              <a:t>Goal is to make sense of the presentation as a sequence of thoughts</a:t>
            </a:r>
          </a:p>
          <a:p>
            <a:pPr lvl="1"/>
            <a:r>
              <a:rPr lang="en-IE" dirty="0"/>
              <a:t>To understand the information, ideas and opinions stated within the text from sentence to sentence, paragraph to paragraph</a:t>
            </a:r>
          </a:p>
          <a:p>
            <a:pPr lvl="1"/>
            <a:r>
              <a:rPr lang="en-IE" dirty="0"/>
              <a:t>This is a linear activity</a:t>
            </a:r>
          </a:p>
          <a:p>
            <a:r>
              <a:rPr lang="en-IE" dirty="0"/>
              <a:t>Focus on understanding what the author intended to say</a:t>
            </a:r>
          </a:p>
        </p:txBody>
      </p:sp>
    </p:spTree>
    <p:extLst>
      <p:ext uri="{BB962C8B-B14F-4D97-AF65-F5344CB8AC3E}">
        <p14:creationId xmlns:p14="http://schemas.microsoft.com/office/powerpoint/2010/main" val="263939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Critical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E" sz="4500" dirty="0"/>
              <a:t>Analytic activity</a:t>
            </a:r>
          </a:p>
          <a:p>
            <a:r>
              <a:rPr lang="en-IE" sz="4500" dirty="0"/>
              <a:t>Reader re-reads a text </a:t>
            </a:r>
          </a:p>
          <a:p>
            <a:pPr lvl="1"/>
            <a:r>
              <a:rPr lang="en-IE" sz="4500" dirty="0"/>
              <a:t>to identify patterns of elements - information, values, assumptions, and language usage - throughout the discussion. </a:t>
            </a:r>
          </a:p>
          <a:p>
            <a:pPr lvl="1"/>
            <a:r>
              <a:rPr lang="en-IE" sz="4500" dirty="0"/>
              <a:t>which are tied together in an interpretation, an assertion of an underlying meaning of the text as a whole.</a:t>
            </a:r>
          </a:p>
          <a:p>
            <a:r>
              <a:rPr lang="en-IE" sz="4500" dirty="0"/>
              <a:t>Aim to understand the text with cognisance of	</a:t>
            </a:r>
          </a:p>
          <a:p>
            <a:pPr lvl="1"/>
            <a:r>
              <a:rPr lang="en-IE" sz="4500" dirty="0"/>
              <a:t>perspective</a:t>
            </a:r>
          </a:p>
          <a:p>
            <a:pPr lvl="1"/>
            <a:r>
              <a:rPr lang="en-IE" sz="4500" dirty="0"/>
              <a:t>level of bias</a:t>
            </a:r>
          </a:p>
          <a:p>
            <a:pPr lvl="1"/>
            <a:r>
              <a:rPr lang="en-IE" sz="4500" dirty="0"/>
              <a:t>motivation</a:t>
            </a:r>
          </a:p>
          <a:p>
            <a:pPr lvl="1"/>
            <a:r>
              <a:rPr lang="en-IE" sz="4500" dirty="0"/>
              <a:t>audience</a:t>
            </a:r>
          </a:p>
          <a:p>
            <a:r>
              <a:rPr lang="en-IE" sz="4500" dirty="0"/>
              <a:t>Critical thinking involves bringing outside knowledge, biases and values to bear, to evaluate the presentation and decide what ultimately to accept as true.</a:t>
            </a:r>
          </a:p>
          <a:p>
            <a:r>
              <a:rPr lang="en-IE" sz="4500" dirty="0"/>
              <a:t>Focus on interpreting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383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Consider the following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75% OF CHILDREN WOULD PREFER NOT TO GO TO SCHOOL</a:t>
            </a:r>
          </a:p>
          <a:p>
            <a:pPr lvl="1"/>
            <a:r>
              <a:rPr lang="en-IE" dirty="0"/>
              <a:t>A survey by a teaching organization of primary school age children in Ireland showed that two out of three dislike school and would rather not attend. A spokesman for the organization said that this showed that teachers now face an impossible task…</a:t>
            </a:r>
          </a:p>
          <a:p>
            <a:r>
              <a:rPr lang="en-IE" dirty="0"/>
              <a:t>What questions would you ask?</a:t>
            </a:r>
          </a:p>
          <a:p>
            <a:r>
              <a:rPr lang="en-IE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963630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Reading Critically – Initial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Recognise a text as a presentation of a subject by the Author(s) to a selected audience</a:t>
            </a:r>
          </a:p>
          <a:p>
            <a:r>
              <a:rPr lang="en-IE" dirty="0"/>
              <a:t>Structured and presented in a particular way</a:t>
            </a:r>
          </a:p>
          <a:p>
            <a:pPr lvl="1"/>
            <a:r>
              <a:rPr lang="en-IE" dirty="0"/>
              <a:t>contains a beginning, middle and end</a:t>
            </a:r>
          </a:p>
          <a:p>
            <a:pPr lvl="1"/>
            <a:r>
              <a:rPr lang="en-IE" dirty="0"/>
              <a:t>uses illustrations to explain, clarify or expand on remarks</a:t>
            </a:r>
          </a:p>
          <a:p>
            <a:pPr lvl="1"/>
            <a:r>
              <a:rPr lang="en-IE" dirty="0"/>
              <a:t>uses evidence to support remarks e.g. cites other sources, presents results</a:t>
            </a:r>
          </a:p>
          <a:p>
            <a:pPr lvl="1"/>
            <a:r>
              <a:rPr lang="en-IE" dirty="0"/>
              <a:t>uses particular language to portray topics</a:t>
            </a:r>
          </a:p>
          <a:p>
            <a:pPr lvl="1"/>
            <a:r>
              <a:rPr lang="en-IE" dirty="0"/>
              <a:t>organises remarks in a logical sequence</a:t>
            </a:r>
          </a:p>
          <a:p>
            <a:r>
              <a:rPr lang="en-IE" dirty="0"/>
              <a:t>So that the intended audience will read it</a:t>
            </a:r>
          </a:p>
        </p:txBody>
      </p:sp>
    </p:spTree>
    <p:extLst>
      <p:ext uri="{BB962C8B-B14F-4D97-AF65-F5344CB8AC3E}">
        <p14:creationId xmlns:p14="http://schemas.microsoft.com/office/powerpoint/2010/main" val="339495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Reading Critically – Examine each of the following to Describe the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219200"/>
            <a:ext cx="4608512" cy="4937760"/>
          </a:xfrm>
        </p:spPr>
        <p:txBody>
          <a:bodyPr>
            <a:normAutofit fontScale="92500" lnSpcReduction="10000"/>
          </a:bodyPr>
          <a:lstStyle/>
          <a:p>
            <a:r>
              <a:rPr lang="en-IE" sz="2000" dirty="0"/>
              <a:t>Audience</a:t>
            </a:r>
          </a:p>
          <a:p>
            <a:pPr lvl="1"/>
            <a:r>
              <a:rPr lang="en-IE" sz="1800" dirty="0"/>
              <a:t>Who is the publication intended for</a:t>
            </a:r>
          </a:p>
          <a:p>
            <a:pPr lvl="1"/>
            <a:r>
              <a:rPr lang="en-IE" sz="1800" dirty="0"/>
              <a:t>Does this influence the style, structure, tone of writing</a:t>
            </a:r>
          </a:p>
          <a:p>
            <a:r>
              <a:rPr lang="en-IE" sz="2000" dirty="0"/>
              <a:t>Structure</a:t>
            </a:r>
          </a:p>
          <a:p>
            <a:pPr lvl="1"/>
            <a:r>
              <a:rPr lang="en-IE" sz="1800" dirty="0"/>
              <a:t>What is included in the beginning, middle and end</a:t>
            </a:r>
          </a:p>
          <a:p>
            <a:pPr lvl="1"/>
            <a:r>
              <a:rPr lang="en-IE" sz="1800" dirty="0"/>
              <a:t>Why</a:t>
            </a:r>
          </a:p>
          <a:p>
            <a:r>
              <a:rPr lang="en-IE" sz="2000" dirty="0"/>
              <a:t>Assumptions</a:t>
            </a:r>
          </a:p>
          <a:p>
            <a:pPr lvl="1"/>
            <a:r>
              <a:rPr lang="en-IE" sz="1800" dirty="0"/>
              <a:t>What is assumed by the author</a:t>
            </a:r>
          </a:p>
          <a:p>
            <a:pPr lvl="2"/>
            <a:r>
              <a:rPr lang="en-IE" sz="1600" dirty="0"/>
              <a:t>Is this reasonable</a:t>
            </a:r>
          </a:p>
          <a:p>
            <a:r>
              <a:rPr lang="en-IE" sz="2000" dirty="0"/>
              <a:t>Examples</a:t>
            </a:r>
          </a:p>
          <a:p>
            <a:pPr lvl="1"/>
            <a:r>
              <a:rPr lang="en-IE" sz="1800" dirty="0"/>
              <a:t>What the examples are examples of</a:t>
            </a:r>
          </a:p>
          <a:p>
            <a:pPr lvl="1"/>
            <a:r>
              <a:rPr lang="en-IE" sz="1800" dirty="0"/>
              <a:t>Where are they from</a:t>
            </a:r>
          </a:p>
          <a:p>
            <a:pPr lvl="1"/>
            <a:r>
              <a:rPr lang="en-IE" sz="1800" dirty="0"/>
              <a:t>How are they illustrated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476306" cy="4937760"/>
          </a:xfrm>
        </p:spPr>
        <p:txBody>
          <a:bodyPr>
            <a:normAutofit fontScale="92500" lnSpcReduction="10000"/>
          </a:bodyPr>
          <a:lstStyle/>
          <a:p>
            <a:r>
              <a:rPr lang="en-IE" sz="2000" dirty="0"/>
              <a:t>Evidence</a:t>
            </a:r>
          </a:p>
          <a:p>
            <a:pPr lvl="1"/>
            <a:r>
              <a:rPr lang="en-IE" sz="1800" dirty="0"/>
              <a:t>What literature sources are used </a:t>
            </a:r>
          </a:p>
          <a:p>
            <a:pPr lvl="1"/>
            <a:r>
              <a:rPr lang="en-IE" sz="1800" dirty="0"/>
              <a:t>How are they used </a:t>
            </a:r>
          </a:p>
          <a:p>
            <a:pPr lvl="2"/>
            <a:r>
              <a:rPr lang="en-IE" sz="1600" dirty="0"/>
              <a:t>To support views, to clarify issues, to highlight debate</a:t>
            </a:r>
          </a:p>
          <a:p>
            <a:pPr lvl="1"/>
            <a:r>
              <a:rPr lang="en-IE" sz="1800" dirty="0"/>
              <a:t>What data is used</a:t>
            </a:r>
          </a:p>
          <a:p>
            <a:pPr lvl="2"/>
            <a:r>
              <a:rPr lang="en-IE" sz="1500" dirty="0"/>
              <a:t>Is this reasonable </a:t>
            </a:r>
          </a:p>
          <a:p>
            <a:pPr lvl="2"/>
            <a:r>
              <a:rPr lang="en-IE" sz="1500" dirty="0"/>
              <a:t>Was it collected correctly</a:t>
            </a:r>
          </a:p>
          <a:p>
            <a:pPr lvl="1"/>
            <a:r>
              <a:rPr lang="en-IE" sz="1800" dirty="0"/>
              <a:t>What types of results are presented</a:t>
            </a:r>
          </a:p>
          <a:p>
            <a:pPr lvl="2"/>
            <a:r>
              <a:rPr lang="en-IE" sz="1600" dirty="0"/>
              <a:t>How</a:t>
            </a:r>
            <a:endParaRPr lang="en-IE" sz="1900" dirty="0"/>
          </a:p>
          <a:p>
            <a:r>
              <a:rPr lang="en-IE" sz="2000" dirty="0"/>
              <a:t>Language and style</a:t>
            </a:r>
          </a:p>
          <a:p>
            <a:pPr lvl="1"/>
            <a:r>
              <a:rPr lang="en-IE" sz="1800" dirty="0"/>
              <a:t>Choice of language or terms</a:t>
            </a:r>
          </a:p>
          <a:p>
            <a:pPr lvl="2"/>
            <a:r>
              <a:rPr lang="en-IE" sz="1600" dirty="0"/>
              <a:t>What types of terms are applied to what topics</a:t>
            </a:r>
          </a:p>
          <a:p>
            <a:pPr lvl="1"/>
            <a:r>
              <a:rPr lang="en-IE" sz="1800" dirty="0"/>
              <a:t>What type of sequence is used to link from section to section</a:t>
            </a:r>
          </a:p>
          <a:p>
            <a:pPr lvl="1"/>
            <a:r>
              <a:rPr lang="en-IE" sz="1800" dirty="0"/>
              <a:t>What is repeated </a:t>
            </a:r>
          </a:p>
          <a:p>
            <a:pPr lvl="1"/>
            <a:endParaRPr lang="en-IE" sz="1800" dirty="0"/>
          </a:p>
          <a:p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2268069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Reading Critically - Description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What is achieved by the text?</a:t>
            </a:r>
          </a:p>
          <a:p>
            <a:pPr lvl="1"/>
            <a:r>
              <a:rPr lang="en-IE" dirty="0"/>
              <a:t>What is achieved by describing topics in a certain way</a:t>
            </a:r>
          </a:p>
          <a:p>
            <a:pPr lvl="1"/>
            <a:r>
              <a:rPr lang="en-IE" dirty="0"/>
              <a:t>What is assumed by selecting certain types of evidence</a:t>
            </a:r>
          </a:p>
          <a:p>
            <a:pPr lvl="1"/>
            <a:r>
              <a:rPr lang="en-IE" dirty="0"/>
              <a:t>Is there a particular perspective</a:t>
            </a:r>
          </a:p>
        </p:txBody>
      </p:sp>
    </p:spTree>
    <p:extLst>
      <p:ext uri="{BB962C8B-B14F-4D97-AF65-F5344CB8AC3E}">
        <p14:creationId xmlns:p14="http://schemas.microsoft.com/office/powerpoint/2010/main" val="3690702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Reading Critically – Assessment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Think critically</a:t>
            </a:r>
          </a:p>
          <a:p>
            <a:r>
              <a:rPr lang="en-IE" dirty="0"/>
              <a:t>How well does the text do what it does?</a:t>
            </a:r>
          </a:p>
          <a:p>
            <a:r>
              <a:rPr lang="en-IE" dirty="0"/>
              <a:t>All texts should</a:t>
            </a:r>
          </a:p>
          <a:p>
            <a:pPr lvl="1"/>
            <a:r>
              <a:rPr lang="en-IE" dirty="0"/>
              <a:t>Address a specific topic</a:t>
            </a:r>
          </a:p>
          <a:p>
            <a:pPr lvl="1"/>
            <a:r>
              <a:rPr lang="en-IE" dirty="0"/>
              <a:t>Clearly define terms</a:t>
            </a:r>
          </a:p>
          <a:p>
            <a:pPr lvl="1"/>
            <a:r>
              <a:rPr lang="en-IE" dirty="0"/>
              <a:t>Present evidence</a:t>
            </a:r>
          </a:p>
          <a:p>
            <a:pPr lvl="1"/>
            <a:r>
              <a:rPr lang="en-IE" dirty="0"/>
              <a:t>Explain exceptions</a:t>
            </a:r>
          </a:p>
          <a:p>
            <a:pPr lvl="1"/>
            <a:r>
              <a:rPr lang="en-IE" dirty="0"/>
              <a:t>Demonstrate clearly cause and effect</a:t>
            </a:r>
          </a:p>
          <a:p>
            <a:pPr lvl="1"/>
            <a:r>
              <a:rPr lang="en-IE" dirty="0"/>
              <a:t>Present conclusions shown to follow logically from earlier arguments and evidence</a:t>
            </a:r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92780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Reading Critically – Assessment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Evaluate the text </a:t>
            </a:r>
          </a:p>
          <a:p>
            <a:pPr lvl="1"/>
            <a:r>
              <a:rPr lang="en-IE" dirty="0"/>
              <a:t>Does it make sense? </a:t>
            </a:r>
          </a:p>
          <a:p>
            <a:pPr lvl="1"/>
            <a:r>
              <a:rPr lang="en-IE" dirty="0"/>
              <a:t>How does it fit into the area?</a:t>
            </a:r>
          </a:p>
          <a:p>
            <a:pPr lvl="1"/>
            <a:r>
              <a:rPr lang="en-IE" dirty="0"/>
              <a:t>Does it agree/disagree with other texts?</a:t>
            </a:r>
          </a:p>
          <a:p>
            <a:pPr lvl="1"/>
            <a:r>
              <a:rPr lang="en-IE" dirty="0"/>
              <a:t>Does it offer new evidence? Or types of evidence?</a:t>
            </a:r>
          </a:p>
          <a:p>
            <a:pPr lvl="1"/>
            <a:r>
              <a:rPr lang="en-IE" dirty="0"/>
              <a:t>Does the evidence support the arguments?</a:t>
            </a:r>
          </a:p>
          <a:p>
            <a:pPr lvl="1"/>
            <a:r>
              <a:rPr lang="en-IE" dirty="0"/>
              <a:t>Are the conclusions logical?</a:t>
            </a:r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55441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 mental process by which we reach a conclusion based on specific evidence</a:t>
            </a:r>
          </a:p>
          <a:p>
            <a:pPr lvl="1"/>
            <a:r>
              <a:rPr lang="en-IE" dirty="0"/>
              <a:t>Essential part of being human, we do it all the time</a:t>
            </a:r>
          </a:p>
          <a:p>
            <a:pPr lvl="2"/>
            <a:r>
              <a:rPr lang="en-IE" dirty="0"/>
              <a:t>If I ask for a glass of water? What do you infer?</a:t>
            </a:r>
          </a:p>
          <a:p>
            <a:pPr lvl="2"/>
            <a:r>
              <a:rPr lang="en-IE" dirty="0"/>
              <a:t>If there is water on the window? What do you infer?</a:t>
            </a:r>
          </a:p>
          <a:p>
            <a:r>
              <a:rPr lang="en-IE" dirty="0"/>
              <a:t>Inferences are based on evidence</a:t>
            </a:r>
          </a:p>
          <a:p>
            <a:r>
              <a:rPr lang="en-IE" dirty="0"/>
              <a:t>Evidence is said to </a:t>
            </a:r>
            <a:r>
              <a:rPr lang="en-IE" i="1" dirty="0"/>
              <a:t>imply</a:t>
            </a:r>
            <a:r>
              <a:rPr lang="en-IE" dirty="0"/>
              <a:t>; readers to </a:t>
            </a:r>
            <a:r>
              <a:rPr lang="en-IE" i="1" dirty="0"/>
              <a:t>infer</a:t>
            </a:r>
            <a:endParaRPr lang="en-IE" dirty="0"/>
          </a:p>
          <a:p>
            <a:pPr lvl="1"/>
            <a:r>
              <a:rPr lang="en-IE" dirty="0"/>
              <a:t>Not everyone will develop the same opinion</a:t>
            </a:r>
          </a:p>
        </p:txBody>
      </p:sp>
    </p:spTree>
    <p:extLst>
      <p:ext uri="{BB962C8B-B14F-4D97-AF65-F5344CB8AC3E}">
        <p14:creationId xmlns:p14="http://schemas.microsoft.com/office/powerpoint/2010/main" val="305959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18112"/>
          </a:xfrm>
        </p:spPr>
        <p:txBody>
          <a:bodyPr/>
          <a:lstStyle/>
          <a:p>
            <a:r>
              <a:rPr lang="en-IE" dirty="0"/>
              <a:t>Readers infer unstated meanings based on social conventions, shared knowledge, shared experience, or shared values. </a:t>
            </a:r>
          </a:p>
          <a:p>
            <a:pPr lvl="1"/>
            <a:r>
              <a:rPr lang="en-IE" dirty="0"/>
              <a:t>make sense of remarks by recognizing implications and drawing conclusions.</a:t>
            </a:r>
          </a:p>
          <a:p>
            <a:r>
              <a:rPr lang="en-IE" dirty="0"/>
              <a:t>Readers read ideas more than words</a:t>
            </a:r>
          </a:p>
          <a:p>
            <a:r>
              <a:rPr lang="en-IE" dirty="0"/>
              <a:t>Readers infer, rather than find, meaning.</a:t>
            </a:r>
          </a:p>
          <a:p>
            <a:pPr lvl="1"/>
            <a:endParaRPr lang="en-IE" sz="1800" dirty="0"/>
          </a:p>
        </p:txBody>
      </p:sp>
    </p:spTree>
    <p:extLst>
      <p:ext uri="{BB962C8B-B14F-4D97-AF65-F5344CB8AC3E}">
        <p14:creationId xmlns:p14="http://schemas.microsoft.com/office/powerpoint/2010/main" val="397560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Consider the following statement:</a:t>
            </a:r>
          </a:p>
          <a:p>
            <a:pPr marL="274638" lvl="1" indent="0">
              <a:buNone/>
            </a:pPr>
            <a:r>
              <a:rPr lang="en-IE" i="1" dirty="0"/>
              <a:t>A man and his son are driving in a car. </a:t>
            </a:r>
          </a:p>
          <a:p>
            <a:pPr marL="274638" lvl="1" indent="0">
              <a:buNone/>
            </a:pPr>
            <a:r>
              <a:rPr lang="en-IE" i="1" dirty="0"/>
              <a:t>The car crashes into a tree, killing the father and seriously injuring his son. </a:t>
            </a:r>
          </a:p>
          <a:p>
            <a:pPr marL="274638" lvl="1" indent="0">
              <a:buNone/>
            </a:pPr>
            <a:r>
              <a:rPr lang="en-IE" i="1" dirty="0"/>
              <a:t>At the hospital, the boy needs to have surgery. </a:t>
            </a:r>
          </a:p>
          <a:p>
            <a:pPr marL="274638" lvl="1" indent="0">
              <a:buNone/>
            </a:pPr>
            <a:r>
              <a:rPr lang="en-IE" i="1" dirty="0"/>
              <a:t>Upon looking at the boy, the doctor says (telling the truth), </a:t>
            </a:r>
          </a:p>
          <a:p>
            <a:pPr marL="274638" lvl="1" indent="0">
              <a:buNone/>
            </a:pPr>
            <a:r>
              <a:rPr lang="en-IE" i="1" dirty="0"/>
              <a:t>"I cannot operate on him. He is my son”</a:t>
            </a:r>
          </a:p>
          <a:p>
            <a:pPr marL="274638" lvl="1" indent="0">
              <a:buNone/>
            </a:pPr>
            <a:endParaRPr lang="en-IE" i="1" dirty="0"/>
          </a:p>
          <a:p>
            <a:r>
              <a:rPr lang="en-IE" i="1" dirty="0"/>
              <a:t>What can you infer from this statement?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17821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Inference: Implications for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For example:</a:t>
            </a:r>
          </a:p>
          <a:p>
            <a:pPr lvl="1"/>
            <a:r>
              <a:rPr lang="en-IE" dirty="0"/>
              <a:t>To demonstrate that someone is lying, for instance, a text must show that someone made a statement that they knew was incorrect and that they made that assertion with the specific purpose of deception. </a:t>
            </a:r>
          </a:p>
          <a:p>
            <a:pPr lvl="1"/>
            <a:r>
              <a:rPr lang="en-IE" dirty="0"/>
              <a:t>If they did not know it was wrong at the time, it’s an error, not a lie. </a:t>
            </a:r>
          </a:p>
          <a:p>
            <a:pPr lvl="1"/>
            <a:r>
              <a:rPr lang="en-IE" dirty="0"/>
              <a:t>If they did not make the statement for the specific purpose of deception, we have a misstatement, not lying.</a:t>
            </a:r>
          </a:p>
        </p:txBody>
      </p:sp>
    </p:spTree>
    <p:extLst>
      <p:ext uri="{BB962C8B-B14F-4D97-AF65-F5344CB8AC3E}">
        <p14:creationId xmlns:p14="http://schemas.microsoft.com/office/powerpoint/2010/main" val="1799468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Inference: Implications </a:t>
            </a:r>
            <a:r>
              <a:rPr lang="en-IE" dirty="0"/>
              <a:t>for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We need to be aware of what inferences can be made from what we write</a:t>
            </a:r>
          </a:p>
          <a:p>
            <a:r>
              <a:rPr lang="en-IE" dirty="0"/>
              <a:t>We must make our meaning clear</a:t>
            </a:r>
          </a:p>
          <a:p>
            <a:r>
              <a:rPr lang="en-IE" dirty="0"/>
              <a:t>We must be clear and accurate in out use of terminology </a:t>
            </a:r>
          </a:p>
          <a:p>
            <a:r>
              <a:rPr lang="en-IE" dirty="0"/>
              <a:t>We must provide enough examples and that they are appropriate</a:t>
            </a:r>
          </a:p>
          <a:p>
            <a:r>
              <a:rPr lang="en-IE" dirty="0"/>
              <a:t>We need to make sure we provide enough evidence to allow correct inferences to be drawn</a:t>
            </a:r>
          </a:p>
          <a:p>
            <a:r>
              <a:rPr lang="en-IE" dirty="0"/>
              <a:t>We need also to make sure any interpretations of other people’s work, or inferences we draw from it, we include in our own work are valid</a:t>
            </a:r>
          </a:p>
          <a:p>
            <a:pPr marL="0" indent="0">
              <a:buNone/>
            </a:pPr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7672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Laws of Logic</a:t>
            </a:r>
            <a:endParaRPr lang="en-GB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The Law of Identity </a:t>
            </a:r>
          </a:p>
          <a:p>
            <a:r>
              <a:rPr lang="en-US"/>
              <a:t>The Law of Non-Contradiction</a:t>
            </a:r>
          </a:p>
          <a:p>
            <a:r>
              <a:rPr lang="en-US"/>
              <a:t>The Law of Rational Inference</a:t>
            </a:r>
          </a:p>
          <a:p>
            <a:r>
              <a:rPr lang="en-US"/>
              <a:t>The Law of the Excluded Middle</a:t>
            </a:r>
          </a:p>
          <a:p>
            <a:r>
              <a:rPr lang="en-US"/>
              <a:t> plus Occam’s Razor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7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Law of Identity </a:t>
            </a:r>
            <a:endParaRPr lang="en-IE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3"/>
          </p:nvPr>
        </p:nvSpPr>
        <p:spPr>
          <a:xfrm>
            <a:off x="4427984" y="1303040"/>
            <a:ext cx="4820344" cy="685800"/>
          </a:xfrm>
        </p:spPr>
        <p:txBody>
          <a:bodyPr/>
          <a:lstStyle/>
          <a:p>
            <a:r>
              <a:rPr lang="en-US" dirty="0"/>
              <a:t>The Law of Non-Contradiction </a:t>
            </a:r>
            <a:endParaRPr lang="en-IE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states that if something is true, it is always true. </a:t>
            </a:r>
          </a:p>
          <a:p>
            <a:r>
              <a:rPr lang="en-US" dirty="0"/>
              <a:t>That which is, is.</a:t>
            </a:r>
          </a:p>
          <a:p>
            <a:r>
              <a:rPr lang="en-US" dirty="0"/>
              <a:t>For example, men are men, women are women and small furry creatures from Alpha Centauri are small furry creatures from Alpha Centauri;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This states that two statements which are antithetical (opposite)  cannot both be true. </a:t>
            </a:r>
          </a:p>
          <a:p>
            <a:r>
              <a:rPr lang="en-US" dirty="0"/>
              <a:t>For example,  Aristotle cannot be both alive and dead at the same time;</a:t>
            </a:r>
          </a:p>
          <a:p>
            <a:r>
              <a:rPr lang="en-US" dirty="0"/>
              <a:t>Ignore quantum physics for the moment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  <a:p>
            <a:endParaRPr lang="en-IE" dirty="0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IE" dirty="0"/>
              <a:t/>
            </a:r>
            <a:br>
              <a:rPr lang="en-IE" dirty="0"/>
            </a:br>
            <a:r>
              <a:rPr lang="en-IE" sz="3600" dirty="0"/>
              <a:t>Laws of Logic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078743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/>
            </a:r>
            <a:br>
              <a:rPr lang="en-IE" dirty="0"/>
            </a:br>
            <a:r>
              <a:rPr lang="en-IE" dirty="0"/>
              <a:t>Laws of Logic </a:t>
            </a:r>
            <a:endParaRPr lang="en-GB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57200" y="1412776"/>
            <a:ext cx="4040188" cy="685800"/>
          </a:xfrm>
        </p:spPr>
        <p:txBody>
          <a:bodyPr/>
          <a:lstStyle/>
          <a:p>
            <a:r>
              <a:rPr lang="en-US" dirty="0"/>
              <a:t>The Law of Rational Inference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3"/>
          </p:nvPr>
        </p:nvSpPr>
        <p:spPr>
          <a:xfrm>
            <a:off x="4648200" y="1303040"/>
            <a:ext cx="4041775" cy="685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Law of the Excluded Middle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quarter" idx="2"/>
          </p:nvPr>
        </p:nvSpPr>
        <p:spPr/>
        <p:txBody>
          <a:bodyPr/>
          <a:lstStyle/>
          <a:p>
            <a:r>
              <a:rPr lang="en-US" dirty="0"/>
              <a:t>This states that if statement A is equal to statement B and if statement B is equal to statement C, then statement A is equal to statement C. </a:t>
            </a:r>
          </a:p>
          <a:p>
            <a:r>
              <a:rPr lang="en-US" dirty="0"/>
              <a:t>If (A=B) &amp; (B=C) =&gt; A=C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316288" cy="4038600"/>
          </a:xfrm>
        </p:spPr>
        <p:txBody>
          <a:bodyPr>
            <a:normAutofit fontScale="92500"/>
          </a:bodyPr>
          <a:lstStyle/>
          <a:p>
            <a:r>
              <a:rPr lang="en-US" dirty="0"/>
              <a:t>This states that if a statement is not true, then the opposite of that statement is taken to be true. </a:t>
            </a:r>
          </a:p>
          <a:p>
            <a:r>
              <a:rPr lang="en-US" dirty="0"/>
              <a:t>For example, if Aristotle is not alive, he must be dead</a:t>
            </a:r>
          </a:p>
          <a:p>
            <a:r>
              <a:rPr lang="en-US" dirty="0"/>
              <a:t>Or,  the disjunctive proposition "Either it is raining or it is not raining" must be true. </a:t>
            </a:r>
          </a:p>
        </p:txBody>
      </p:sp>
    </p:spTree>
    <p:extLst>
      <p:ext uri="{BB962C8B-B14F-4D97-AF65-F5344CB8AC3E}">
        <p14:creationId xmlns:p14="http://schemas.microsoft.com/office/powerpoint/2010/main" val="1806784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Laws of Logic</a:t>
            </a:r>
            <a:endParaRPr lang="en-GB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Occam’s Razor</a:t>
            </a:r>
          </a:p>
          <a:p>
            <a:pPr lvl="1"/>
            <a:r>
              <a:rPr lang="en-US" dirty="0"/>
              <a:t>"Entities should not be multiplied unnecessarily" {"</a:t>
            </a:r>
            <a:r>
              <a:rPr lang="en-US" dirty="0" err="1"/>
              <a:t>Pluralitas</a:t>
            </a:r>
            <a:r>
              <a:rPr lang="en-US" dirty="0"/>
              <a:t> non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ponenda</a:t>
            </a:r>
            <a:r>
              <a:rPr lang="en-US" dirty="0"/>
              <a:t> sine </a:t>
            </a:r>
            <a:r>
              <a:rPr lang="en-US" dirty="0" err="1"/>
              <a:t>neccesitate</a:t>
            </a:r>
            <a:r>
              <a:rPr lang="en-US" dirty="0"/>
              <a:t>"}, </a:t>
            </a:r>
          </a:p>
          <a:p>
            <a:pPr lvl="1"/>
            <a:r>
              <a:rPr lang="en-US" dirty="0"/>
              <a:t>taken to mean in this case that if two theories present themselves that are both equally likely to be true, pick the one that makes the fewest assumptions.</a:t>
            </a:r>
          </a:p>
        </p:txBody>
      </p:sp>
    </p:spTree>
    <p:extLst>
      <p:ext uri="{BB962C8B-B14F-4D97-AF65-F5344CB8AC3E}">
        <p14:creationId xmlns:p14="http://schemas.microsoft.com/office/powerpoint/2010/main" val="4077195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IE" dirty="0"/>
              <a:t>Aristotle said that there is a difference between the following two statements;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IE" dirty="0"/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IE" dirty="0"/>
              <a:t>“The wood is not white”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IE" dirty="0"/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IE" dirty="0"/>
              <a:t>“It is not white wood”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IE" dirty="0"/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IE" dirty="0"/>
              <a:t>Can you see the difference?</a:t>
            </a:r>
            <a:endParaRPr lang="en-US" dirty="0"/>
          </a:p>
        </p:txBody>
      </p:sp>
      <p:pic>
        <p:nvPicPr>
          <p:cNvPr id="44036" name="Picture 5" descr="nbi_aris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842000" y="1981200"/>
            <a:ext cx="1782763" cy="4114800"/>
          </a:xfrm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IE" dirty="0"/>
              <a:t>Logic Puzzle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9829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rgbClr val="000000"/>
                </a:solidFill>
                <a:cs typeface="Times New Roman" pitchFamily="18" charset="0"/>
              </a:rPr>
              <a:t>Logic Puzzle - Solution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 eaLnBrk="1" hangingPunct="1"/>
            <a:endParaRPr lang="en-IE" sz="2800" b="1" i="1" dirty="0"/>
          </a:p>
          <a:p>
            <a:pPr eaLnBrk="1" hangingPunct="1"/>
            <a:r>
              <a:rPr lang="en-IE" sz="2800" b="1" i="1" dirty="0"/>
              <a:t>“The wood is not white”</a:t>
            </a:r>
          </a:p>
          <a:p>
            <a:pPr eaLnBrk="1" hangingPunct="1"/>
            <a:r>
              <a:rPr lang="en-IE" sz="2400" dirty="0"/>
              <a:t>This statement means that the thing under discussion IS wood BUT isn’t white, so, from example, it could be green wood, yellow wood or black wood</a:t>
            </a:r>
          </a:p>
          <a:p>
            <a:pPr eaLnBrk="1" hangingPunct="1"/>
            <a:endParaRPr lang="en-IE" sz="2400" dirty="0"/>
          </a:p>
          <a:p>
            <a:pPr eaLnBrk="1" hangingPunct="1"/>
            <a:r>
              <a:rPr lang="en-IE" sz="2800" b="1" i="1" dirty="0"/>
              <a:t>“It is not white wood”</a:t>
            </a:r>
          </a:p>
          <a:p>
            <a:pPr eaLnBrk="1" hangingPunct="1"/>
            <a:r>
              <a:rPr lang="en-IE" sz="2400" dirty="0"/>
              <a:t>This statement means that it is anything other that white wood, so, for example, it could be blue wood, green metal, or white plastic.</a:t>
            </a:r>
          </a:p>
          <a:p>
            <a:pPr eaLnBrk="1" hangingPunct="1"/>
            <a:endParaRPr lang="en-IE" sz="2400" i="1" dirty="0"/>
          </a:p>
        </p:txBody>
      </p:sp>
    </p:spTree>
    <p:extLst>
      <p:ext uri="{BB962C8B-B14F-4D97-AF65-F5344CB8AC3E}">
        <p14:creationId xmlns:p14="http://schemas.microsoft.com/office/powerpoint/2010/main" val="1244108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Literature Review</a:t>
            </a:r>
            <a:r>
              <a:rPr lang="en-GB" dirty="0"/>
              <a:t> 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Process of consolidating the various strands of past research into a single narrative contextualizing your research.</a:t>
            </a:r>
          </a:p>
          <a:p>
            <a:r>
              <a:rPr lang="en-IE" dirty="0"/>
              <a:t>Combining separate elements to create a cohesive, coherent whole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8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Literature Review</a:t>
            </a:r>
            <a:endParaRPr lang="en-GB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Identify your themes</a:t>
            </a:r>
          </a:p>
          <a:p>
            <a:r>
              <a:rPr lang="en-US" dirty="0"/>
              <a:t>Create a map of based on your themes</a:t>
            </a:r>
          </a:p>
          <a:p>
            <a:pPr lvl="1"/>
            <a:r>
              <a:rPr lang="en-US" dirty="0"/>
              <a:t>How do they link together?</a:t>
            </a:r>
          </a:p>
          <a:p>
            <a:pPr lvl="1"/>
            <a:r>
              <a:rPr lang="en-US" dirty="0"/>
              <a:t>Where do they contribute to your work?</a:t>
            </a:r>
          </a:p>
          <a:p>
            <a:pPr lvl="1"/>
            <a:r>
              <a:rPr lang="en-US" dirty="0"/>
              <a:t>What papers link to each theme?</a:t>
            </a:r>
          </a:p>
          <a:p>
            <a:r>
              <a:rPr lang="en-US" dirty="0"/>
              <a:t>Construct in the order that most clearly supports your thinking.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080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Literature Review – How to?</a:t>
            </a:r>
            <a:endParaRPr lang="en-GB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cs typeface="Times New Roman" pitchFamily="18" charset="0"/>
              </a:rPr>
              <a:t>Consider each article that you have reviewed</a:t>
            </a:r>
          </a:p>
          <a:p>
            <a:pPr lvl="1">
              <a:lnSpc>
                <a:spcPct val="90000"/>
              </a:lnSpc>
            </a:pPr>
            <a:r>
              <a:rPr lang="en-US" sz="2500" dirty="0">
                <a:cs typeface="Times New Roman" pitchFamily="18" charset="0"/>
              </a:rPr>
              <a:t>What does it do for you?</a:t>
            </a:r>
          </a:p>
          <a:p>
            <a:pPr lvl="1">
              <a:lnSpc>
                <a:spcPct val="90000"/>
              </a:lnSpc>
            </a:pPr>
            <a:r>
              <a:rPr lang="en-US" sz="2500" dirty="0">
                <a:cs typeface="Times New Roman" pitchFamily="18" charset="0"/>
              </a:rPr>
              <a:t>Is it significant enough to go into the review? </a:t>
            </a:r>
          </a:p>
          <a:p>
            <a:pPr lvl="1">
              <a:lnSpc>
                <a:spcPct val="90000"/>
              </a:lnSpc>
            </a:pPr>
            <a:r>
              <a:rPr lang="en-US" sz="2500" dirty="0">
                <a:cs typeface="Times New Roman" pitchFamily="18" charset="0"/>
              </a:rPr>
              <a:t>Does it provide context or background?</a:t>
            </a:r>
          </a:p>
          <a:p>
            <a:pPr lvl="1">
              <a:lnSpc>
                <a:spcPct val="90000"/>
              </a:lnSpc>
            </a:pPr>
            <a:r>
              <a:rPr lang="en-US" sz="2500" dirty="0">
                <a:cs typeface="Times New Roman" pitchFamily="18" charset="0"/>
              </a:rPr>
              <a:t>Is it a quality source?</a:t>
            </a:r>
          </a:p>
          <a:p>
            <a:pPr lvl="1">
              <a:lnSpc>
                <a:spcPct val="90000"/>
              </a:lnSpc>
            </a:pPr>
            <a:r>
              <a:rPr lang="en-US" sz="2500" dirty="0">
                <a:cs typeface="Times New Roman" pitchFamily="18" charset="0"/>
              </a:rPr>
              <a:t>Does it identify issues or problems?</a:t>
            </a:r>
          </a:p>
          <a:p>
            <a:pPr lvl="1">
              <a:lnSpc>
                <a:spcPct val="90000"/>
              </a:lnSpc>
            </a:pPr>
            <a:r>
              <a:rPr lang="en-US" sz="2500" dirty="0">
                <a:cs typeface="Times New Roman" pitchFamily="18" charset="0"/>
              </a:rPr>
              <a:t>Does it help build towards the ‘gap’ in the research you are identifying?  </a:t>
            </a:r>
          </a:p>
          <a:p>
            <a:pPr lvl="1">
              <a:lnSpc>
                <a:spcPct val="90000"/>
              </a:lnSpc>
            </a:pPr>
            <a:r>
              <a:rPr lang="en-US" sz="2500" dirty="0">
                <a:cs typeface="Times New Roman" pitchFamily="18" charset="0"/>
              </a:rPr>
              <a:t>Could you take this article out and it wouldn’t make any difference? </a:t>
            </a:r>
          </a:p>
          <a:p>
            <a:pPr lvl="2">
              <a:lnSpc>
                <a:spcPct val="90000"/>
              </a:lnSpc>
            </a:pPr>
            <a:r>
              <a:rPr lang="en-US" sz="2200" dirty="0">
                <a:cs typeface="Times New Roman" pitchFamily="18" charset="0"/>
              </a:rPr>
              <a:t>Does it simply repeat something from another source?</a:t>
            </a:r>
          </a:p>
          <a:p>
            <a:pPr lvl="2">
              <a:lnSpc>
                <a:spcPct val="90000"/>
              </a:lnSpc>
            </a:pPr>
            <a:r>
              <a:rPr lang="en-US" sz="2200" dirty="0">
                <a:cs typeface="Times New Roman" pitchFamily="18" charset="0"/>
              </a:rPr>
              <a:t>Am I only including it to show how many papers I’ve read?</a:t>
            </a:r>
          </a:p>
        </p:txBody>
      </p:sp>
    </p:spTree>
    <p:extLst>
      <p:ext uri="{BB962C8B-B14F-4D97-AF65-F5344CB8AC3E}">
        <p14:creationId xmlns:p14="http://schemas.microsoft.com/office/powerpoint/2010/main" val="4159911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Common Points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One planning technique – common points grid</a:t>
            </a:r>
          </a:p>
          <a:p>
            <a:pPr lvl="1"/>
            <a:r>
              <a:rPr lang="en-IE" dirty="0"/>
              <a:t>During your comprehension you will have</a:t>
            </a:r>
          </a:p>
          <a:p>
            <a:pPr lvl="2"/>
            <a:r>
              <a:rPr lang="en-IE" dirty="0"/>
              <a:t>noted of words or ideas that repeat themselves.</a:t>
            </a:r>
          </a:p>
          <a:p>
            <a:pPr lvl="2"/>
            <a:r>
              <a:rPr lang="en-IE" dirty="0"/>
              <a:t>noted of conflicts or contradictions in the information</a:t>
            </a:r>
          </a:p>
          <a:p>
            <a:pPr lvl="1"/>
            <a:r>
              <a:rPr lang="en-IE" dirty="0"/>
              <a:t>From this you can derive the main research questions</a:t>
            </a:r>
          </a:p>
          <a:p>
            <a:pPr lvl="1"/>
            <a:r>
              <a:rPr lang="en-IE" dirty="0"/>
              <a:t>And the way the research answers the question - Incorporating your noted contradictions </a:t>
            </a:r>
          </a:p>
          <a:p>
            <a:pPr lvl="1"/>
            <a:r>
              <a:rPr lang="en-IE" dirty="0"/>
              <a:t>Turn these answers into “categories.”</a:t>
            </a:r>
          </a:p>
          <a:p>
            <a:pPr lvl="1"/>
            <a:r>
              <a:rPr lang="en-IE" dirty="0"/>
              <a:t>Create a grid using Author(s)’ names and categories as organizing features.</a:t>
            </a:r>
          </a:p>
          <a:p>
            <a:pPr lvl="1"/>
            <a:r>
              <a:rPr lang="en-IE" dirty="0"/>
              <a:t> Fill in the grid with details from source material.</a:t>
            </a:r>
          </a:p>
        </p:txBody>
      </p:sp>
    </p:spTree>
    <p:extLst>
      <p:ext uri="{BB962C8B-B14F-4D97-AF65-F5344CB8AC3E}">
        <p14:creationId xmlns:p14="http://schemas.microsoft.com/office/powerpoint/2010/main" val="1742859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Common Points Grid - example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836442"/>
              </p:ext>
            </p:extLst>
          </p:nvPr>
        </p:nvGraphicFramePr>
        <p:xfrm>
          <a:off x="395536" y="2852936"/>
          <a:ext cx="8424936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6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378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08377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3670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Author(s)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Redevelopment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/>
                        <a:t>Author(s)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/>
                        <a:t>Outlines</a:t>
                      </a:r>
                      <a:r>
                        <a:rPr lang="en-IE" sz="1400" baseline="0" dirty="0"/>
                        <a:t> a case study of maintenance over years – signals key challenges for redevelopment </a:t>
                      </a:r>
                      <a:endParaRPr lang="en-I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40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/>
                        <a:t>Author(s)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/>
                        <a:t>Outlines key problems experienced by ongoing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/>
                        <a:t>Leading researcher in DB area – proposes approach most adopted in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/>
                        <a:t>Argues</a:t>
                      </a:r>
                      <a:r>
                        <a:rPr lang="en-IE" sz="1400" baseline="0" dirty="0"/>
                        <a:t> redevelopment not viable for 24/7 systems – provides examples</a:t>
                      </a:r>
                      <a:endParaRPr lang="en-IE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/>
                        <a:t>Author(s)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/>
                        <a:t>Proposes new</a:t>
                      </a:r>
                      <a:r>
                        <a:rPr lang="en-IE" sz="1400" baseline="0" dirty="0"/>
                        <a:t> </a:t>
                      </a:r>
                      <a:r>
                        <a:rPr lang="en-IE" sz="1400" dirty="0"/>
                        <a:t>approach – challenges that proposed</a:t>
                      </a:r>
                      <a:r>
                        <a:rPr lang="en-IE" sz="1400" baseline="0" dirty="0"/>
                        <a:t> by Author(s) B</a:t>
                      </a:r>
                      <a:endParaRPr lang="en-I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/>
                        <a:t>Argues redevelopment</a:t>
                      </a:r>
                      <a:r>
                        <a:rPr lang="en-IE" sz="1400" baseline="0" dirty="0"/>
                        <a:t> not viable for 24/7 systems – provides examples</a:t>
                      </a:r>
                      <a:endParaRPr lang="en-IE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3528" y="1281534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E" sz="1800" dirty="0"/>
              <a:t>Research Question: What coping strategies exist for legacy systems?</a:t>
            </a:r>
          </a:p>
          <a:p>
            <a:pPr algn="l"/>
            <a:endParaRPr lang="en-IE" sz="1800" dirty="0"/>
          </a:p>
          <a:p>
            <a:pPr algn="l"/>
            <a:r>
              <a:rPr lang="en-IE" sz="1800" dirty="0"/>
              <a:t>Possible Answers: A range of solutions are adopted which have a range of impacts on the system being considered</a:t>
            </a:r>
          </a:p>
        </p:txBody>
      </p:sp>
    </p:spTree>
    <p:extLst>
      <p:ext uri="{BB962C8B-B14F-4D97-AF65-F5344CB8AC3E}">
        <p14:creationId xmlns:p14="http://schemas.microsoft.com/office/powerpoint/2010/main" val="2227284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Literature Review</a:t>
            </a:r>
            <a:endParaRPr lang="en-GB"/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You don’t have to do it all in one go</a:t>
            </a:r>
          </a:p>
          <a:p>
            <a:r>
              <a:rPr lang="en-US" dirty="0"/>
              <a:t>Write sections about what you know </a:t>
            </a:r>
          </a:p>
          <a:p>
            <a:pPr lvl="1"/>
            <a:r>
              <a:rPr lang="en-US" dirty="0"/>
              <a:t>when you know it</a:t>
            </a:r>
          </a:p>
          <a:p>
            <a:r>
              <a:rPr lang="en-US" dirty="0"/>
              <a:t>If you are building summaries and commentaries as you go you should be able to compile and edit these</a:t>
            </a:r>
          </a:p>
          <a:p>
            <a:r>
              <a:rPr lang="en-US" dirty="0"/>
              <a:t>You will have to draft and edit</a:t>
            </a:r>
          </a:p>
          <a:p>
            <a:pPr lvl="1"/>
            <a:r>
              <a:rPr lang="en-US" dirty="0"/>
              <a:t>For the first draft include as much content as you want then edit it down to be coherent and concise</a:t>
            </a:r>
          </a:p>
        </p:txBody>
      </p:sp>
    </p:spTree>
    <p:extLst>
      <p:ext uri="{BB962C8B-B14F-4D97-AF65-F5344CB8AC3E}">
        <p14:creationId xmlns:p14="http://schemas.microsoft.com/office/powerpoint/2010/main" val="1712426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smtClean="0"/>
              <a:t>Activity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 smtClean="0"/>
              <a:t>Get together in pairs within the same specialism</a:t>
            </a:r>
          </a:p>
          <a:p>
            <a:r>
              <a:rPr lang="en-IE" dirty="0" smtClean="0"/>
              <a:t>Each one of you picks your best paper from Assignment 2</a:t>
            </a:r>
          </a:p>
          <a:p>
            <a:r>
              <a:rPr lang="en-IE" dirty="0" smtClean="0"/>
              <a:t>Swap papers with your partner</a:t>
            </a:r>
          </a:p>
          <a:p>
            <a:r>
              <a:rPr lang="en-IE" dirty="0" smtClean="0"/>
              <a:t>Read each other’s paper and fill in the Review Form (available on </a:t>
            </a:r>
            <a:r>
              <a:rPr lang="en-IE" dirty="0" err="1" smtClean="0"/>
              <a:t>webcourses</a:t>
            </a:r>
            <a:r>
              <a:rPr lang="en-IE" dirty="0" smtClean="0"/>
              <a:t>)</a:t>
            </a:r>
          </a:p>
          <a:p>
            <a:r>
              <a:rPr lang="en-IE" dirty="0" smtClean="0"/>
              <a:t>Discuss your observations with each other</a:t>
            </a:r>
          </a:p>
          <a:p>
            <a:r>
              <a:rPr lang="en-IE" dirty="0" smtClean="0"/>
              <a:t>Share with the class:</a:t>
            </a:r>
          </a:p>
          <a:p>
            <a:pPr lvl="1"/>
            <a:r>
              <a:rPr lang="en-IE" dirty="0" smtClean="0"/>
              <a:t>The best 3 aspects about the paper</a:t>
            </a:r>
          </a:p>
          <a:p>
            <a:pPr lvl="1"/>
            <a:r>
              <a:rPr lang="en-IE" dirty="0" smtClean="0"/>
              <a:t>3 areas of possible improvement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783537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63</TotalTime>
  <Words>1715</Words>
  <Application>Microsoft Office PowerPoint</Application>
  <PresentationFormat>On-screen Show (4:3)</PresentationFormat>
  <Paragraphs>252</Paragraphs>
  <Slides>28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Origin</vt:lpstr>
      <vt:lpstr>Literature Survey,  Literature Comprehension &amp;  Literature Review</vt:lpstr>
      <vt:lpstr>Literature Review Process</vt:lpstr>
      <vt:lpstr>Non-critical Reading</vt:lpstr>
      <vt:lpstr>Critical Reading</vt:lpstr>
      <vt:lpstr>Consider the following</vt:lpstr>
      <vt:lpstr>Reading Critically – Initial Steps</vt:lpstr>
      <vt:lpstr>Reading Critically – Examine each of the following to Describe the text</vt:lpstr>
      <vt:lpstr>Reading Critically - Description</vt:lpstr>
      <vt:lpstr>Reading Critically – Assessment</vt:lpstr>
      <vt:lpstr>Reading Critically – Assessment</vt:lpstr>
      <vt:lpstr>Inference</vt:lpstr>
      <vt:lpstr>Inference</vt:lpstr>
      <vt:lpstr>Inference</vt:lpstr>
      <vt:lpstr>Inference: Implications for Reading</vt:lpstr>
      <vt:lpstr>Inference: Implications for Writing</vt:lpstr>
      <vt:lpstr>Laws of Logic</vt:lpstr>
      <vt:lpstr> Laws of Logic</vt:lpstr>
      <vt:lpstr> Laws of Logic </vt:lpstr>
      <vt:lpstr>Laws of Logic</vt:lpstr>
      <vt:lpstr>Logic Puzzle</vt:lpstr>
      <vt:lpstr>Logic Puzzle - Solution</vt:lpstr>
      <vt:lpstr>The Literature Review </vt:lpstr>
      <vt:lpstr>The Literature Review</vt:lpstr>
      <vt:lpstr>Literature Review – How to?</vt:lpstr>
      <vt:lpstr>Common Points Grid</vt:lpstr>
      <vt:lpstr>Common Points Grid - example</vt:lpstr>
      <vt:lpstr>Literature Review</vt:lpstr>
      <vt:lpstr>Activity</vt:lpstr>
    </vt:vector>
  </TitlesOfParts>
  <Company>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research?</dc:title>
  <dc:creator>x</dc:creator>
  <cp:lastModifiedBy>John-PC</cp:lastModifiedBy>
  <cp:revision>288</cp:revision>
  <dcterms:created xsi:type="dcterms:W3CDTF">2004-11-26T12:56:11Z</dcterms:created>
  <dcterms:modified xsi:type="dcterms:W3CDTF">2020-11-16T10:19:15Z</dcterms:modified>
</cp:coreProperties>
</file>