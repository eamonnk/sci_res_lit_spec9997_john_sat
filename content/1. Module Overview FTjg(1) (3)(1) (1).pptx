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8880" cy="5306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251496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251496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34" name="Picture 33"/>
          <p:cNvPicPr/>
          <p:nvPr/>
        </p:nvPicPr>
        <p:blipFill>
          <a:blip r:embed="rId2"/>
          <a:stretch/>
        </p:blipFill>
        <p:spPr>
          <a:xfrm>
            <a:off x="457200" y="1990800"/>
            <a:ext cx="4015440" cy="3203640"/>
          </a:xfrm>
          <a:prstGeom prst="rect">
            <a:avLst/>
          </a:prstGeom>
          <a:ln>
            <a:noFill/>
          </a:ln>
        </p:spPr>
      </p:pic>
      <p:pic>
        <p:nvPicPr>
          <p:cNvPr id="35" name="Picture 34"/>
          <p:cNvPicPr/>
          <p:nvPr/>
        </p:nvPicPr>
        <p:blipFill>
          <a:blip r:embed="rId2"/>
          <a:stretch/>
        </p:blipFill>
        <p:spPr>
          <a:xfrm>
            <a:off x="457200" y="1990800"/>
            <a:ext cx="4015440" cy="3203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8880" cy="5306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251496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251496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70" name="Picture 69"/>
          <p:cNvPicPr/>
          <p:nvPr/>
        </p:nvPicPr>
        <p:blipFill>
          <a:blip r:embed="rId2"/>
          <a:stretch/>
        </p:blipFill>
        <p:spPr>
          <a:xfrm>
            <a:off x="457200" y="1990800"/>
            <a:ext cx="4015440" cy="3203640"/>
          </a:xfrm>
          <a:prstGeom prst="rect">
            <a:avLst/>
          </a:prstGeom>
          <a:ln>
            <a:noFill/>
          </a:ln>
        </p:spPr>
      </p:pic>
      <p:pic>
        <p:nvPicPr>
          <p:cNvPr id="71" name="Picture 70"/>
          <p:cNvPicPr/>
          <p:nvPr/>
        </p:nvPicPr>
        <p:blipFill>
          <a:blip r:embed="rId2"/>
          <a:stretch/>
        </p:blipFill>
        <p:spPr>
          <a:xfrm>
            <a:off x="457200" y="1990800"/>
            <a:ext cx="4015440" cy="3203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8880" cy="5306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251496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251496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0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106" name="Picture 105"/>
          <p:cNvPicPr/>
          <p:nvPr/>
        </p:nvPicPr>
        <p:blipFill>
          <a:blip r:embed="rId2"/>
          <a:stretch/>
        </p:blipFill>
        <p:spPr>
          <a:xfrm>
            <a:off x="457200" y="1990800"/>
            <a:ext cx="4015440" cy="3203640"/>
          </a:xfrm>
          <a:prstGeom prst="rect">
            <a:avLst/>
          </a:prstGeom>
          <a:ln>
            <a:noFill/>
          </a:ln>
        </p:spPr>
      </p:pic>
      <p:pic>
        <p:nvPicPr>
          <p:cNvPr id="107" name="Picture 106"/>
          <p:cNvPicPr/>
          <p:nvPr/>
        </p:nvPicPr>
        <p:blipFill>
          <a:blip r:embed="rId2"/>
          <a:stretch/>
        </p:blipFill>
        <p:spPr>
          <a:xfrm>
            <a:off x="457200" y="1990800"/>
            <a:ext cx="4015440" cy="3203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8880" cy="5306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251496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2514960" y="160452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251496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19594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143" name="Picture 142"/>
          <p:cNvPicPr/>
          <p:nvPr/>
        </p:nvPicPr>
        <p:blipFill>
          <a:blip r:embed="rId2"/>
          <a:stretch/>
        </p:blipFill>
        <p:spPr>
          <a:xfrm>
            <a:off x="457200" y="1990800"/>
            <a:ext cx="4015440" cy="3203640"/>
          </a:xfrm>
          <a:prstGeom prst="rect">
            <a:avLst/>
          </a:prstGeom>
          <a:ln>
            <a:noFill/>
          </a:ln>
        </p:spPr>
      </p:pic>
      <p:pic>
        <p:nvPicPr>
          <p:cNvPr id="144" name="Picture 143"/>
          <p:cNvPicPr/>
          <p:nvPr/>
        </p:nvPicPr>
        <p:blipFill>
          <a:blip r:embed="rId2"/>
          <a:stretch/>
        </p:blipFill>
        <p:spPr>
          <a:xfrm>
            <a:off x="457200" y="1990800"/>
            <a:ext cx="4015440" cy="3203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>
                <a:latin typeface="Calibri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Seventh Outline Level</a:t>
            </a:r>
            <a:endParaRPr/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683640" y="177264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</a:rPr>
              <a:t>Scientific Research and Literature</a:t>
            </a: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146" name="CustomShape 2"/>
          <p:cNvSpPr/>
          <p:nvPr/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E" sz="3200" strike="noStrike">
                <a:solidFill>
                  <a:srgbClr val="8B8B8B"/>
                </a:solidFill>
                <a:latin typeface="Calibri"/>
              </a:rPr>
              <a:t>Lecture 1</a:t>
            </a:r>
            <a:endParaRPr/>
          </a:p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r>
              <a:rPr lang="en-IE" sz="3200" strike="noStrike">
                <a:solidFill>
                  <a:srgbClr val="8B8B8B"/>
                </a:solidFill>
                <a:latin typeface="Calibri"/>
              </a:rPr>
              <a:t>Module Overview &amp; Introduction</a:t>
            </a: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Contact the Lecturer</a:t>
            </a:r>
            <a:endParaRPr/>
          </a:p>
        </p:txBody>
      </p:sp>
      <p:sp>
        <p:nvSpPr>
          <p:cNvPr id="148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800" strike="noStrike" dirty="0">
                <a:solidFill>
                  <a:srgbClr val="000000"/>
                </a:solidFill>
                <a:latin typeface="Calibri"/>
                <a:ea typeface="DejaVu Sans"/>
              </a:rPr>
              <a:t>Dr. John Gilligan</a:t>
            </a:r>
            <a:endParaRPr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800" strike="noStrike" dirty="0">
                <a:solidFill>
                  <a:srgbClr val="000000"/>
                </a:solidFill>
                <a:latin typeface="Calibri"/>
                <a:ea typeface="DejaVu Sans"/>
              </a:rPr>
              <a:t>Email: john.gilligan@tudublin.ie</a:t>
            </a:r>
            <a:endParaRPr dirty="0"/>
          </a:p>
          <a:p>
            <a:pPr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Acknowledgements</a:t>
            </a:r>
            <a:endParaRPr/>
          </a:p>
        </p:txBody>
      </p:sp>
      <p:sp>
        <p:nvSpPr>
          <p:cNvPr id="150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Thanks to previous course lecturer Dr Diana Carvalho E Ferreira for these resources 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Many thanks to Deirdre Lawless and Damian Gordon, who originally developed the module.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Online Resources</a:t>
            </a:r>
            <a:endParaRPr/>
          </a:p>
        </p:txBody>
      </p:sp>
      <p:sp>
        <p:nvSpPr>
          <p:cNvPr id="152" name="CustomShape 2"/>
          <p:cNvSpPr/>
          <p:nvPr/>
        </p:nvSpPr>
        <p:spPr>
          <a:xfrm>
            <a:off x="123480" y="14400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Webcourses: </a:t>
            </a:r>
            <a:r>
              <a:rPr lang="en-IE" sz="2800" u="sng" strike="noStrike">
                <a:solidFill>
                  <a:srgbClr val="0000FF"/>
                </a:solidFill>
                <a:latin typeface="Calibri"/>
                <a:ea typeface="DejaVu Sans"/>
              </a:rPr>
              <a:t>SPEC9997-FT: Scientific Research and Literature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IE" sz="2400" strike="noStrike">
                <a:solidFill>
                  <a:srgbClr val="000000"/>
                </a:solidFill>
                <a:latin typeface="Calibri"/>
                <a:ea typeface="DejaVu Sans"/>
              </a:rPr>
              <a:t>Self enrolment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IE" sz="200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General Noticeboard: </a:t>
            </a:r>
            <a:r>
              <a:rPr lang="en-IE" sz="2800" u="sng" strike="noStrike">
                <a:solidFill>
                  <a:srgbClr val="0000FF"/>
                </a:solidFill>
                <a:latin typeface="Calibri"/>
                <a:ea typeface="DejaVu Sans"/>
              </a:rPr>
              <a:t>http://ditmsc.blogspot.ie/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Module Description</a:t>
            </a:r>
            <a:endParaRPr/>
          </a:p>
        </p:txBody>
      </p:sp>
      <p:sp>
        <p:nvSpPr>
          <p:cNvPr id="154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MSc in Computing graduates will need to remain up to date with new </a:t>
            </a:r>
            <a:r>
              <a:rPr lang="en-IE" sz="2800" b="1" strike="noStrike">
                <a:solidFill>
                  <a:srgbClr val="FF0000"/>
                </a:solidFill>
                <a:latin typeface="Calibri"/>
                <a:ea typeface="DejaVu Sans"/>
              </a:rPr>
              <a:t>innovations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 in computing, which may be applicable to their </a:t>
            </a:r>
            <a:r>
              <a:rPr lang="en-IE" sz="2800" b="1" strike="noStrike">
                <a:solidFill>
                  <a:srgbClr val="FF0000"/>
                </a:solidFill>
                <a:latin typeface="Calibri"/>
                <a:ea typeface="DejaVu Sans"/>
              </a:rPr>
              <a:t>chosen area of specialism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To achieve this, students must be able to undertake </a:t>
            </a:r>
            <a:r>
              <a:rPr lang="en-IE" sz="2800" b="1" strike="noStrike">
                <a:solidFill>
                  <a:srgbClr val="77933C"/>
                </a:solidFill>
                <a:latin typeface="Calibri"/>
                <a:ea typeface="DejaVu Sans"/>
              </a:rPr>
              <a:t>research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 using </a:t>
            </a:r>
            <a:r>
              <a:rPr lang="en-IE" sz="2800" b="1" strike="noStrike">
                <a:solidFill>
                  <a:srgbClr val="77933C"/>
                </a:solidFill>
                <a:latin typeface="Calibri"/>
                <a:ea typeface="DejaVu Sans"/>
              </a:rPr>
              <a:t>appropriate sources 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in an ethical and professional manner and present their research findings in an </a:t>
            </a:r>
            <a:r>
              <a:rPr lang="en-IE" sz="2800" b="1" strike="noStrike">
                <a:solidFill>
                  <a:srgbClr val="77933C"/>
                </a:solidFill>
                <a:latin typeface="Calibri"/>
                <a:ea typeface="DejaVu Sans"/>
              </a:rPr>
              <a:t>appropriate form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The major focus of this module will be on </a:t>
            </a:r>
            <a:r>
              <a:rPr lang="en-IE" sz="2800" b="1" strike="noStrike">
                <a:solidFill>
                  <a:srgbClr val="E46C0A"/>
                </a:solidFill>
                <a:latin typeface="Calibri"/>
                <a:ea typeface="DejaVu Sans"/>
              </a:rPr>
              <a:t>what research is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, the </a:t>
            </a:r>
            <a:r>
              <a:rPr lang="en-IE" sz="2800" b="1" strike="noStrike">
                <a:solidFill>
                  <a:srgbClr val="E46C0A"/>
                </a:solidFill>
                <a:latin typeface="Calibri"/>
                <a:ea typeface="DejaVu Sans"/>
              </a:rPr>
              <a:t>different types 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in the student’s discipline, how to </a:t>
            </a:r>
            <a:r>
              <a:rPr lang="en-IE" sz="2800" b="1" strike="noStrike">
                <a:solidFill>
                  <a:srgbClr val="E46C0A"/>
                </a:solidFill>
                <a:latin typeface="Calibri"/>
                <a:ea typeface="DejaVu Sans"/>
              </a:rPr>
              <a:t>locate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 relevant research and then how to </a:t>
            </a:r>
            <a:r>
              <a:rPr lang="en-IE" sz="2800" b="1" strike="noStrike">
                <a:solidFill>
                  <a:srgbClr val="E46C0A"/>
                </a:solidFill>
                <a:latin typeface="Calibri"/>
                <a:ea typeface="DejaVu Sans"/>
              </a:rPr>
              <a:t>write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 correctly.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Module Description</a:t>
            </a:r>
            <a:endParaRPr/>
          </a:p>
        </p:txBody>
      </p:sp>
      <p:sp>
        <p:nvSpPr>
          <p:cNvPr id="156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This module develops the student's ability to effectively research and present their research findings by introducing them to the </a:t>
            </a:r>
            <a:r>
              <a:rPr lang="en-IE" sz="2800" b="1" strike="noStrike">
                <a:solidFill>
                  <a:srgbClr val="376092"/>
                </a:solidFill>
                <a:latin typeface="Calibri"/>
                <a:ea typeface="DejaVu Sans"/>
              </a:rPr>
              <a:t>research process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; equipping them with an understanding of computing research sources and how to use them </a:t>
            </a:r>
            <a:r>
              <a:rPr lang="en-IE" sz="2800" b="1" strike="noStrike">
                <a:solidFill>
                  <a:srgbClr val="948A54"/>
                </a:solidFill>
                <a:latin typeface="Calibri"/>
                <a:ea typeface="DejaVu Sans"/>
              </a:rPr>
              <a:t>critically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lang="en-IE" sz="2800" b="1" strike="noStrike">
                <a:solidFill>
                  <a:srgbClr val="948A54"/>
                </a:solidFill>
                <a:latin typeface="Calibri"/>
                <a:ea typeface="DejaVu Sans"/>
              </a:rPr>
              <a:t>ethically</a:t>
            </a:r>
            <a:r>
              <a:rPr lang="en-IE" sz="2800" strike="noStrike">
                <a:solidFill>
                  <a:srgbClr val="000000"/>
                </a:solidFill>
                <a:latin typeface="Calibri"/>
                <a:ea typeface="DejaVu Sans"/>
              </a:rPr>
              <a:t> and how to present their findings in an acceptable form.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Learning Outcomes</a:t>
            </a:r>
            <a:endParaRPr/>
          </a:p>
        </p:txBody>
      </p:sp>
      <p:sp>
        <p:nvSpPr>
          <p:cNvPr id="158" name="CustomShape 2"/>
          <p:cNvSpPr/>
          <p:nvPr/>
        </p:nvSpPr>
        <p:spPr>
          <a:xfrm>
            <a:off x="457200" y="1417680"/>
            <a:ext cx="8228520" cy="4708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buFont typeface="Calibri"/>
              <a:buAutoNum type="arabicPeriod"/>
            </a:pPr>
            <a:r>
              <a:rPr lang="en-IE" sz="2400" strike="noStrike">
                <a:solidFill>
                  <a:srgbClr val="000000"/>
                </a:solidFill>
                <a:latin typeface="Calibri"/>
                <a:ea typeface="DejaVu Sans"/>
              </a:rPr>
              <a:t>Demonstrate an understanding of the </a:t>
            </a:r>
            <a:r>
              <a:rPr lang="en-IE" sz="2400" b="1" u="sng" strike="noStrike">
                <a:solidFill>
                  <a:srgbClr val="000000"/>
                </a:solidFill>
                <a:latin typeface="Calibri"/>
                <a:ea typeface="DejaVu Sans"/>
              </a:rPr>
              <a:t>different types of research methodologies </a:t>
            </a:r>
            <a:r>
              <a:rPr lang="en-IE" sz="2400" strike="noStrike">
                <a:solidFill>
                  <a:srgbClr val="000000"/>
                </a:solidFill>
                <a:latin typeface="Calibri"/>
                <a:ea typeface="DejaVu Sans"/>
              </a:rPr>
              <a:t>that could be used in their discipline, recognising ethical considerations.</a:t>
            </a:r>
            <a:endParaRPr/>
          </a:p>
          <a:p>
            <a:pPr>
              <a:lnSpc>
                <a:spcPct val="100000"/>
              </a:lnSpc>
              <a:buFont typeface="Calibri"/>
              <a:buAutoNum type="arabicPeriod"/>
            </a:pPr>
            <a:r>
              <a:rPr lang="en-IE" sz="2400" strike="noStrike">
                <a:solidFill>
                  <a:srgbClr val="000000"/>
                </a:solidFill>
                <a:latin typeface="Calibri"/>
                <a:ea typeface="DejaVu Sans"/>
              </a:rPr>
              <a:t>Select, develop and apply appropriate </a:t>
            </a:r>
            <a:r>
              <a:rPr lang="en-IE" sz="2400" b="1" u="sng" strike="noStrike">
                <a:solidFill>
                  <a:srgbClr val="000000"/>
                </a:solidFill>
                <a:latin typeface="Calibri"/>
                <a:ea typeface="DejaVu Sans"/>
              </a:rPr>
              <a:t>search strategies </a:t>
            </a:r>
            <a:r>
              <a:rPr lang="en-IE" sz="2400" strike="noStrike">
                <a:solidFill>
                  <a:srgbClr val="000000"/>
                </a:solidFill>
                <a:latin typeface="Calibri"/>
                <a:ea typeface="DejaVu Sans"/>
              </a:rPr>
              <a:t>to locate literature relevant to a range of given topics in their discipline, using relevant literature resources and digital technology, for the purposes of </a:t>
            </a:r>
            <a:r>
              <a:rPr lang="en-IE" sz="2400" b="1" u="sng" strike="noStrike">
                <a:solidFill>
                  <a:srgbClr val="000000"/>
                </a:solidFill>
                <a:latin typeface="Calibri"/>
                <a:ea typeface="DejaVu Sans"/>
              </a:rPr>
              <a:t>developing a literature review</a:t>
            </a:r>
            <a:r>
              <a:rPr lang="en-IE" sz="2400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/>
          </a:p>
          <a:p>
            <a:pPr>
              <a:lnSpc>
                <a:spcPct val="100000"/>
              </a:lnSpc>
              <a:buFont typeface="Calibri"/>
              <a:buAutoNum type="arabicPeriod"/>
            </a:pPr>
            <a:r>
              <a:rPr lang="en-IE" sz="2400" b="1" u="sng" strike="noStrike">
                <a:solidFill>
                  <a:srgbClr val="000000"/>
                </a:solidFill>
                <a:latin typeface="Calibri"/>
                <a:ea typeface="DejaVu Sans"/>
              </a:rPr>
              <a:t>Select, categorize and evaluate </a:t>
            </a:r>
            <a:r>
              <a:rPr lang="en-IE" sz="2400" strike="noStrike">
                <a:solidFill>
                  <a:srgbClr val="000000"/>
                </a:solidFill>
                <a:latin typeface="Calibri"/>
                <a:ea typeface="DejaVu Sans"/>
              </a:rPr>
              <a:t>research material, in order to identify the current state of knowledge and key issues in a research topic, and demonstrate this via an </a:t>
            </a:r>
            <a:r>
              <a:rPr lang="en-IE" sz="2400" b="1" u="sng" strike="noStrike">
                <a:solidFill>
                  <a:srgbClr val="000000"/>
                </a:solidFill>
                <a:latin typeface="Calibri"/>
                <a:ea typeface="DejaVu Sans"/>
              </a:rPr>
              <a:t>annotated bibliography.</a:t>
            </a:r>
            <a:endParaRPr/>
          </a:p>
          <a:p>
            <a:pPr>
              <a:lnSpc>
                <a:spcPct val="100000"/>
              </a:lnSpc>
              <a:buFont typeface="Calibri"/>
              <a:buAutoNum type="arabicPeriod"/>
            </a:pPr>
            <a:r>
              <a:rPr lang="en-IE" sz="2400" b="1" u="sng" strike="noStrike">
                <a:solidFill>
                  <a:srgbClr val="000000"/>
                </a:solidFill>
                <a:latin typeface="Calibri"/>
                <a:ea typeface="DejaVu Sans"/>
              </a:rPr>
              <a:t>Author a document </a:t>
            </a:r>
            <a:r>
              <a:rPr lang="en-IE" sz="2400" strike="noStrike">
                <a:solidFill>
                  <a:srgbClr val="000000"/>
                </a:solidFill>
                <a:latin typeface="Calibri"/>
                <a:ea typeface="DejaVu Sans"/>
              </a:rPr>
              <a:t>with an appropriate standard of language, presentation, style and referencing.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Module Content</a:t>
            </a:r>
            <a:endParaRPr/>
          </a:p>
        </p:txBody>
      </p:sp>
      <p:sp>
        <p:nvSpPr>
          <p:cNvPr id="160" name="CustomShape 2"/>
          <p:cNvSpPr/>
          <p:nvPr/>
        </p:nvSpPr>
        <p:spPr>
          <a:xfrm>
            <a:off x="457200" y="1600200"/>
            <a:ext cx="8228520" cy="5068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Introduction to Scientific Research:</a:t>
            </a:r>
            <a:endParaRPr sz="2000" dirty="0"/>
          </a:p>
          <a:p>
            <a:pPr>
              <a:lnSpc>
                <a:spcPct val="100000"/>
              </a:lnSpc>
            </a:pP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What is 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scientific research?</a:t>
            </a: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Primary versus secondary 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research.</a:t>
            </a: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Underlying </a:t>
            </a: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philosophical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assumptions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 of research and how these influence the student’s discipline, particular research problems and choice of </a:t>
            </a: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research methods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Purpose and nature of </a:t>
            </a: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quantitative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 research, </a:t>
            </a: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qualitative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mixed methods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 research within the student’s discipline.</a:t>
            </a: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Analysing and evaluating </a:t>
            </a: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examples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 of quantitative, qualitative and mixed methods research from the student’s discipline.</a:t>
            </a: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Understanding </a:t>
            </a: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plagiarism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 and its implications.</a:t>
            </a: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b="1" strike="noStrike" dirty="0">
                <a:solidFill>
                  <a:srgbClr val="000000"/>
                </a:solidFill>
                <a:latin typeface="Calibri"/>
                <a:ea typeface="DejaVu Sans"/>
              </a:rPr>
              <a:t>Ethical principles 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in research: minimise harm, autonomy, informed consent, right to privacy, accuracy and protection of data, limitations of use of data.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Module Content</a:t>
            </a:r>
            <a:endParaRPr/>
          </a:p>
        </p:txBody>
      </p:sp>
      <p:sp>
        <p:nvSpPr>
          <p:cNvPr id="162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E" sz="3000" b="1" strike="noStrike">
                <a:solidFill>
                  <a:srgbClr val="000000"/>
                </a:solidFill>
                <a:latin typeface="Calibri"/>
                <a:ea typeface="DejaVu Sans"/>
              </a:rPr>
              <a:t>Literature Searching: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600" strike="noStrike">
                <a:solidFill>
                  <a:srgbClr val="000000"/>
                </a:solidFill>
                <a:latin typeface="Calibri"/>
                <a:ea typeface="DejaVu Sans"/>
              </a:rPr>
              <a:t>The concept of the body of knowledge.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600" strike="noStrike">
                <a:solidFill>
                  <a:srgbClr val="000000"/>
                </a:solidFill>
                <a:latin typeface="Calibri"/>
                <a:ea typeface="DejaVu Sans"/>
              </a:rPr>
              <a:t>Research sources, types and pedigree.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600" strike="noStrike">
                <a:solidFill>
                  <a:srgbClr val="000000"/>
                </a:solidFill>
                <a:latin typeface="Calibri"/>
                <a:ea typeface="DejaVu Sans"/>
              </a:rPr>
              <a:t>Literature search strategies.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600" strike="noStrike">
                <a:solidFill>
                  <a:srgbClr val="000000"/>
                </a:solidFill>
                <a:latin typeface="Calibri"/>
                <a:ea typeface="DejaVu Sans"/>
              </a:rPr>
              <a:t>Sourcing published sources using digital technology.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600" strike="noStrike">
                <a:solidFill>
                  <a:srgbClr val="000000"/>
                </a:solidFill>
                <a:latin typeface="Calibri"/>
                <a:ea typeface="DejaVu Sans"/>
              </a:rPr>
              <a:t>Referencing and citation of different types of sources, using appropriate referencing systems.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600" strike="noStrike">
                <a:solidFill>
                  <a:srgbClr val="000000"/>
                </a:solidFill>
                <a:latin typeface="Calibri"/>
                <a:ea typeface="DejaVu Sans"/>
              </a:rPr>
              <a:t>Reference management tools.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Module Content</a:t>
            </a:r>
            <a:endParaRPr/>
          </a:p>
        </p:txBody>
      </p:sp>
      <p:sp>
        <p:nvSpPr>
          <p:cNvPr id="164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E" sz="2800" b="1" strike="noStrike">
                <a:solidFill>
                  <a:srgbClr val="000000"/>
                </a:solidFill>
                <a:latin typeface="Calibri"/>
                <a:ea typeface="DejaVu Sans"/>
              </a:rPr>
              <a:t>Report Writing: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600" strike="noStrike">
                <a:solidFill>
                  <a:srgbClr val="000000"/>
                </a:solidFill>
                <a:latin typeface="Calibri"/>
                <a:ea typeface="DejaVu Sans"/>
              </a:rPr>
              <a:t>Different types of reports: basic structure; language and style; including images, data, and visualisations.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600" strike="noStrike">
                <a:solidFill>
                  <a:srgbClr val="000000"/>
                </a:solidFill>
                <a:latin typeface="Calibri"/>
                <a:ea typeface="DejaVu Sans"/>
              </a:rPr>
              <a:t>Quoting, paraphrasing, summarising.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600" strike="noStrike">
                <a:solidFill>
                  <a:srgbClr val="000000"/>
                </a:solidFill>
                <a:latin typeface="Calibri"/>
                <a:ea typeface="DejaVu Sans"/>
              </a:rPr>
              <a:t>Proofreading.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600" strike="noStrike">
                <a:solidFill>
                  <a:srgbClr val="000000"/>
                </a:solidFill>
                <a:latin typeface="Calibri"/>
                <a:ea typeface="DejaVu Sans"/>
              </a:rPr>
              <a:t>Checking work for plagiarism using specialized software.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Learning and Teaching Methods</a:t>
            </a:r>
            <a:endParaRPr/>
          </a:p>
        </p:txBody>
      </p:sp>
      <p:sp>
        <p:nvSpPr>
          <p:cNvPr id="166" name="CustomShape 2"/>
          <p:cNvSpPr/>
          <p:nvPr/>
        </p:nvSpPr>
        <p:spPr>
          <a:xfrm>
            <a:off x="457200" y="1600200"/>
            <a:ext cx="8228520" cy="492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u="sng" strike="noStrike" dirty="0">
                <a:solidFill>
                  <a:srgbClr val="000000"/>
                </a:solidFill>
                <a:latin typeface="Calibri"/>
                <a:ea typeface="DejaVu Sans"/>
              </a:rPr>
              <a:t>Student-centred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 learning methods to allow students to learn by practice as much as possible. </a:t>
            </a: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Lectures with opportunities to </a:t>
            </a:r>
            <a:r>
              <a:rPr lang="en-IE" sz="2000" u="sng" strike="noStrike" dirty="0">
                <a:solidFill>
                  <a:srgbClr val="000000"/>
                </a:solidFill>
                <a:latin typeface="Calibri"/>
                <a:ea typeface="DejaVu Sans"/>
              </a:rPr>
              <a:t>discuss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 and clarify the material and to put it into a more cogent and coherent framework.</a:t>
            </a: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Use library and internet based information sources </a:t>
            </a:r>
            <a:r>
              <a:rPr lang="en-IE" sz="2000" u="sng" strike="noStrike" dirty="0">
                <a:solidFill>
                  <a:srgbClr val="000000"/>
                </a:solidFill>
                <a:latin typeface="Calibri"/>
                <a:ea typeface="DejaVu Sans"/>
              </a:rPr>
              <a:t>extensively and pro-actively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Present </a:t>
            </a:r>
            <a:r>
              <a:rPr lang="en-IE" sz="2000" u="sng" strike="noStrike" dirty="0">
                <a:solidFill>
                  <a:srgbClr val="000000"/>
                </a:solidFill>
                <a:latin typeface="Calibri"/>
                <a:ea typeface="DejaVu Sans"/>
              </a:rPr>
              <a:t>problems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, discuss </a:t>
            </a:r>
            <a:r>
              <a:rPr lang="en-IE" sz="2000" u="sng" strike="noStrike" dirty="0">
                <a:solidFill>
                  <a:srgbClr val="000000"/>
                </a:solidFill>
                <a:latin typeface="Calibri"/>
                <a:ea typeface="DejaVu Sans"/>
              </a:rPr>
              <a:t>solutions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 and work independently and in groups. </a:t>
            </a: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Construct a report (or position paper) demonstrating </a:t>
            </a:r>
            <a:r>
              <a:rPr lang="en-IE" sz="2000" u="sng" strike="noStrike" dirty="0">
                <a:solidFill>
                  <a:srgbClr val="000000"/>
                </a:solidFill>
                <a:latin typeface="Calibri"/>
                <a:ea typeface="DejaVu Sans"/>
              </a:rPr>
              <a:t>critical thinking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, appropriate use of </a:t>
            </a:r>
            <a:r>
              <a:rPr lang="en-IE" sz="2000" u="sng" strike="noStrike" dirty="0">
                <a:solidFill>
                  <a:srgbClr val="000000"/>
                </a:solidFill>
                <a:latin typeface="Calibri"/>
                <a:ea typeface="DejaVu Sans"/>
              </a:rPr>
              <a:t>literature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 and their ability to express these appropriately in a written form.</a:t>
            </a:r>
            <a:endParaRPr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Develop </a:t>
            </a:r>
            <a:r>
              <a:rPr lang="en-IE" sz="2000" b="1" strike="noStrike" dirty="0">
                <a:solidFill>
                  <a:srgbClr val="FF0000"/>
                </a:solidFill>
                <a:latin typeface="Calibri"/>
                <a:ea typeface="DejaVu Sans"/>
              </a:rPr>
              <a:t>independence and responsibility </a:t>
            </a:r>
            <a:r>
              <a:rPr lang="en-IE" sz="2000" strike="noStrike" dirty="0">
                <a:solidFill>
                  <a:srgbClr val="000000"/>
                </a:solidFill>
                <a:latin typeface="Calibri"/>
                <a:ea typeface="DejaVu Sans"/>
              </a:rPr>
              <a:t>for their own learning.</a:t>
            </a:r>
            <a:endParaRPr sz="2000" dirty="0"/>
          </a:p>
          <a:p>
            <a:pPr>
              <a:lnSpc>
                <a:spcPct val="100000"/>
              </a:lnSpc>
            </a:pP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Module Assessment</a:t>
            </a:r>
            <a:endParaRPr/>
          </a:p>
        </p:txBody>
      </p:sp>
      <p:sp>
        <p:nvSpPr>
          <p:cNvPr id="168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3300" strike="noStrike">
                <a:solidFill>
                  <a:srgbClr val="000000"/>
                </a:solidFill>
                <a:latin typeface="Calibri"/>
                <a:ea typeface="DejaVu Sans"/>
              </a:rPr>
              <a:t>100% Continuous Assessment: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3300" strike="noStrike">
                <a:solidFill>
                  <a:srgbClr val="000000"/>
                </a:solidFill>
                <a:latin typeface="Calibri"/>
                <a:ea typeface="DejaVu Sans"/>
              </a:rPr>
              <a:t>Provisional Will be finalised next week 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IE" sz="2900" strike="noStrike">
                <a:solidFill>
                  <a:srgbClr val="000000"/>
                </a:solidFill>
                <a:latin typeface="Calibri"/>
                <a:ea typeface="DejaVu Sans"/>
              </a:rPr>
              <a:t>20%: Group work and student Presentations about Research Methods in their specialism – ASD, DA, (SF)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IE" sz="2900" strike="noStrike">
                <a:solidFill>
                  <a:srgbClr val="000000"/>
                </a:solidFill>
                <a:latin typeface="Calibri"/>
                <a:ea typeface="DejaVu Sans"/>
              </a:rPr>
              <a:t>30%: Individual Annotated Bibliography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IE" sz="2900" strike="noStrike">
                <a:solidFill>
                  <a:srgbClr val="000000"/>
                </a:solidFill>
                <a:latin typeface="Calibri"/>
                <a:ea typeface="DejaVu Sans"/>
              </a:rPr>
              <a:t>50%: Individual Literature Review</a:t>
            </a: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E" sz="4400" strike="noStrike" dirty="0">
                <a:solidFill>
                  <a:srgbClr val="000000"/>
                </a:solidFill>
                <a:latin typeface="Calibri"/>
                <a:ea typeface="DejaVu Sans"/>
              </a:rPr>
              <a:t>Last Years Module Schedule</a:t>
            </a:r>
            <a:endParaRPr dirty="0"/>
          </a:p>
          <a:p>
            <a:pPr algn="ctr">
              <a:lnSpc>
                <a:spcPct val="100000"/>
              </a:lnSpc>
            </a:pPr>
            <a:r>
              <a:rPr lang="en-IE" sz="4400" strike="noStrike" dirty="0">
                <a:solidFill>
                  <a:srgbClr val="000000"/>
                </a:solidFill>
                <a:latin typeface="Calibri"/>
                <a:ea typeface="DejaVu Sans"/>
              </a:rPr>
              <a:t>This Years Finalised next week</a:t>
            </a:r>
            <a:endParaRPr dirty="0"/>
          </a:p>
        </p:txBody>
      </p:sp>
      <p:graphicFrame>
        <p:nvGraphicFramePr>
          <p:cNvPr id="170" name="Table 2"/>
          <p:cNvGraphicFramePr/>
          <p:nvPr>
            <p:extLst>
              <p:ext uri="{D42A27DB-BD31-4B8C-83A1-F6EECF244321}">
                <p14:modId xmlns:p14="http://schemas.microsoft.com/office/powerpoint/2010/main" val="998633158"/>
              </p:ext>
            </p:extLst>
          </p:nvPr>
        </p:nvGraphicFramePr>
        <p:xfrm>
          <a:off x="1834560" y="1392120"/>
          <a:ext cx="5474520" cy="5400720"/>
        </p:xfrm>
        <a:graphic>
          <a:graphicData uri="http://schemas.openxmlformats.org/drawingml/2006/table">
            <a:tbl>
              <a:tblPr/>
              <a:tblGrid>
                <a:gridCol w="88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b="1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Week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b="1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Notes: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11-09-2017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18-09-2017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25-09-2017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02-10-2017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09-10-2017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16-10-2017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Student Presentations</a:t>
                      </a:r>
                      <a:endParaRPr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23-10-2017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Student Presentations</a:t>
                      </a:r>
                      <a:endParaRPr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30-10-2017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week</a:t>
                      </a:r>
                      <a:endParaRPr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06-11-2017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13-11-2017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Annotated Bibliography due</a:t>
                      </a:r>
                      <a:endParaRPr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20-11-2017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27-11-2017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>
                          <a:solidFill>
                            <a:srgbClr val="000000"/>
                          </a:solidFill>
                          <a:latin typeface="Calibri"/>
                        </a:rPr>
                        <a:t>04-12-2017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180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Literature Review due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Reading Material</a:t>
            </a:r>
            <a:endParaRPr/>
          </a:p>
        </p:txBody>
      </p:sp>
      <p:sp>
        <p:nvSpPr>
          <p:cNvPr id="172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E" sz="2400" b="1" strike="noStrike">
                <a:solidFill>
                  <a:srgbClr val="000000"/>
                </a:solidFill>
                <a:latin typeface="Calibri"/>
                <a:ea typeface="DejaVu Sans"/>
              </a:rPr>
              <a:t>Essential Reading: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200" strike="noStrike">
                <a:solidFill>
                  <a:srgbClr val="000000"/>
                </a:solidFill>
                <a:latin typeface="Calibri"/>
                <a:ea typeface="DejaVu Sans"/>
              </a:rPr>
              <a:t>Creswell, J. W., 2014, Research Design: Qualitative, Quantitative, and Mixed Methods Approaches (4th Edition), SAGE Publications.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200" strike="noStrike">
                <a:solidFill>
                  <a:srgbClr val="000000"/>
                </a:solidFill>
                <a:latin typeface="Calibri"/>
                <a:ea typeface="DejaVu Sans"/>
              </a:rPr>
              <a:t>Ridley, D., 2008, The Literature Review, SAGE Publications.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200" strike="noStrike">
                <a:solidFill>
                  <a:srgbClr val="000000"/>
                </a:solidFill>
                <a:latin typeface="Calibri"/>
                <a:ea typeface="DejaVu Sans"/>
              </a:rPr>
              <a:t>Rumsey, S., 2004, How to find Information, Open University Press.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200" strike="noStrike">
                <a:solidFill>
                  <a:srgbClr val="000000"/>
                </a:solidFill>
                <a:latin typeface="Calibri"/>
                <a:ea typeface="DejaVu Sans"/>
              </a:rPr>
              <a:t>Fitzpatrick, R., O'Donnell, K., 2003, Crafting a Research Paper, School of Computing Series, DIT.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E" sz="2400" b="1" strike="noStrike">
                <a:solidFill>
                  <a:srgbClr val="000000"/>
                </a:solidFill>
                <a:latin typeface="Calibri"/>
                <a:ea typeface="DejaVu Sans"/>
              </a:rPr>
              <a:t>Supplemental Reading: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200" strike="noStrike">
                <a:solidFill>
                  <a:srgbClr val="000000"/>
                </a:solidFill>
                <a:latin typeface="Calibri"/>
                <a:ea typeface="DejaVu Sans"/>
              </a:rPr>
              <a:t>Alley, M., 1996, The Craft of Scientific Writing (3rd Edition), Springer Publications.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2200" strike="noStrike">
                <a:solidFill>
                  <a:srgbClr val="000000"/>
                </a:solidFill>
                <a:latin typeface="Calibri"/>
                <a:ea typeface="DejaVu Sans"/>
              </a:rPr>
              <a:t>Cooke., A., 2001, A guide to finding quality information on the Internet (2nd Edition), Library Association Publishing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467640" y="263700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Questions?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E" sz="4400" strike="noStrike">
                <a:solidFill>
                  <a:srgbClr val="000000"/>
                </a:solidFill>
                <a:latin typeface="Calibri"/>
                <a:ea typeface="DejaVu Sans"/>
              </a:rPr>
              <a:t>Activity</a:t>
            </a:r>
            <a:endParaRPr/>
          </a:p>
        </p:txBody>
      </p:sp>
      <p:sp>
        <p:nvSpPr>
          <p:cNvPr id="175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IE" sz="3200" strike="noStrike">
                <a:solidFill>
                  <a:srgbClr val="000000"/>
                </a:solidFill>
                <a:latin typeface="Calibri"/>
                <a:ea typeface="DejaVu Sans"/>
              </a:rPr>
              <a:t>Split into 10 groups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E" strike="noStrike">
                <a:solidFill>
                  <a:srgbClr val="000000"/>
                </a:solidFill>
                <a:latin typeface="Arial"/>
                <a:ea typeface="DejaVu Sans"/>
              </a:rPr>
              <a:t>10 Research problems How would you go about  researching it?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Shape 1"/>
          <p:cNvSpPr txBox="1"/>
          <p:nvPr/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trike="noStrike">
                <a:latin typeface="Arial"/>
              </a:rPr>
              <a:t>1: Where in Dublin are traffic accidents most likely to occur?</a:t>
            </a:r>
            <a:endParaRPr/>
          </a:p>
          <a:p>
            <a:endParaRPr/>
          </a:p>
          <a:p>
            <a:r>
              <a:rPr lang="en-US" strike="noStrike">
                <a:latin typeface="Arial"/>
              </a:rPr>
              <a:t>2: How successful are Onl;ne courses in delivering programming skills</a:t>
            </a:r>
            <a:endParaRPr/>
          </a:p>
          <a:p>
            <a:endParaRPr/>
          </a:p>
          <a:p>
            <a:r>
              <a:rPr lang="en-US" strike="noStrike">
                <a:latin typeface="Arial"/>
              </a:rPr>
              <a:t>3: IS first year more difficult than other years at college?</a:t>
            </a:r>
            <a:endParaRPr/>
          </a:p>
          <a:p>
            <a:endParaRPr/>
          </a:p>
          <a:p>
            <a:r>
              <a:rPr lang="en-US" strike="noStrike">
                <a:latin typeface="Arial"/>
              </a:rPr>
              <a:t>4: How hot is the sun?</a:t>
            </a:r>
            <a:endParaRPr/>
          </a:p>
          <a:p>
            <a:endParaRPr/>
          </a:p>
          <a:p>
            <a:r>
              <a:rPr lang="en-US" strike="noStrike">
                <a:latin typeface="Arial"/>
              </a:rPr>
              <a:t>5: What  is the heaviest element?</a:t>
            </a:r>
            <a:endParaRPr/>
          </a:p>
        </p:txBody>
      </p:sp>
      <p:sp>
        <p:nvSpPr>
          <p:cNvPr id="177" name="TextShape 2"/>
          <p:cNvSpPr txBox="1"/>
          <p:nvPr/>
        </p:nvSpPr>
        <p:spPr>
          <a:xfrm>
            <a:off x="454665" y="1484784"/>
            <a:ext cx="4015440" cy="3976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trike="noStrike" dirty="0">
                <a:latin typeface="Arial"/>
              </a:rPr>
              <a:t>  6 Which is the fastest java script framework?</a:t>
            </a:r>
            <a:endParaRPr dirty="0"/>
          </a:p>
          <a:p>
            <a:r>
              <a:rPr lang="en-US" strike="noStrike" dirty="0">
                <a:latin typeface="Arial"/>
              </a:rPr>
              <a:t>7 What students are most likely to succeed in the IT business</a:t>
            </a:r>
            <a:endParaRPr dirty="0"/>
          </a:p>
          <a:p>
            <a:endParaRPr dirty="0"/>
          </a:p>
          <a:p>
            <a:r>
              <a:rPr lang="en-US" strike="noStrike" dirty="0">
                <a:latin typeface="Arial"/>
              </a:rPr>
              <a:t>8: How do we attract more  females into computer science?</a:t>
            </a:r>
            <a:endParaRPr dirty="0"/>
          </a:p>
          <a:p>
            <a:endParaRPr dirty="0"/>
          </a:p>
          <a:p>
            <a:r>
              <a:rPr lang="en-US" strike="noStrike" dirty="0">
                <a:latin typeface="Arial"/>
              </a:rPr>
              <a:t>9. This app is easier  to use than  the other one</a:t>
            </a:r>
            <a:endParaRPr dirty="0"/>
          </a:p>
          <a:p>
            <a:endParaRPr dirty="0"/>
          </a:p>
          <a:p>
            <a:r>
              <a:rPr lang="en-US" strike="noStrike" dirty="0">
                <a:latin typeface="Arial"/>
              </a:rPr>
              <a:t>10 peer mentoring is the best way to teach </a:t>
            </a:r>
            <a:r>
              <a:rPr lang="en-US" strike="noStrike" dirty="0" err="1">
                <a:latin typeface="Arial"/>
              </a:rPr>
              <a:t>computin</a:t>
            </a:r>
            <a:r>
              <a:rPr lang="en-US" strike="noStrike" dirty="0">
                <a:latin typeface="Arial"/>
              </a:rPr>
              <a:t>.</a:t>
            </a:r>
            <a:endParaRPr dirty="0"/>
          </a:p>
        </p:txBody>
      </p:sp>
      <p:sp>
        <p:nvSpPr>
          <p:cNvPr id="178" name="TextShape 3"/>
          <p:cNvSpPr txBox="1"/>
          <p:nvPr/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n-US" strike="noStrike">
                <a:latin typeface="Arial"/>
              </a:rPr>
              <a:t>Research Topics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985</Words>
  <Application>Microsoft Office PowerPoint</Application>
  <PresentationFormat>On-screen Show (4:3)</PresentationFormat>
  <Paragraphs>136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StarSymbol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with Persistent Data Lecture 6</dc:title>
  <dc:creator>Diana Carvalho e Ferreira</dc:creator>
  <cp:lastModifiedBy>Eamonn Kelly</cp:lastModifiedBy>
  <cp:revision>110</cp:revision>
  <dcterms:created xsi:type="dcterms:W3CDTF">2013-03-04T18:01:26Z</dcterms:created>
  <dcterms:modified xsi:type="dcterms:W3CDTF">2026-02-02T10:40:50Z</dcterms:modified>
  <dc:language>en-IE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17</vt:i4>
  </property>
</Properties>
</file>