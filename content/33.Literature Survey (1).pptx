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4" r:id="rId3"/>
    <p:sldId id="273" r:id="rId4"/>
    <p:sldId id="257" r:id="rId5"/>
    <p:sldId id="260" r:id="rId6"/>
    <p:sldId id="276" r:id="rId7"/>
    <p:sldId id="277" r:id="rId8"/>
    <p:sldId id="278" r:id="rId9"/>
    <p:sldId id="279"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5" r:id="rId23"/>
    <p:sldId id="280" r:id="rId24"/>
    <p:sldId id="282" r:id="rId25"/>
    <p:sldId id="281" r:id="rId26"/>
    <p:sldId id="283" r:id="rId27"/>
    <p:sldId id="286" r:id="rId28"/>
    <p:sldId id="287" r:id="rId29"/>
    <p:sldId id="284" r:id="rId30"/>
    <p:sldId id="285" r:id="rId31"/>
    <p:sldId id="288" r:id="rId32"/>
    <p:sldId id="289" r:id="rId33"/>
    <p:sldId id="290" r:id="rId34"/>
    <p:sldId id="291" r:id="rId35"/>
    <p:sldId id="292" r:id="rId36"/>
    <p:sldId id="293" r:id="rId37"/>
    <p:sldId id="294" r:id="rId38"/>
    <p:sldId id="295" r:id="rId39"/>
    <p:sldId id="300" r:id="rId40"/>
    <p:sldId id="296" r:id="rId41"/>
    <p:sldId id="297" r:id="rId42"/>
    <p:sldId id="298" r:id="rId43"/>
    <p:sldId id="299" r:id="rId44"/>
    <p:sldId id="310" r:id="rId45"/>
    <p:sldId id="301" r:id="rId46"/>
    <p:sldId id="302" r:id="rId47"/>
    <p:sldId id="303" r:id="rId48"/>
    <p:sldId id="304" r:id="rId49"/>
    <p:sldId id="305" r:id="rId50"/>
    <p:sldId id="306" r:id="rId51"/>
    <p:sldId id="307" r:id="rId52"/>
    <p:sldId id="308" r:id="rId53"/>
    <p:sldId id="309" r:id="rId5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1" d="100"/>
          <a:sy n="71" d="100"/>
        </p:scale>
        <p:origin x="-1500" y="-10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E"/>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E"/>
          </a:p>
        </p:txBody>
      </p:sp>
      <p:sp>
        <p:nvSpPr>
          <p:cNvPr id="4" name="Date Placeholder 3"/>
          <p:cNvSpPr>
            <a:spLocks noGrp="1"/>
          </p:cNvSpPr>
          <p:nvPr>
            <p:ph type="dt" sz="half" idx="10"/>
          </p:nvPr>
        </p:nvSpPr>
        <p:spPr/>
        <p:txBody>
          <a:bodyPr/>
          <a:lstStyle/>
          <a:p>
            <a:fld id="{BCA9D1B4-EB2A-446A-BAC1-8146E364079D}" type="datetimeFigureOut">
              <a:rPr lang="en-IE" smtClean="0"/>
              <a:t>07/12/2020</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78544F21-0FF4-457A-A150-93CD3F0CEC95}" type="slidenum">
              <a:rPr lang="en-IE" smtClean="0"/>
              <a:t>‹#›</a:t>
            </a:fld>
            <a:endParaRPr lang="en-IE"/>
          </a:p>
        </p:txBody>
      </p:sp>
    </p:spTree>
    <p:extLst>
      <p:ext uri="{BB962C8B-B14F-4D97-AF65-F5344CB8AC3E}">
        <p14:creationId xmlns:p14="http://schemas.microsoft.com/office/powerpoint/2010/main" val="3812360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E"/>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E"/>
          </a:p>
        </p:txBody>
      </p:sp>
      <p:sp>
        <p:nvSpPr>
          <p:cNvPr id="4" name="Date Placeholder 3"/>
          <p:cNvSpPr>
            <a:spLocks noGrp="1"/>
          </p:cNvSpPr>
          <p:nvPr>
            <p:ph type="dt" sz="half" idx="10"/>
          </p:nvPr>
        </p:nvSpPr>
        <p:spPr/>
        <p:txBody>
          <a:bodyPr/>
          <a:lstStyle/>
          <a:p>
            <a:fld id="{BCA9D1B4-EB2A-446A-BAC1-8146E364079D}" type="datetimeFigureOut">
              <a:rPr lang="en-IE" smtClean="0"/>
              <a:t>07/12/2020</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78544F21-0FF4-457A-A150-93CD3F0CEC95}" type="slidenum">
              <a:rPr lang="en-IE" smtClean="0"/>
              <a:t>‹#›</a:t>
            </a:fld>
            <a:endParaRPr lang="en-IE"/>
          </a:p>
        </p:txBody>
      </p:sp>
    </p:spTree>
    <p:extLst>
      <p:ext uri="{BB962C8B-B14F-4D97-AF65-F5344CB8AC3E}">
        <p14:creationId xmlns:p14="http://schemas.microsoft.com/office/powerpoint/2010/main" val="13216504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E"/>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CA9D1B4-EB2A-446A-BAC1-8146E364079D}" type="datetimeFigureOut">
              <a:rPr lang="en-IE" smtClean="0"/>
              <a:t>07/12/2020</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78544F21-0FF4-457A-A150-93CD3F0CEC95}" type="slidenum">
              <a:rPr lang="en-IE" smtClean="0"/>
              <a:t>‹#›</a:t>
            </a:fld>
            <a:endParaRPr lang="en-IE"/>
          </a:p>
        </p:txBody>
      </p:sp>
    </p:spTree>
    <p:extLst>
      <p:ext uri="{BB962C8B-B14F-4D97-AF65-F5344CB8AC3E}">
        <p14:creationId xmlns:p14="http://schemas.microsoft.com/office/powerpoint/2010/main" val="1380968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E"/>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E"/>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E"/>
          </a:p>
        </p:txBody>
      </p:sp>
      <p:sp>
        <p:nvSpPr>
          <p:cNvPr id="5" name="Date Placeholder 4"/>
          <p:cNvSpPr>
            <a:spLocks noGrp="1"/>
          </p:cNvSpPr>
          <p:nvPr>
            <p:ph type="dt" sz="half" idx="10"/>
          </p:nvPr>
        </p:nvSpPr>
        <p:spPr/>
        <p:txBody>
          <a:bodyPr/>
          <a:lstStyle/>
          <a:p>
            <a:fld id="{BCA9D1B4-EB2A-446A-BAC1-8146E364079D}" type="datetimeFigureOut">
              <a:rPr lang="en-IE" smtClean="0"/>
              <a:t>07/12/2020</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78544F21-0FF4-457A-A150-93CD3F0CEC95}" type="slidenum">
              <a:rPr lang="en-IE" smtClean="0"/>
              <a:t>‹#›</a:t>
            </a:fld>
            <a:endParaRPr lang="en-IE"/>
          </a:p>
        </p:txBody>
      </p:sp>
    </p:spTree>
    <p:extLst>
      <p:ext uri="{BB962C8B-B14F-4D97-AF65-F5344CB8AC3E}">
        <p14:creationId xmlns:p14="http://schemas.microsoft.com/office/powerpoint/2010/main" val="11898515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E"/>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E"/>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E"/>
          </a:p>
        </p:txBody>
      </p:sp>
      <p:sp>
        <p:nvSpPr>
          <p:cNvPr id="7" name="Date Placeholder 6"/>
          <p:cNvSpPr>
            <a:spLocks noGrp="1"/>
          </p:cNvSpPr>
          <p:nvPr>
            <p:ph type="dt" sz="half" idx="10"/>
          </p:nvPr>
        </p:nvSpPr>
        <p:spPr/>
        <p:txBody>
          <a:bodyPr/>
          <a:lstStyle/>
          <a:p>
            <a:fld id="{BCA9D1B4-EB2A-446A-BAC1-8146E364079D}" type="datetimeFigureOut">
              <a:rPr lang="en-IE" smtClean="0"/>
              <a:t>07/12/2020</a:t>
            </a:fld>
            <a:endParaRPr lang="en-IE"/>
          </a:p>
        </p:txBody>
      </p:sp>
      <p:sp>
        <p:nvSpPr>
          <p:cNvPr id="8" name="Footer Placeholder 7"/>
          <p:cNvSpPr>
            <a:spLocks noGrp="1"/>
          </p:cNvSpPr>
          <p:nvPr>
            <p:ph type="ftr" sz="quarter" idx="11"/>
          </p:nvPr>
        </p:nvSpPr>
        <p:spPr/>
        <p:txBody>
          <a:bodyPr/>
          <a:lstStyle/>
          <a:p>
            <a:endParaRPr lang="en-IE"/>
          </a:p>
        </p:txBody>
      </p:sp>
      <p:sp>
        <p:nvSpPr>
          <p:cNvPr id="9" name="Slide Number Placeholder 8"/>
          <p:cNvSpPr>
            <a:spLocks noGrp="1"/>
          </p:cNvSpPr>
          <p:nvPr>
            <p:ph type="sldNum" sz="quarter" idx="12"/>
          </p:nvPr>
        </p:nvSpPr>
        <p:spPr/>
        <p:txBody>
          <a:bodyPr/>
          <a:lstStyle/>
          <a:p>
            <a:fld id="{78544F21-0FF4-457A-A150-93CD3F0CEC95}" type="slidenum">
              <a:rPr lang="en-IE" smtClean="0"/>
              <a:t>‹#›</a:t>
            </a:fld>
            <a:endParaRPr lang="en-IE"/>
          </a:p>
        </p:txBody>
      </p:sp>
    </p:spTree>
    <p:extLst>
      <p:ext uri="{BB962C8B-B14F-4D97-AF65-F5344CB8AC3E}">
        <p14:creationId xmlns:p14="http://schemas.microsoft.com/office/powerpoint/2010/main" val="26178700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E"/>
          </a:p>
        </p:txBody>
      </p:sp>
      <p:sp>
        <p:nvSpPr>
          <p:cNvPr id="3" name="Date Placeholder 2"/>
          <p:cNvSpPr>
            <a:spLocks noGrp="1"/>
          </p:cNvSpPr>
          <p:nvPr>
            <p:ph type="dt" sz="half" idx="10"/>
          </p:nvPr>
        </p:nvSpPr>
        <p:spPr/>
        <p:txBody>
          <a:bodyPr/>
          <a:lstStyle/>
          <a:p>
            <a:fld id="{BCA9D1B4-EB2A-446A-BAC1-8146E364079D}" type="datetimeFigureOut">
              <a:rPr lang="en-IE" smtClean="0"/>
              <a:t>07/12/2020</a:t>
            </a:fld>
            <a:endParaRPr lang="en-IE"/>
          </a:p>
        </p:txBody>
      </p:sp>
      <p:sp>
        <p:nvSpPr>
          <p:cNvPr id="4" name="Footer Placeholder 3"/>
          <p:cNvSpPr>
            <a:spLocks noGrp="1"/>
          </p:cNvSpPr>
          <p:nvPr>
            <p:ph type="ftr" sz="quarter" idx="11"/>
          </p:nvPr>
        </p:nvSpPr>
        <p:spPr/>
        <p:txBody>
          <a:bodyPr/>
          <a:lstStyle/>
          <a:p>
            <a:endParaRPr lang="en-IE"/>
          </a:p>
        </p:txBody>
      </p:sp>
      <p:sp>
        <p:nvSpPr>
          <p:cNvPr id="5" name="Slide Number Placeholder 4"/>
          <p:cNvSpPr>
            <a:spLocks noGrp="1"/>
          </p:cNvSpPr>
          <p:nvPr>
            <p:ph type="sldNum" sz="quarter" idx="12"/>
          </p:nvPr>
        </p:nvSpPr>
        <p:spPr/>
        <p:txBody>
          <a:bodyPr/>
          <a:lstStyle/>
          <a:p>
            <a:fld id="{78544F21-0FF4-457A-A150-93CD3F0CEC95}" type="slidenum">
              <a:rPr lang="en-IE" smtClean="0"/>
              <a:t>‹#›</a:t>
            </a:fld>
            <a:endParaRPr lang="en-IE"/>
          </a:p>
        </p:txBody>
      </p:sp>
    </p:spTree>
    <p:extLst>
      <p:ext uri="{BB962C8B-B14F-4D97-AF65-F5344CB8AC3E}">
        <p14:creationId xmlns:p14="http://schemas.microsoft.com/office/powerpoint/2010/main" val="8584932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A9D1B4-EB2A-446A-BAC1-8146E364079D}" type="datetimeFigureOut">
              <a:rPr lang="en-IE" smtClean="0"/>
              <a:t>07/12/2020</a:t>
            </a:fld>
            <a:endParaRPr lang="en-IE"/>
          </a:p>
        </p:txBody>
      </p:sp>
      <p:sp>
        <p:nvSpPr>
          <p:cNvPr id="3" name="Footer Placeholder 2"/>
          <p:cNvSpPr>
            <a:spLocks noGrp="1"/>
          </p:cNvSpPr>
          <p:nvPr>
            <p:ph type="ftr" sz="quarter" idx="11"/>
          </p:nvPr>
        </p:nvSpPr>
        <p:spPr/>
        <p:txBody>
          <a:bodyPr/>
          <a:lstStyle/>
          <a:p>
            <a:endParaRPr lang="en-IE"/>
          </a:p>
        </p:txBody>
      </p:sp>
      <p:sp>
        <p:nvSpPr>
          <p:cNvPr id="4" name="Slide Number Placeholder 3"/>
          <p:cNvSpPr>
            <a:spLocks noGrp="1"/>
          </p:cNvSpPr>
          <p:nvPr>
            <p:ph type="sldNum" sz="quarter" idx="12"/>
          </p:nvPr>
        </p:nvSpPr>
        <p:spPr/>
        <p:txBody>
          <a:bodyPr/>
          <a:lstStyle/>
          <a:p>
            <a:fld id="{78544F21-0FF4-457A-A150-93CD3F0CEC95}" type="slidenum">
              <a:rPr lang="en-IE" smtClean="0"/>
              <a:t>‹#›</a:t>
            </a:fld>
            <a:endParaRPr lang="en-IE"/>
          </a:p>
        </p:txBody>
      </p:sp>
    </p:spTree>
    <p:extLst>
      <p:ext uri="{BB962C8B-B14F-4D97-AF65-F5344CB8AC3E}">
        <p14:creationId xmlns:p14="http://schemas.microsoft.com/office/powerpoint/2010/main" val="3979403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E"/>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E"/>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A9D1B4-EB2A-446A-BAC1-8146E364079D}" type="datetimeFigureOut">
              <a:rPr lang="en-IE" smtClean="0"/>
              <a:t>07/12/2020</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78544F21-0FF4-457A-A150-93CD3F0CEC95}" type="slidenum">
              <a:rPr lang="en-IE" smtClean="0"/>
              <a:t>‹#›</a:t>
            </a:fld>
            <a:endParaRPr lang="en-IE"/>
          </a:p>
        </p:txBody>
      </p:sp>
    </p:spTree>
    <p:extLst>
      <p:ext uri="{BB962C8B-B14F-4D97-AF65-F5344CB8AC3E}">
        <p14:creationId xmlns:p14="http://schemas.microsoft.com/office/powerpoint/2010/main" val="41764018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E"/>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A9D1B4-EB2A-446A-BAC1-8146E364079D}" type="datetimeFigureOut">
              <a:rPr lang="en-IE" smtClean="0"/>
              <a:t>07/12/2020</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78544F21-0FF4-457A-A150-93CD3F0CEC95}" type="slidenum">
              <a:rPr lang="en-IE" smtClean="0"/>
              <a:t>‹#›</a:t>
            </a:fld>
            <a:endParaRPr lang="en-IE"/>
          </a:p>
        </p:txBody>
      </p:sp>
    </p:spTree>
    <p:extLst>
      <p:ext uri="{BB962C8B-B14F-4D97-AF65-F5344CB8AC3E}">
        <p14:creationId xmlns:p14="http://schemas.microsoft.com/office/powerpoint/2010/main" val="3467543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E"/>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E"/>
          </a:p>
        </p:txBody>
      </p:sp>
      <p:sp>
        <p:nvSpPr>
          <p:cNvPr id="4" name="Date Placeholder 3"/>
          <p:cNvSpPr>
            <a:spLocks noGrp="1"/>
          </p:cNvSpPr>
          <p:nvPr>
            <p:ph type="dt" sz="half" idx="10"/>
          </p:nvPr>
        </p:nvSpPr>
        <p:spPr/>
        <p:txBody>
          <a:bodyPr/>
          <a:lstStyle/>
          <a:p>
            <a:fld id="{BCA9D1B4-EB2A-446A-BAC1-8146E364079D}" type="datetimeFigureOut">
              <a:rPr lang="en-IE" smtClean="0"/>
              <a:t>07/12/2020</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78544F21-0FF4-457A-A150-93CD3F0CEC95}" type="slidenum">
              <a:rPr lang="en-IE" smtClean="0"/>
              <a:t>‹#›</a:t>
            </a:fld>
            <a:endParaRPr lang="en-IE"/>
          </a:p>
        </p:txBody>
      </p:sp>
    </p:spTree>
    <p:extLst>
      <p:ext uri="{BB962C8B-B14F-4D97-AF65-F5344CB8AC3E}">
        <p14:creationId xmlns:p14="http://schemas.microsoft.com/office/powerpoint/2010/main" val="7999359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E"/>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E"/>
          </a:p>
        </p:txBody>
      </p:sp>
      <p:sp>
        <p:nvSpPr>
          <p:cNvPr id="4" name="Date Placeholder 3"/>
          <p:cNvSpPr>
            <a:spLocks noGrp="1"/>
          </p:cNvSpPr>
          <p:nvPr>
            <p:ph type="dt" sz="half" idx="10"/>
          </p:nvPr>
        </p:nvSpPr>
        <p:spPr/>
        <p:txBody>
          <a:bodyPr/>
          <a:lstStyle/>
          <a:p>
            <a:fld id="{BCA9D1B4-EB2A-446A-BAC1-8146E364079D}" type="datetimeFigureOut">
              <a:rPr lang="en-IE" smtClean="0"/>
              <a:t>07/12/2020</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78544F21-0FF4-457A-A150-93CD3F0CEC95}" type="slidenum">
              <a:rPr lang="en-IE" smtClean="0"/>
              <a:t>‹#›</a:t>
            </a:fld>
            <a:endParaRPr lang="en-IE"/>
          </a:p>
        </p:txBody>
      </p:sp>
    </p:spTree>
    <p:extLst>
      <p:ext uri="{BB962C8B-B14F-4D97-AF65-F5344CB8AC3E}">
        <p14:creationId xmlns:p14="http://schemas.microsoft.com/office/powerpoint/2010/main" val="27324155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E"/>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E"/>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A9D1B4-EB2A-446A-BAC1-8146E364079D}" type="datetimeFigureOut">
              <a:rPr lang="en-IE" smtClean="0"/>
              <a:t>07/12/2020</a:t>
            </a:fld>
            <a:endParaRPr lang="en-IE"/>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E"/>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544F21-0FF4-457A-A150-93CD3F0CEC95}" type="slidenum">
              <a:rPr lang="en-IE" smtClean="0"/>
              <a:t>‹#›</a:t>
            </a:fld>
            <a:endParaRPr lang="en-IE"/>
          </a:p>
        </p:txBody>
      </p:sp>
    </p:spTree>
    <p:extLst>
      <p:ext uri="{BB962C8B-B14F-4D97-AF65-F5344CB8AC3E}">
        <p14:creationId xmlns:p14="http://schemas.microsoft.com/office/powerpoint/2010/main" val="1925930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riting.wisc.edu/handbook/assignments/writing-an-abstract-for-your-research-paper/"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writing.wisc.edu/handbook/assignments/planresearchpaper/"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E" dirty="0"/>
          </a:p>
        </p:txBody>
      </p:sp>
      <p:sp>
        <p:nvSpPr>
          <p:cNvPr id="3" name="Subtitle 2"/>
          <p:cNvSpPr>
            <a:spLocks noGrp="1"/>
          </p:cNvSpPr>
          <p:nvPr>
            <p:ph type="subTitle" idx="1"/>
          </p:nvPr>
        </p:nvSpPr>
        <p:spPr/>
        <p:txBody>
          <a:bodyPr/>
          <a:lstStyle/>
          <a:p>
            <a:endParaRPr lang="en-IE"/>
          </a:p>
        </p:txBody>
      </p:sp>
    </p:spTree>
    <p:extLst>
      <p:ext uri="{BB962C8B-B14F-4D97-AF65-F5344CB8AC3E}">
        <p14:creationId xmlns:p14="http://schemas.microsoft.com/office/powerpoint/2010/main" val="55923859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Title</a:t>
            </a:r>
            <a:endParaRPr lang="en-IE" dirty="0"/>
          </a:p>
        </p:txBody>
      </p:sp>
      <p:sp>
        <p:nvSpPr>
          <p:cNvPr id="3" name="Content Placeholder 2"/>
          <p:cNvSpPr>
            <a:spLocks noGrp="1"/>
          </p:cNvSpPr>
          <p:nvPr>
            <p:ph idx="1"/>
          </p:nvPr>
        </p:nvSpPr>
        <p:spPr/>
        <p:txBody>
          <a:bodyPr/>
          <a:lstStyle/>
          <a:p>
            <a:r>
              <a:rPr lang="en-IE" dirty="0" smtClean="0"/>
              <a:t>The Title should be a one line description of what the paper is about</a:t>
            </a:r>
          </a:p>
          <a:p>
            <a:r>
              <a:rPr lang="en-IE" dirty="0" smtClean="0"/>
              <a:t>It should mention the topic- the kind of study-the approach taken e.g. Deep Learning </a:t>
            </a:r>
            <a:r>
              <a:rPr lang="en-IE" dirty="0" err="1" smtClean="0"/>
              <a:t>etc</a:t>
            </a:r>
            <a:endParaRPr lang="en-IE" dirty="0" smtClean="0"/>
          </a:p>
        </p:txBody>
      </p:sp>
    </p:spTree>
    <p:extLst>
      <p:ext uri="{BB962C8B-B14F-4D97-AF65-F5344CB8AC3E}">
        <p14:creationId xmlns:p14="http://schemas.microsoft.com/office/powerpoint/2010/main" val="375747665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b="1" dirty="0" smtClean="0"/>
              <a:t>Writing an Abstract for Your Research Paper</a:t>
            </a:r>
            <a:endParaRPr lang="en-IE" dirty="0"/>
          </a:p>
        </p:txBody>
      </p:sp>
      <p:sp>
        <p:nvSpPr>
          <p:cNvPr id="3" name="Content Placeholder 2"/>
          <p:cNvSpPr>
            <a:spLocks noGrp="1"/>
          </p:cNvSpPr>
          <p:nvPr>
            <p:ph idx="1"/>
          </p:nvPr>
        </p:nvSpPr>
        <p:spPr/>
        <p:txBody>
          <a:bodyPr/>
          <a:lstStyle/>
          <a:p>
            <a:endParaRPr lang="en-IE" dirty="0"/>
          </a:p>
        </p:txBody>
      </p:sp>
    </p:spTree>
    <p:extLst>
      <p:ext uri="{BB962C8B-B14F-4D97-AF65-F5344CB8AC3E}">
        <p14:creationId xmlns:p14="http://schemas.microsoft.com/office/powerpoint/2010/main" val="420405626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b="1" dirty="0" smtClean="0"/>
              <a:t>Definition and Purpose of Abstracts</a:t>
            </a:r>
            <a:endParaRPr lang="en-IE" dirty="0"/>
          </a:p>
        </p:txBody>
      </p:sp>
      <p:sp>
        <p:nvSpPr>
          <p:cNvPr id="3" name="Content Placeholder 2"/>
          <p:cNvSpPr>
            <a:spLocks noGrp="1"/>
          </p:cNvSpPr>
          <p:nvPr>
            <p:ph idx="1"/>
          </p:nvPr>
        </p:nvSpPr>
        <p:spPr/>
        <p:txBody>
          <a:bodyPr>
            <a:normAutofit fontScale="85000" lnSpcReduction="20000"/>
          </a:bodyPr>
          <a:lstStyle/>
          <a:p>
            <a:pPr marL="0" indent="0">
              <a:buNone/>
            </a:pPr>
            <a:r>
              <a:rPr lang="en-IE" dirty="0" smtClean="0"/>
              <a:t>An abstract is a short summary of your (published or unpublished) research paper, usually about a paragraph (c. 6-7 sentences, 150-250 words) long. A well-written abstract serves multiple purposes:</a:t>
            </a:r>
          </a:p>
          <a:p>
            <a:r>
              <a:rPr lang="en-IE" dirty="0" smtClean="0"/>
              <a:t>an abstract lets readers get the gist or essence of your paper or article quickly, in order to decide whether to read the full paper;</a:t>
            </a:r>
          </a:p>
          <a:p>
            <a:r>
              <a:rPr lang="en-IE" dirty="0" smtClean="0"/>
              <a:t>an abstract prepares readers to follow the detailed information, analyses, and arguments in your full paper;</a:t>
            </a:r>
          </a:p>
          <a:p>
            <a:r>
              <a:rPr lang="en-IE" dirty="0" smtClean="0"/>
              <a:t>and, later, an abstract helps readers remember key points from your paper.</a:t>
            </a:r>
          </a:p>
        </p:txBody>
      </p:sp>
    </p:spTree>
    <p:extLst>
      <p:ext uri="{BB962C8B-B14F-4D97-AF65-F5344CB8AC3E}">
        <p14:creationId xmlns:p14="http://schemas.microsoft.com/office/powerpoint/2010/main" val="261310626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E" sz="3200" dirty="0" smtClean="0"/>
              <a:t>Typical kinds of information found in most abstracts:</a:t>
            </a:r>
            <a:br>
              <a:rPr lang="en-IE" sz="3200" dirty="0" smtClean="0"/>
            </a:br>
            <a:endParaRPr lang="en-IE" sz="3200" dirty="0"/>
          </a:p>
        </p:txBody>
      </p:sp>
      <p:sp>
        <p:nvSpPr>
          <p:cNvPr id="3" name="Content Placeholder 2"/>
          <p:cNvSpPr>
            <a:spLocks noGrp="1"/>
          </p:cNvSpPr>
          <p:nvPr>
            <p:ph idx="1"/>
          </p:nvPr>
        </p:nvSpPr>
        <p:spPr/>
        <p:txBody>
          <a:bodyPr>
            <a:normAutofit fontScale="70000" lnSpcReduction="20000"/>
          </a:bodyPr>
          <a:lstStyle/>
          <a:p>
            <a:r>
              <a:rPr lang="en-IE" dirty="0" smtClean="0"/>
              <a:t>the </a:t>
            </a:r>
            <a:r>
              <a:rPr lang="en-IE" b="1" dirty="0" smtClean="0"/>
              <a:t>context</a:t>
            </a:r>
            <a:r>
              <a:rPr lang="en-IE" dirty="0" smtClean="0"/>
              <a:t> or background information for your research; the </a:t>
            </a:r>
            <a:r>
              <a:rPr lang="en-IE" b="1" dirty="0" smtClean="0"/>
              <a:t>general topic</a:t>
            </a:r>
            <a:r>
              <a:rPr lang="en-IE" dirty="0" smtClean="0"/>
              <a:t> under study; the </a:t>
            </a:r>
            <a:r>
              <a:rPr lang="en-IE" b="1" dirty="0" smtClean="0"/>
              <a:t>specific topic</a:t>
            </a:r>
            <a:r>
              <a:rPr lang="en-IE" dirty="0" smtClean="0"/>
              <a:t> of your research</a:t>
            </a:r>
          </a:p>
          <a:p>
            <a:r>
              <a:rPr lang="en-IE" dirty="0" smtClean="0"/>
              <a:t>the </a:t>
            </a:r>
            <a:r>
              <a:rPr lang="en-IE" b="1" dirty="0" smtClean="0"/>
              <a:t>central questions</a:t>
            </a:r>
            <a:r>
              <a:rPr lang="en-IE" dirty="0" smtClean="0"/>
              <a:t> or statement of the </a:t>
            </a:r>
            <a:r>
              <a:rPr lang="en-IE" b="1" dirty="0" smtClean="0"/>
              <a:t>problem</a:t>
            </a:r>
            <a:r>
              <a:rPr lang="en-IE" dirty="0" smtClean="0"/>
              <a:t> your research addresses</a:t>
            </a:r>
          </a:p>
          <a:p>
            <a:r>
              <a:rPr lang="en-IE" b="1" dirty="0" smtClean="0"/>
              <a:t>what’s already known</a:t>
            </a:r>
            <a:r>
              <a:rPr lang="en-IE" dirty="0" smtClean="0"/>
              <a:t> about this question, what </a:t>
            </a:r>
            <a:r>
              <a:rPr lang="en-IE" b="1" dirty="0" smtClean="0"/>
              <a:t>previous research</a:t>
            </a:r>
            <a:r>
              <a:rPr lang="en-IE" dirty="0" smtClean="0"/>
              <a:t> has done or shown</a:t>
            </a:r>
          </a:p>
          <a:p>
            <a:r>
              <a:rPr lang="en-IE" dirty="0" smtClean="0"/>
              <a:t>the main </a:t>
            </a:r>
            <a:r>
              <a:rPr lang="en-IE" b="1" dirty="0" smtClean="0"/>
              <a:t>reason(s)</a:t>
            </a:r>
            <a:r>
              <a:rPr lang="en-IE" dirty="0" smtClean="0"/>
              <a:t>, the exigency, the </a:t>
            </a:r>
            <a:r>
              <a:rPr lang="en-IE" b="1" dirty="0" smtClean="0"/>
              <a:t>rationale</a:t>
            </a:r>
            <a:r>
              <a:rPr lang="en-IE" dirty="0" smtClean="0"/>
              <a:t>, the </a:t>
            </a:r>
            <a:r>
              <a:rPr lang="en-IE" b="1" dirty="0" smtClean="0"/>
              <a:t>goals</a:t>
            </a:r>
            <a:r>
              <a:rPr lang="en-IE" dirty="0" smtClean="0"/>
              <a:t> for your research—Why is it important to address these questions? Are you, for example, examining a new topic? Why is that topic worth examining? Are you filling a gap in previous research? Applying new methods to take a fresh look at existing ideas or data? Resolving a dispute within the literature in your field? . . .</a:t>
            </a:r>
          </a:p>
          <a:p>
            <a:r>
              <a:rPr lang="en-IE" dirty="0" smtClean="0"/>
              <a:t>your research and/or analytical </a:t>
            </a:r>
            <a:r>
              <a:rPr lang="en-IE" b="1" dirty="0" smtClean="0"/>
              <a:t>methods</a:t>
            </a:r>
            <a:endParaRPr lang="en-IE" dirty="0" smtClean="0"/>
          </a:p>
          <a:p>
            <a:r>
              <a:rPr lang="en-IE" dirty="0" smtClean="0"/>
              <a:t>your main </a:t>
            </a:r>
            <a:r>
              <a:rPr lang="en-IE" b="1" dirty="0" smtClean="0"/>
              <a:t>findings</a:t>
            </a:r>
            <a:r>
              <a:rPr lang="en-IE" dirty="0" smtClean="0"/>
              <a:t>, </a:t>
            </a:r>
            <a:r>
              <a:rPr lang="en-IE" b="1" dirty="0" smtClean="0"/>
              <a:t>results</a:t>
            </a:r>
            <a:r>
              <a:rPr lang="en-IE" dirty="0" smtClean="0"/>
              <a:t>, or </a:t>
            </a:r>
            <a:r>
              <a:rPr lang="en-IE" b="1" dirty="0" smtClean="0"/>
              <a:t>arguments</a:t>
            </a:r>
            <a:endParaRPr lang="en-IE" dirty="0" smtClean="0"/>
          </a:p>
          <a:p>
            <a:r>
              <a:rPr lang="en-IE" dirty="0" smtClean="0"/>
              <a:t>the </a:t>
            </a:r>
            <a:r>
              <a:rPr lang="en-IE" b="1" dirty="0" smtClean="0"/>
              <a:t>significance</a:t>
            </a:r>
            <a:r>
              <a:rPr lang="en-IE" dirty="0" smtClean="0"/>
              <a:t> or </a:t>
            </a:r>
            <a:r>
              <a:rPr lang="en-IE" b="1" dirty="0" smtClean="0"/>
              <a:t>implications</a:t>
            </a:r>
            <a:r>
              <a:rPr lang="en-IE" dirty="0" smtClean="0"/>
              <a:t> of your findings or arguments.</a:t>
            </a:r>
          </a:p>
          <a:p>
            <a:endParaRPr lang="en-IE" dirty="0" smtClean="0"/>
          </a:p>
          <a:p>
            <a:endParaRPr lang="en-IE" dirty="0"/>
          </a:p>
        </p:txBody>
      </p:sp>
    </p:spTree>
    <p:extLst>
      <p:ext uri="{BB962C8B-B14F-4D97-AF65-F5344CB8AC3E}">
        <p14:creationId xmlns:p14="http://schemas.microsoft.com/office/powerpoint/2010/main" val="44764104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Background</a:t>
            </a:r>
            <a:endParaRPr lang="en-IE" dirty="0"/>
          </a:p>
        </p:txBody>
      </p:sp>
      <p:sp>
        <p:nvSpPr>
          <p:cNvPr id="3" name="Content Placeholder 2"/>
          <p:cNvSpPr>
            <a:spLocks noGrp="1"/>
          </p:cNvSpPr>
          <p:nvPr>
            <p:ph idx="1"/>
          </p:nvPr>
        </p:nvSpPr>
        <p:spPr/>
        <p:txBody>
          <a:bodyPr/>
          <a:lstStyle/>
          <a:p>
            <a:r>
              <a:rPr lang="en-IE" dirty="0" smtClean="0"/>
              <a:t>This section should be the shortest part of the abstract and should very briefly outline the following information:</a:t>
            </a:r>
          </a:p>
          <a:p>
            <a:r>
              <a:rPr lang="en-IE" dirty="0" smtClean="0">
                <a:effectLst/>
              </a:rPr>
              <a:t>What is already known about the subject, related to the paper in question</a:t>
            </a:r>
          </a:p>
          <a:p>
            <a:r>
              <a:rPr lang="en-IE" dirty="0" smtClean="0">
                <a:effectLst/>
              </a:rPr>
              <a:t>What is not known about the subject and hence what the study intended to examine (or what the paper seeks to present)</a:t>
            </a:r>
          </a:p>
          <a:p>
            <a:endParaRPr lang="en-IE" dirty="0"/>
          </a:p>
        </p:txBody>
      </p:sp>
    </p:spTree>
    <p:extLst>
      <p:ext uri="{BB962C8B-B14F-4D97-AF65-F5344CB8AC3E}">
        <p14:creationId xmlns:p14="http://schemas.microsoft.com/office/powerpoint/2010/main" val="223243038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b="1" dirty="0" smtClean="0"/>
              <a:t>Methods</a:t>
            </a:r>
            <a:endParaRPr lang="en-IE" dirty="0"/>
          </a:p>
        </p:txBody>
      </p:sp>
      <p:sp>
        <p:nvSpPr>
          <p:cNvPr id="3" name="Content Placeholder 2"/>
          <p:cNvSpPr>
            <a:spLocks noGrp="1"/>
          </p:cNvSpPr>
          <p:nvPr>
            <p:ph idx="1"/>
          </p:nvPr>
        </p:nvSpPr>
        <p:spPr/>
        <p:txBody>
          <a:bodyPr>
            <a:normAutofit fontScale="92500"/>
          </a:bodyPr>
          <a:lstStyle/>
          <a:p>
            <a:r>
              <a:rPr lang="en-IE" dirty="0" smtClean="0"/>
              <a:t>The methods section is usually the second-longest section in the abstract. It should contain enough information to enable the reader to understand what was done, and how. </a:t>
            </a:r>
          </a:p>
          <a:p>
            <a:r>
              <a:rPr lang="en-IE" dirty="0" smtClean="0"/>
              <a:t>Carelessly written methods sections lack information about important issues such as sample size, numbers of patients in different groups, doses of medications, and duration of the study.</a:t>
            </a:r>
            <a:endParaRPr lang="en-IE" dirty="0"/>
          </a:p>
        </p:txBody>
      </p:sp>
    </p:spTree>
    <p:extLst>
      <p:ext uri="{BB962C8B-B14F-4D97-AF65-F5344CB8AC3E}">
        <p14:creationId xmlns:p14="http://schemas.microsoft.com/office/powerpoint/2010/main" val="325165107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b="1" dirty="0" smtClean="0"/>
              <a:t>Results</a:t>
            </a:r>
            <a:endParaRPr lang="en-IE" dirty="0"/>
          </a:p>
        </p:txBody>
      </p:sp>
      <p:sp>
        <p:nvSpPr>
          <p:cNvPr id="3" name="Content Placeholder 2"/>
          <p:cNvSpPr>
            <a:spLocks noGrp="1"/>
          </p:cNvSpPr>
          <p:nvPr>
            <p:ph idx="1"/>
          </p:nvPr>
        </p:nvSpPr>
        <p:spPr/>
        <p:txBody>
          <a:bodyPr>
            <a:normAutofit fontScale="92500"/>
          </a:bodyPr>
          <a:lstStyle/>
          <a:p>
            <a:r>
              <a:rPr lang="en-IE" dirty="0" smtClean="0"/>
              <a:t>The results section is the most important part of the abstract and nothing should compromise its range and quality. </a:t>
            </a:r>
          </a:p>
          <a:p>
            <a:r>
              <a:rPr lang="en-IE" dirty="0" smtClean="0"/>
              <a:t>This is because readers who peruse an abstract do so to learn about the findings of the study. </a:t>
            </a:r>
          </a:p>
          <a:p>
            <a:r>
              <a:rPr lang="en-IE" dirty="0" smtClean="0"/>
              <a:t>The results section should therefore be the longest part of the abstract and should contain as much detail about the findings as the journal word count permits</a:t>
            </a:r>
          </a:p>
          <a:p>
            <a:endParaRPr lang="en-IE" dirty="0"/>
          </a:p>
        </p:txBody>
      </p:sp>
    </p:spTree>
    <p:extLst>
      <p:ext uri="{BB962C8B-B14F-4D97-AF65-F5344CB8AC3E}">
        <p14:creationId xmlns:p14="http://schemas.microsoft.com/office/powerpoint/2010/main" val="400684005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Conclusions</a:t>
            </a:r>
            <a:endParaRPr lang="en-IE" dirty="0"/>
          </a:p>
        </p:txBody>
      </p:sp>
      <p:sp>
        <p:nvSpPr>
          <p:cNvPr id="3" name="Content Placeholder 2"/>
          <p:cNvSpPr>
            <a:spLocks noGrp="1"/>
          </p:cNvSpPr>
          <p:nvPr>
            <p:ph idx="1"/>
          </p:nvPr>
        </p:nvSpPr>
        <p:spPr/>
        <p:txBody>
          <a:bodyPr>
            <a:normAutofit lnSpcReduction="10000"/>
          </a:bodyPr>
          <a:lstStyle/>
          <a:p>
            <a:r>
              <a:rPr lang="en-IE" dirty="0" smtClean="0"/>
              <a:t>This section should contain the most important take-home message of the study, expressed in a few precisely worded sentences. </a:t>
            </a:r>
          </a:p>
          <a:p>
            <a:r>
              <a:rPr lang="en-IE" dirty="0" smtClean="0"/>
              <a:t>Thus, the conclusions may contain three elements:</a:t>
            </a:r>
          </a:p>
          <a:p>
            <a:r>
              <a:rPr lang="en-IE" dirty="0" smtClean="0">
                <a:effectLst/>
              </a:rPr>
              <a:t>The primary take-home message</a:t>
            </a:r>
          </a:p>
          <a:p>
            <a:r>
              <a:rPr lang="en-IE" dirty="0" smtClean="0">
                <a:effectLst/>
              </a:rPr>
              <a:t>The additional findings of importance</a:t>
            </a:r>
          </a:p>
          <a:p>
            <a:r>
              <a:rPr lang="en-IE" dirty="0" smtClean="0">
                <a:effectLst/>
              </a:rPr>
              <a:t>The perspective</a:t>
            </a:r>
          </a:p>
          <a:p>
            <a:endParaRPr lang="en-IE" dirty="0"/>
          </a:p>
        </p:txBody>
      </p:sp>
    </p:spTree>
    <p:extLst>
      <p:ext uri="{BB962C8B-B14F-4D97-AF65-F5344CB8AC3E}">
        <p14:creationId xmlns:p14="http://schemas.microsoft.com/office/powerpoint/2010/main" val="281292252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Abstract</a:t>
            </a:r>
            <a:endParaRPr lang="en-IE" dirty="0"/>
          </a:p>
        </p:txBody>
      </p:sp>
      <p:sp>
        <p:nvSpPr>
          <p:cNvPr id="3" name="Content Placeholder 2"/>
          <p:cNvSpPr>
            <a:spLocks noGrp="1"/>
          </p:cNvSpPr>
          <p:nvPr>
            <p:ph idx="1"/>
          </p:nvPr>
        </p:nvSpPr>
        <p:spPr/>
        <p:txBody>
          <a:bodyPr>
            <a:normAutofit fontScale="92500" lnSpcReduction="10000"/>
          </a:bodyPr>
          <a:lstStyle/>
          <a:p>
            <a:r>
              <a:rPr lang="en-IE" dirty="0" smtClean="0"/>
              <a:t>Your abstract should be intelligible on its own, without a reader’s having to read your entire paper. </a:t>
            </a:r>
          </a:p>
          <a:p>
            <a:r>
              <a:rPr lang="en-IE" dirty="0" smtClean="0"/>
              <a:t>And in an abstract, you usually do </a:t>
            </a:r>
            <a:r>
              <a:rPr lang="en-IE" i="1" dirty="0" smtClean="0"/>
              <a:t>not</a:t>
            </a:r>
            <a:r>
              <a:rPr lang="en-IE" dirty="0" smtClean="0"/>
              <a:t> cite references—most of your abstract will describe what </a:t>
            </a:r>
            <a:r>
              <a:rPr lang="en-IE" i="1" dirty="0" smtClean="0"/>
              <a:t>you</a:t>
            </a:r>
            <a:r>
              <a:rPr lang="en-IE" dirty="0" smtClean="0"/>
              <a:t> have studied in your research and what </a:t>
            </a:r>
            <a:r>
              <a:rPr lang="en-IE" i="1" dirty="0" smtClean="0"/>
              <a:t>you</a:t>
            </a:r>
            <a:r>
              <a:rPr lang="en-IE" dirty="0" smtClean="0"/>
              <a:t> have found and what </a:t>
            </a:r>
            <a:r>
              <a:rPr lang="en-IE" i="1" dirty="0" smtClean="0"/>
              <a:t>you</a:t>
            </a:r>
            <a:r>
              <a:rPr lang="en-IE" dirty="0" smtClean="0"/>
              <a:t> argue in your paper. </a:t>
            </a:r>
          </a:p>
          <a:p>
            <a:r>
              <a:rPr lang="en-IE" dirty="0" smtClean="0"/>
              <a:t>In the body of your paper, you will cite the specific literature that informs your research.</a:t>
            </a:r>
          </a:p>
          <a:p>
            <a:endParaRPr lang="en-IE" dirty="0"/>
          </a:p>
        </p:txBody>
      </p:sp>
    </p:spTree>
    <p:extLst>
      <p:ext uri="{BB962C8B-B14F-4D97-AF65-F5344CB8AC3E}">
        <p14:creationId xmlns:p14="http://schemas.microsoft.com/office/powerpoint/2010/main" val="81259210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Abstracts and Search Engines</a:t>
            </a:r>
            <a:endParaRPr lang="en-IE" dirty="0"/>
          </a:p>
        </p:txBody>
      </p:sp>
      <p:sp>
        <p:nvSpPr>
          <p:cNvPr id="3" name="Content Placeholder 2"/>
          <p:cNvSpPr>
            <a:spLocks noGrp="1"/>
          </p:cNvSpPr>
          <p:nvPr>
            <p:ph idx="1"/>
          </p:nvPr>
        </p:nvSpPr>
        <p:spPr/>
        <p:txBody>
          <a:bodyPr/>
          <a:lstStyle/>
          <a:p>
            <a:r>
              <a:rPr lang="en-IE" dirty="0" smtClean="0"/>
              <a:t>It’s also worth remembering that search engines and bibliographic databases use abstracts, as well as the title, to identify key terms for indexing your published paper. </a:t>
            </a:r>
          </a:p>
          <a:p>
            <a:r>
              <a:rPr lang="en-IE" dirty="0" smtClean="0"/>
              <a:t>So what you include in your abstract and in your title are crucial for helping other researchers find your paper or article.</a:t>
            </a:r>
          </a:p>
          <a:p>
            <a:endParaRPr lang="en-IE" dirty="0"/>
          </a:p>
        </p:txBody>
      </p:sp>
    </p:spTree>
    <p:extLst>
      <p:ext uri="{BB962C8B-B14F-4D97-AF65-F5344CB8AC3E}">
        <p14:creationId xmlns:p14="http://schemas.microsoft.com/office/powerpoint/2010/main" val="91715869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IE" dirty="0" smtClean="0">
                <a:hlinkClick r:id="rId2"/>
              </a:rPr>
              <a:t>https://writing.wisc.edu/handbook/assignments/writing-an-abstract-for-your-research-paper/</a:t>
            </a:r>
            <a:endParaRPr lang="en-IE" dirty="0" smtClean="0"/>
          </a:p>
          <a:p>
            <a:r>
              <a:rPr lang="en-IE" dirty="0" smtClean="0"/>
              <a:t>Andrade C. How to write a good abstract for a scientific paper or conference presentation. </a:t>
            </a:r>
            <a:r>
              <a:rPr lang="en-IE" i="1" dirty="0" smtClean="0"/>
              <a:t>Indian J Psychiatry</a:t>
            </a:r>
            <a:r>
              <a:rPr lang="en-IE" dirty="0" smtClean="0"/>
              <a:t>. 2011;53(2):172-175. doi:10.4103/0019-5545.82558</a:t>
            </a:r>
            <a:endParaRPr lang="en-IE" dirty="0"/>
          </a:p>
        </p:txBody>
      </p:sp>
    </p:spTree>
    <p:extLst>
      <p:ext uri="{BB962C8B-B14F-4D97-AF65-F5344CB8AC3E}">
        <p14:creationId xmlns:p14="http://schemas.microsoft.com/office/powerpoint/2010/main" val="35269118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b="1" dirty="0" smtClean="0"/>
              <a:t>Writing a Research Paper</a:t>
            </a:r>
            <a:endParaRPr lang="en-IE" dirty="0"/>
          </a:p>
        </p:txBody>
      </p:sp>
      <p:sp>
        <p:nvSpPr>
          <p:cNvPr id="3" name="Content Placeholder 2"/>
          <p:cNvSpPr>
            <a:spLocks noGrp="1"/>
          </p:cNvSpPr>
          <p:nvPr>
            <p:ph idx="1"/>
          </p:nvPr>
        </p:nvSpPr>
        <p:spPr/>
        <p:txBody>
          <a:bodyPr>
            <a:normAutofit/>
          </a:bodyPr>
          <a:lstStyle/>
          <a:p>
            <a:endParaRPr lang="en-IE" dirty="0"/>
          </a:p>
        </p:txBody>
      </p:sp>
    </p:spTree>
    <p:extLst>
      <p:ext uri="{BB962C8B-B14F-4D97-AF65-F5344CB8AC3E}">
        <p14:creationId xmlns:p14="http://schemas.microsoft.com/office/powerpoint/2010/main" val="361745214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b="1" dirty="0" smtClean="0"/>
              <a:t>Discovering, Narrowing, and Focusing a Researchable Topic</a:t>
            </a:r>
            <a:endParaRPr lang="en-IE" dirty="0"/>
          </a:p>
        </p:txBody>
      </p:sp>
      <p:sp>
        <p:nvSpPr>
          <p:cNvPr id="3" name="Content Placeholder 2"/>
          <p:cNvSpPr>
            <a:spLocks noGrp="1"/>
          </p:cNvSpPr>
          <p:nvPr>
            <p:ph idx="1"/>
          </p:nvPr>
        </p:nvSpPr>
        <p:spPr/>
        <p:txBody>
          <a:bodyPr>
            <a:normAutofit/>
          </a:bodyPr>
          <a:lstStyle/>
          <a:p>
            <a:r>
              <a:rPr lang="en-IE" dirty="0" smtClean="0"/>
              <a:t>Try to find a topic that truly interests you</a:t>
            </a:r>
          </a:p>
          <a:p>
            <a:r>
              <a:rPr lang="en-IE" dirty="0" smtClean="0"/>
              <a:t>Try writing your way to a topic</a:t>
            </a:r>
          </a:p>
          <a:p>
            <a:r>
              <a:rPr lang="en-IE" dirty="0" smtClean="0"/>
              <a:t>Talk with your course instructor and classmates about your topic</a:t>
            </a:r>
          </a:p>
          <a:p>
            <a:r>
              <a:rPr lang="en-IE" dirty="0" smtClean="0"/>
              <a:t>Pose your topic as a question to be answered or a problem to be solved</a:t>
            </a:r>
          </a:p>
        </p:txBody>
      </p:sp>
    </p:spTree>
    <p:extLst>
      <p:ext uri="{BB962C8B-B14F-4D97-AF65-F5344CB8AC3E}">
        <p14:creationId xmlns:p14="http://schemas.microsoft.com/office/powerpoint/2010/main" val="79651313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b="1" dirty="0" smtClean="0"/>
              <a:t>Finding, Selecting, and Reading Sources</a:t>
            </a:r>
            <a:endParaRPr lang="en-IE" dirty="0"/>
          </a:p>
        </p:txBody>
      </p:sp>
      <p:sp>
        <p:nvSpPr>
          <p:cNvPr id="3" name="Content Placeholder 2"/>
          <p:cNvSpPr>
            <a:spLocks noGrp="1"/>
          </p:cNvSpPr>
          <p:nvPr>
            <p:ph idx="1"/>
          </p:nvPr>
        </p:nvSpPr>
        <p:spPr/>
        <p:txBody>
          <a:bodyPr>
            <a:normAutofit/>
          </a:bodyPr>
          <a:lstStyle/>
          <a:p>
            <a:r>
              <a:rPr lang="en-IE" dirty="0" smtClean="0"/>
              <a:t>You will need to look at the following types of sources:</a:t>
            </a:r>
          </a:p>
          <a:p>
            <a:r>
              <a:rPr lang="en-IE" dirty="0" smtClean="0"/>
              <a:t>library </a:t>
            </a:r>
            <a:r>
              <a:rPr lang="en-IE" dirty="0" err="1" smtClean="0"/>
              <a:t>catalog</a:t>
            </a:r>
            <a:r>
              <a:rPr lang="en-IE" dirty="0" smtClean="0"/>
              <a:t>, periodical indexes, bibliographies, suggestions from your instructor</a:t>
            </a:r>
          </a:p>
          <a:p>
            <a:r>
              <a:rPr lang="en-IE" dirty="0" smtClean="0"/>
              <a:t>primary vs. secondary sources</a:t>
            </a:r>
          </a:p>
          <a:p>
            <a:r>
              <a:rPr lang="en-IE" dirty="0" smtClean="0"/>
              <a:t>journals, books, other documents</a:t>
            </a:r>
          </a:p>
        </p:txBody>
      </p:sp>
    </p:spTree>
    <p:extLst>
      <p:ext uri="{BB962C8B-B14F-4D97-AF65-F5344CB8AC3E}">
        <p14:creationId xmlns:p14="http://schemas.microsoft.com/office/powerpoint/2010/main" val="171066225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normAutofit lnSpcReduction="10000"/>
          </a:bodyPr>
          <a:lstStyle/>
          <a:p>
            <a:r>
              <a:rPr lang="en-IE" b="1" dirty="0" smtClean="0"/>
              <a:t>Grouping, Sequencing, and Documenting Information</a:t>
            </a:r>
          </a:p>
          <a:p>
            <a:r>
              <a:rPr lang="en-IE" dirty="0" smtClean="0"/>
              <a:t>The following systems will help keep you organized:</a:t>
            </a:r>
          </a:p>
          <a:p>
            <a:r>
              <a:rPr lang="en-IE" dirty="0" smtClean="0"/>
              <a:t>a system for noting sources on bibliography cards</a:t>
            </a:r>
          </a:p>
          <a:p>
            <a:r>
              <a:rPr lang="en-IE" dirty="0" smtClean="0"/>
              <a:t>a system for organizing material according to its relative importance</a:t>
            </a:r>
          </a:p>
          <a:p>
            <a:r>
              <a:rPr lang="en-IE" dirty="0" smtClean="0"/>
              <a:t>a system for taking notes</a:t>
            </a:r>
          </a:p>
          <a:p>
            <a:endParaRPr lang="en-IE" dirty="0" smtClean="0"/>
          </a:p>
          <a:p>
            <a:endParaRPr lang="en-IE" dirty="0"/>
          </a:p>
        </p:txBody>
      </p:sp>
    </p:spTree>
    <p:extLst>
      <p:ext uri="{BB962C8B-B14F-4D97-AF65-F5344CB8AC3E}">
        <p14:creationId xmlns:p14="http://schemas.microsoft.com/office/powerpoint/2010/main" val="389011997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b="1" dirty="0" smtClean="0"/>
              <a:t>Writing an Outline and a Prospectus for Yourself</a:t>
            </a:r>
            <a:endParaRPr lang="en-IE" dirty="0"/>
          </a:p>
        </p:txBody>
      </p:sp>
      <p:sp>
        <p:nvSpPr>
          <p:cNvPr id="3" name="Content Placeholder 2"/>
          <p:cNvSpPr>
            <a:spLocks noGrp="1"/>
          </p:cNvSpPr>
          <p:nvPr>
            <p:ph idx="1"/>
          </p:nvPr>
        </p:nvSpPr>
        <p:spPr/>
        <p:txBody>
          <a:bodyPr>
            <a:normAutofit/>
          </a:bodyPr>
          <a:lstStyle/>
          <a:p>
            <a:r>
              <a:rPr lang="en-IE" dirty="0" smtClean="0"/>
              <a:t>Consider the following questions:</a:t>
            </a:r>
          </a:p>
          <a:p>
            <a:r>
              <a:rPr lang="en-IE" dirty="0" smtClean="0"/>
              <a:t>What is the topic?</a:t>
            </a:r>
          </a:p>
          <a:p>
            <a:r>
              <a:rPr lang="en-IE" dirty="0" smtClean="0"/>
              <a:t>Why is it significant?</a:t>
            </a:r>
          </a:p>
          <a:p>
            <a:r>
              <a:rPr lang="en-IE" dirty="0" smtClean="0"/>
              <a:t>What background material is relevant?</a:t>
            </a:r>
          </a:p>
          <a:p>
            <a:r>
              <a:rPr lang="en-IE" dirty="0" smtClean="0"/>
              <a:t>What is my thesis or purpose statement?</a:t>
            </a:r>
          </a:p>
          <a:p>
            <a:r>
              <a:rPr lang="en-IE" dirty="0" smtClean="0"/>
              <a:t>What organizational plan will best support my purpose?</a:t>
            </a:r>
          </a:p>
        </p:txBody>
      </p:sp>
    </p:spTree>
    <p:extLst>
      <p:ext uri="{BB962C8B-B14F-4D97-AF65-F5344CB8AC3E}">
        <p14:creationId xmlns:p14="http://schemas.microsoft.com/office/powerpoint/2010/main" val="397084003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b="1" dirty="0" smtClean="0"/>
              <a:t>Writing the Introduction</a:t>
            </a:r>
            <a:endParaRPr lang="en-IE" dirty="0"/>
          </a:p>
        </p:txBody>
      </p:sp>
      <p:sp>
        <p:nvSpPr>
          <p:cNvPr id="3" name="Content Placeholder 2"/>
          <p:cNvSpPr>
            <a:spLocks noGrp="1"/>
          </p:cNvSpPr>
          <p:nvPr>
            <p:ph idx="1"/>
          </p:nvPr>
        </p:nvSpPr>
        <p:spPr/>
        <p:txBody>
          <a:bodyPr>
            <a:normAutofit/>
          </a:bodyPr>
          <a:lstStyle/>
          <a:p>
            <a:r>
              <a:rPr lang="en-IE" dirty="0" smtClean="0"/>
              <a:t>In the introduction you will need to do the following things:</a:t>
            </a:r>
          </a:p>
          <a:p>
            <a:r>
              <a:rPr lang="en-IE" dirty="0" smtClean="0"/>
              <a:t>present relevant background or contextual material</a:t>
            </a:r>
          </a:p>
          <a:p>
            <a:r>
              <a:rPr lang="en-IE" dirty="0" smtClean="0"/>
              <a:t>define terms or concepts when necessary</a:t>
            </a:r>
          </a:p>
          <a:p>
            <a:r>
              <a:rPr lang="en-IE" dirty="0" smtClean="0"/>
              <a:t>explain the focus of the paper and your specific purpose</a:t>
            </a:r>
          </a:p>
          <a:p>
            <a:r>
              <a:rPr lang="en-IE" dirty="0" smtClean="0"/>
              <a:t>reveal your plan of organization</a:t>
            </a:r>
          </a:p>
        </p:txBody>
      </p:sp>
    </p:spTree>
    <p:extLst>
      <p:ext uri="{BB962C8B-B14F-4D97-AF65-F5344CB8AC3E}">
        <p14:creationId xmlns:p14="http://schemas.microsoft.com/office/powerpoint/2010/main" val="150549657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b="1" dirty="0" smtClean="0"/>
              <a:t>Writing the Body</a:t>
            </a:r>
            <a:endParaRPr lang="en-IE" dirty="0"/>
          </a:p>
        </p:txBody>
      </p:sp>
      <p:sp>
        <p:nvSpPr>
          <p:cNvPr id="3" name="Content Placeholder 2"/>
          <p:cNvSpPr>
            <a:spLocks noGrp="1"/>
          </p:cNvSpPr>
          <p:nvPr>
            <p:ph idx="1"/>
          </p:nvPr>
        </p:nvSpPr>
        <p:spPr/>
        <p:txBody>
          <a:bodyPr>
            <a:normAutofit fontScale="85000" lnSpcReduction="10000"/>
          </a:bodyPr>
          <a:lstStyle/>
          <a:p>
            <a:r>
              <a:rPr lang="en-IE" dirty="0" smtClean="0"/>
              <a:t>Use your outline and prospectus as flexible guides</a:t>
            </a:r>
          </a:p>
          <a:p>
            <a:r>
              <a:rPr lang="en-IE" dirty="0" smtClean="0"/>
              <a:t>Build your essay around points you want to make (i.e., don’t let your sources organize your paper)</a:t>
            </a:r>
          </a:p>
          <a:p>
            <a:r>
              <a:rPr lang="en-IE" dirty="0" smtClean="0"/>
              <a:t>Integrate your sources into your discussion</a:t>
            </a:r>
          </a:p>
          <a:p>
            <a:r>
              <a:rPr lang="en-IE" dirty="0" smtClean="0"/>
              <a:t>Summarize, </a:t>
            </a:r>
            <a:r>
              <a:rPr lang="en-IE" dirty="0" err="1" smtClean="0"/>
              <a:t>analyze</a:t>
            </a:r>
            <a:r>
              <a:rPr lang="en-IE" dirty="0" smtClean="0"/>
              <a:t>, explain, and evaluate published work rather than merely reporting it</a:t>
            </a:r>
          </a:p>
          <a:p>
            <a:r>
              <a:rPr lang="en-IE" dirty="0" smtClean="0"/>
              <a:t>Move up and down the “ladder of abstraction” from generalization to varying levels of detail back to generalization</a:t>
            </a:r>
          </a:p>
          <a:p>
            <a:r>
              <a:rPr lang="en-IE" dirty="0" smtClean="0"/>
              <a:t>or footnotes, accuracy of list of works cited.</a:t>
            </a:r>
          </a:p>
          <a:p>
            <a:endParaRPr lang="en-IE" dirty="0" smtClean="0"/>
          </a:p>
          <a:p>
            <a:endParaRPr lang="en-IE" dirty="0" smtClean="0"/>
          </a:p>
          <a:p>
            <a:endParaRPr lang="en-IE" dirty="0" smtClean="0"/>
          </a:p>
          <a:p>
            <a:endParaRPr lang="en-IE" dirty="0"/>
          </a:p>
        </p:txBody>
      </p:sp>
    </p:spTree>
    <p:extLst>
      <p:ext uri="{BB962C8B-B14F-4D97-AF65-F5344CB8AC3E}">
        <p14:creationId xmlns:p14="http://schemas.microsoft.com/office/powerpoint/2010/main" val="426119304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b="1" dirty="0" smtClean="0"/>
              <a:t>Writing the Conclusion</a:t>
            </a:r>
            <a:endParaRPr lang="en-IE" dirty="0"/>
          </a:p>
        </p:txBody>
      </p:sp>
      <p:sp>
        <p:nvSpPr>
          <p:cNvPr id="3" name="Content Placeholder 2"/>
          <p:cNvSpPr>
            <a:spLocks noGrp="1"/>
          </p:cNvSpPr>
          <p:nvPr>
            <p:ph idx="1"/>
          </p:nvPr>
        </p:nvSpPr>
        <p:spPr/>
        <p:txBody>
          <a:bodyPr>
            <a:normAutofit fontScale="85000" lnSpcReduction="10000"/>
          </a:bodyPr>
          <a:lstStyle/>
          <a:p>
            <a:r>
              <a:rPr lang="en-IE" dirty="0" smtClean="0"/>
              <a:t>If the argument or point of your paper is complex, you may need to summarize the argument for your reader.</a:t>
            </a:r>
          </a:p>
          <a:p>
            <a:r>
              <a:rPr lang="en-IE" dirty="0" smtClean="0"/>
              <a:t>If prior to your conclusion you have not yet explained the significance of your findings or if you are proceeding inductively, use the end of your paper to add your points up, to explain their significance.</a:t>
            </a:r>
          </a:p>
          <a:p>
            <a:r>
              <a:rPr lang="en-IE" dirty="0" smtClean="0"/>
              <a:t>Move from a detailed to a general level of consideration that returns the topic to the context provided by the introduction.</a:t>
            </a:r>
          </a:p>
          <a:p>
            <a:r>
              <a:rPr lang="en-IE" dirty="0" smtClean="0"/>
              <a:t>Perhaps suggest what about this topic needs further research.</a:t>
            </a:r>
          </a:p>
        </p:txBody>
      </p:sp>
    </p:spTree>
    <p:extLst>
      <p:ext uri="{BB962C8B-B14F-4D97-AF65-F5344CB8AC3E}">
        <p14:creationId xmlns:p14="http://schemas.microsoft.com/office/powerpoint/2010/main" val="343837731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b="1" dirty="0" smtClean="0"/>
              <a:t>Revising the Final Draft</a:t>
            </a:r>
            <a:endParaRPr lang="en-IE" dirty="0"/>
          </a:p>
        </p:txBody>
      </p:sp>
      <p:sp>
        <p:nvSpPr>
          <p:cNvPr id="3" name="Content Placeholder 2"/>
          <p:cNvSpPr>
            <a:spLocks noGrp="1"/>
          </p:cNvSpPr>
          <p:nvPr>
            <p:ph idx="1"/>
          </p:nvPr>
        </p:nvSpPr>
        <p:spPr/>
        <p:txBody>
          <a:bodyPr>
            <a:normAutofit fontScale="85000" lnSpcReduction="20000"/>
          </a:bodyPr>
          <a:lstStyle/>
          <a:p>
            <a:r>
              <a:rPr lang="en-IE" b="1" dirty="0" smtClean="0"/>
              <a:t>Check overall organization</a:t>
            </a:r>
            <a:r>
              <a:rPr lang="en-IE" dirty="0" smtClean="0"/>
              <a:t>: logical flow of introduction, coherence and depth of discussion in body, effectiveness of conclusion.</a:t>
            </a:r>
          </a:p>
          <a:p>
            <a:r>
              <a:rPr lang="en-IE" b="1" dirty="0" smtClean="0"/>
              <a:t>Paragraph level concerns</a:t>
            </a:r>
            <a:r>
              <a:rPr lang="en-IE" dirty="0" smtClean="0"/>
              <a:t>: topic sentences, sequence of ideas within paragraphs, use of details to support generalizations, summary sentences where necessary, use of transitions within and between paragraphs.</a:t>
            </a:r>
          </a:p>
          <a:p>
            <a:r>
              <a:rPr lang="en-IE" b="1" dirty="0" smtClean="0"/>
              <a:t>Sentence level concerns:</a:t>
            </a:r>
            <a:r>
              <a:rPr lang="en-IE" dirty="0" smtClean="0"/>
              <a:t> sentence structure, word choices, punctuation, spelling.</a:t>
            </a:r>
          </a:p>
          <a:p>
            <a:r>
              <a:rPr lang="en-IE" dirty="0" smtClean="0"/>
              <a:t>Documentation: consistent use of one system, citation of all material not considered common knowledge, appropriate use of endnotes</a:t>
            </a:r>
          </a:p>
          <a:p>
            <a:endParaRPr lang="en-IE" dirty="0"/>
          </a:p>
        </p:txBody>
      </p:sp>
    </p:spTree>
    <p:extLst>
      <p:ext uri="{BB962C8B-B14F-4D97-AF65-F5344CB8AC3E}">
        <p14:creationId xmlns:p14="http://schemas.microsoft.com/office/powerpoint/2010/main" val="260508310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IE" dirty="0" smtClean="0">
                <a:hlinkClick r:id="rId2"/>
              </a:rPr>
              <a:t>https://writing.wisc.edu/handbook/assignments/planresearchpaper/</a:t>
            </a:r>
            <a:endParaRPr lang="en-IE" dirty="0" smtClean="0"/>
          </a:p>
          <a:p>
            <a:r>
              <a:rPr lang="en-IE" dirty="0" smtClean="0"/>
              <a:t>https://www.editage.com/insights/how-to-write-the-literature-review-of-your-research-paper</a:t>
            </a:r>
            <a:endParaRPr lang="en-IE" dirty="0"/>
          </a:p>
        </p:txBody>
      </p:sp>
    </p:spTree>
    <p:extLst>
      <p:ext uri="{BB962C8B-B14F-4D97-AF65-F5344CB8AC3E}">
        <p14:creationId xmlns:p14="http://schemas.microsoft.com/office/powerpoint/2010/main" val="102229262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Literature review</a:t>
            </a:r>
            <a:endParaRPr lang="en-IE" dirty="0"/>
          </a:p>
        </p:txBody>
      </p:sp>
      <p:sp>
        <p:nvSpPr>
          <p:cNvPr id="3" name="Content Placeholder 2"/>
          <p:cNvSpPr>
            <a:spLocks noGrp="1"/>
          </p:cNvSpPr>
          <p:nvPr>
            <p:ph idx="1"/>
          </p:nvPr>
        </p:nvSpPr>
        <p:spPr/>
        <p:txBody>
          <a:bodyPr>
            <a:normAutofit/>
          </a:bodyPr>
          <a:lstStyle/>
          <a:p>
            <a:r>
              <a:rPr lang="en-IE" dirty="0" smtClean="0">
                <a:effectLst/>
              </a:rPr>
              <a:t>Theoretical literature review essentially involves two steps: </a:t>
            </a:r>
          </a:p>
          <a:p>
            <a:r>
              <a:rPr lang="en-IE" dirty="0" smtClean="0">
                <a:effectLst/>
              </a:rPr>
              <a:t>Surveying and critically reading the existing literature: this step is commonly referred to as experimental literature review. </a:t>
            </a:r>
          </a:p>
          <a:p>
            <a:r>
              <a:rPr lang="en-IE" dirty="0" smtClean="0">
                <a:effectLst/>
              </a:rPr>
              <a:t>Summarizing and actually penning down the gist of your review in an organized manner: this is known as theoretical review.</a:t>
            </a:r>
          </a:p>
          <a:p>
            <a:endParaRPr lang="en-IE" dirty="0"/>
          </a:p>
        </p:txBody>
      </p:sp>
    </p:spTree>
    <p:extLst>
      <p:ext uri="{BB962C8B-B14F-4D97-AF65-F5344CB8AC3E}">
        <p14:creationId xmlns:p14="http://schemas.microsoft.com/office/powerpoint/2010/main" val="5863669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General Structure</a:t>
            </a:r>
            <a:endParaRPr lang="en-IE" dirty="0"/>
          </a:p>
        </p:txBody>
      </p:sp>
      <p:sp>
        <p:nvSpPr>
          <p:cNvPr id="3" name="Content Placeholder 2"/>
          <p:cNvSpPr>
            <a:spLocks noGrp="1"/>
          </p:cNvSpPr>
          <p:nvPr>
            <p:ph idx="1"/>
          </p:nvPr>
        </p:nvSpPr>
        <p:spPr/>
        <p:txBody>
          <a:bodyPr/>
          <a:lstStyle/>
          <a:p>
            <a:r>
              <a:rPr lang="en-IE" dirty="0" smtClean="0"/>
              <a:t>Overview of the general area </a:t>
            </a:r>
          </a:p>
          <a:p>
            <a:r>
              <a:rPr lang="en-IE" dirty="0" smtClean="0"/>
              <a:t>Overview of the specific topic within general area</a:t>
            </a:r>
          </a:p>
          <a:p>
            <a:r>
              <a:rPr lang="en-IE" dirty="0" smtClean="0"/>
              <a:t>Overview of approaches to topic</a:t>
            </a:r>
          </a:p>
          <a:p>
            <a:r>
              <a:rPr lang="en-IE" dirty="0" smtClean="0"/>
              <a:t>Overview of recent work in the area</a:t>
            </a:r>
          </a:p>
          <a:p>
            <a:r>
              <a:rPr lang="en-IE" dirty="0" smtClean="0"/>
              <a:t>Limitations of recent work</a:t>
            </a:r>
          </a:p>
          <a:p>
            <a:r>
              <a:rPr lang="en-IE" dirty="0" smtClean="0"/>
              <a:t>Possible directions for future research</a:t>
            </a:r>
            <a:endParaRPr lang="en-IE" dirty="0"/>
          </a:p>
        </p:txBody>
      </p:sp>
    </p:spTree>
    <p:extLst>
      <p:ext uri="{BB962C8B-B14F-4D97-AF65-F5344CB8AC3E}">
        <p14:creationId xmlns:p14="http://schemas.microsoft.com/office/powerpoint/2010/main" val="415661290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Broad Outline</a:t>
            </a:r>
            <a:endParaRPr lang="en-IE" dirty="0"/>
          </a:p>
        </p:txBody>
      </p:sp>
      <p:sp>
        <p:nvSpPr>
          <p:cNvPr id="3" name="Content Placeholder 2"/>
          <p:cNvSpPr>
            <a:spLocks noGrp="1"/>
          </p:cNvSpPr>
          <p:nvPr>
            <p:ph idx="1"/>
          </p:nvPr>
        </p:nvSpPr>
        <p:spPr/>
        <p:txBody>
          <a:bodyPr>
            <a:normAutofit fontScale="62500" lnSpcReduction="20000"/>
          </a:bodyPr>
          <a:lstStyle/>
          <a:p>
            <a:r>
              <a:rPr lang="en-IE" dirty="0" smtClean="0">
                <a:effectLst/>
              </a:rPr>
              <a:t>Background literature about the broad research topic to introduce the readers to the field of study.</a:t>
            </a:r>
          </a:p>
          <a:p>
            <a:r>
              <a:rPr lang="en-IE" dirty="0" smtClean="0">
                <a:effectLst/>
              </a:rPr>
              <a:t>Recent progress on the study topic which can be organized thematically or chronologically. Ideally, separate themes should be discussed in a chronological manner to describe how research in the field has evolved over time and to highlight the progress in the field. </a:t>
            </a:r>
          </a:p>
          <a:p>
            <a:r>
              <a:rPr lang="en-IE" dirty="0" smtClean="0">
                <a:effectLst/>
              </a:rPr>
              <a:t>The review should include a comparison and contrast of different studies. Discussing the controversial aspects helps to identify the main gaps that need to be worked upon. This is essential for defining the problem statement of the study and highlighting the significance of the research under question. </a:t>
            </a:r>
          </a:p>
          <a:p>
            <a:r>
              <a:rPr lang="en-IE" dirty="0" smtClean="0">
                <a:effectLst/>
              </a:rPr>
              <a:t>Once a problem statement has been defined, the strengths and pitfalls of other studies that have tackled the problem statement should be discussed. This is important for outlining the need and novelty of the research. </a:t>
            </a:r>
          </a:p>
          <a:p>
            <a:endParaRPr lang="en-IE" dirty="0"/>
          </a:p>
        </p:txBody>
      </p:sp>
    </p:spTree>
    <p:extLst>
      <p:ext uri="{BB962C8B-B14F-4D97-AF65-F5344CB8AC3E}">
        <p14:creationId xmlns:p14="http://schemas.microsoft.com/office/powerpoint/2010/main" val="48259117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b="1" dirty="0" smtClean="0">
                <a:effectLst/>
              </a:rPr>
              <a:t>Stand-alone literature reviews</a:t>
            </a:r>
            <a:endParaRPr lang="en-IE" dirty="0"/>
          </a:p>
        </p:txBody>
      </p:sp>
      <p:sp>
        <p:nvSpPr>
          <p:cNvPr id="3" name="Content Placeholder 2"/>
          <p:cNvSpPr>
            <a:spLocks noGrp="1"/>
          </p:cNvSpPr>
          <p:nvPr>
            <p:ph idx="1"/>
          </p:nvPr>
        </p:nvSpPr>
        <p:spPr/>
        <p:txBody>
          <a:bodyPr>
            <a:normAutofit/>
          </a:bodyPr>
          <a:lstStyle/>
          <a:p>
            <a:r>
              <a:rPr lang="en-IE" dirty="0" smtClean="0">
                <a:effectLst/>
              </a:rPr>
              <a:t>Literature reviews can also be written as stand-alone articles. These are not different from the literature review sections described above; however, they are not followed by experimental data.</a:t>
            </a:r>
          </a:p>
          <a:p>
            <a:r>
              <a:rPr lang="en-IE" dirty="0" smtClean="0">
                <a:effectLst/>
              </a:rPr>
              <a:t>They basically fall into 2 broad categories: narrative reviews and systematic reviews. </a:t>
            </a:r>
          </a:p>
          <a:p>
            <a:pPr marL="0" indent="0">
              <a:buNone/>
            </a:pPr>
            <a:r>
              <a:rPr lang="en-IE" dirty="0" smtClean="0">
                <a:effectLst/>
              </a:rPr>
              <a:t> </a:t>
            </a:r>
          </a:p>
        </p:txBody>
      </p:sp>
    </p:spTree>
    <p:extLst>
      <p:ext uri="{BB962C8B-B14F-4D97-AF65-F5344CB8AC3E}">
        <p14:creationId xmlns:p14="http://schemas.microsoft.com/office/powerpoint/2010/main" val="313072968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b="1" dirty="0" smtClean="0">
                <a:effectLst/>
              </a:rPr>
              <a:t>1. Narrative reviews</a:t>
            </a:r>
            <a:endParaRPr lang="en-IE" dirty="0"/>
          </a:p>
        </p:txBody>
      </p:sp>
      <p:sp>
        <p:nvSpPr>
          <p:cNvPr id="3" name="Content Placeholder 2"/>
          <p:cNvSpPr>
            <a:spLocks noGrp="1"/>
          </p:cNvSpPr>
          <p:nvPr>
            <p:ph idx="1"/>
          </p:nvPr>
        </p:nvSpPr>
        <p:spPr/>
        <p:txBody>
          <a:bodyPr>
            <a:normAutofit/>
          </a:bodyPr>
          <a:lstStyle/>
          <a:p>
            <a:r>
              <a:rPr lang="en-IE" dirty="0" smtClean="0">
                <a:effectLst/>
              </a:rPr>
              <a:t>These are theoretical discussions of relevant information on a particular topic and its critical analysis. </a:t>
            </a:r>
          </a:p>
          <a:p>
            <a:r>
              <a:rPr lang="en-IE" dirty="0" smtClean="0">
                <a:effectLst/>
              </a:rPr>
              <a:t>These are mostly qualitative in nature similar to the review sections of larger articles. </a:t>
            </a:r>
          </a:p>
        </p:txBody>
      </p:sp>
    </p:spTree>
    <p:extLst>
      <p:ext uri="{BB962C8B-B14F-4D97-AF65-F5344CB8AC3E}">
        <p14:creationId xmlns:p14="http://schemas.microsoft.com/office/powerpoint/2010/main" val="366407905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Organization of Narrative Reviews</a:t>
            </a:r>
            <a:endParaRPr lang="en-IE" dirty="0"/>
          </a:p>
        </p:txBody>
      </p:sp>
      <p:sp>
        <p:nvSpPr>
          <p:cNvPr id="3" name="Content Placeholder 2"/>
          <p:cNvSpPr>
            <a:spLocks noGrp="1"/>
          </p:cNvSpPr>
          <p:nvPr>
            <p:ph idx="1"/>
          </p:nvPr>
        </p:nvSpPr>
        <p:spPr/>
        <p:txBody>
          <a:bodyPr>
            <a:normAutofit fontScale="62500" lnSpcReduction="20000"/>
          </a:bodyPr>
          <a:lstStyle/>
          <a:p>
            <a:r>
              <a:rPr lang="en-IE" b="1" dirty="0" smtClean="0">
                <a:effectLst/>
              </a:rPr>
              <a:t>Introduction </a:t>
            </a:r>
            <a:r>
              <a:rPr lang="en-IE" dirty="0" smtClean="0">
                <a:effectLst/>
              </a:rPr>
              <a:t>that establishes the context of the field of research and the topic of the review</a:t>
            </a:r>
          </a:p>
          <a:p>
            <a:r>
              <a:rPr lang="en-IE" b="1" dirty="0" smtClean="0">
                <a:effectLst/>
              </a:rPr>
              <a:t>Body</a:t>
            </a:r>
            <a:r>
              <a:rPr lang="en-IE" dirty="0" smtClean="0">
                <a:effectLst/>
              </a:rPr>
              <a:t> </a:t>
            </a:r>
          </a:p>
          <a:p>
            <a:pPr lvl="1"/>
            <a:r>
              <a:rPr lang="en-IE" dirty="0" smtClean="0">
                <a:effectLst/>
              </a:rPr>
              <a:t>is normally used for describing the different themes under the main topic by dividing them into different subheadings. </a:t>
            </a:r>
          </a:p>
          <a:p>
            <a:pPr lvl="1"/>
            <a:r>
              <a:rPr lang="en-IE" dirty="0" smtClean="0">
                <a:effectLst/>
              </a:rPr>
              <a:t>This section compares and contrasts published studies and identifies gaps that have not been addressed or have been unsuccessfully addressed. </a:t>
            </a:r>
          </a:p>
          <a:p>
            <a:r>
              <a:rPr lang="en-IE" b="1" dirty="0" smtClean="0">
                <a:effectLst/>
              </a:rPr>
              <a:t>Conclusions.</a:t>
            </a:r>
            <a:r>
              <a:rPr lang="en-IE" dirty="0" smtClean="0">
                <a:effectLst/>
              </a:rPr>
              <a:t> </a:t>
            </a:r>
          </a:p>
          <a:p>
            <a:pPr lvl="1"/>
            <a:r>
              <a:rPr lang="en-IE" dirty="0" smtClean="0">
                <a:effectLst/>
              </a:rPr>
              <a:t>This section differs slightly between reviews which are part of research articles and narrative reviews. </a:t>
            </a:r>
          </a:p>
          <a:p>
            <a:pPr lvl="1"/>
            <a:r>
              <a:rPr lang="en-IE" dirty="0" smtClean="0">
                <a:effectLst/>
              </a:rPr>
              <a:t>The section describes the main conclusions from analysis of all the current studies and puts forth further avenues for research. </a:t>
            </a:r>
          </a:p>
          <a:p>
            <a:pPr lvl="1"/>
            <a:r>
              <a:rPr lang="en-IE" dirty="0" smtClean="0">
                <a:effectLst/>
              </a:rPr>
              <a:t>This section requires critical interpretation by the author such that the review adds value to existing literature. It should bring out ideas/hypotheses that can explain any discrepancies and provide solutions to existing problems</a:t>
            </a:r>
            <a:endParaRPr lang="en-IE" dirty="0" smtClean="0"/>
          </a:p>
          <a:p>
            <a:endParaRPr lang="en-IE" dirty="0"/>
          </a:p>
        </p:txBody>
      </p:sp>
    </p:spTree>
    <p:extLst>
      <p:ext uri="{BB962C8B-B14F-4D97-AF65-F5344CB8AC3E}">
        <p14:creationId xmlns:p14="http://schemas.microsoft.com/office/powerpoint/2010/main" val="403074114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Systematic Reviews</a:t>
            </a:r>
            <a:endParaRPr lang="en-IE" dirty="0"/>
          </a:p>
        </p:txBody>
      </p:sp>
      <p:sp>
        <p:nvSpPr>
          <p:cNvPr id="3" name="Content Placeholder 2"/>
          <p:cNvSpPr>
            <a:spLocks noGrp="1"/>
          </p:cNvSpPr>
          <p:nvPr>
            <p:ph idx="1"/>
          </p:nvPr>
        </p:nvSpPr>
        <p:spPr/>
        <p:txBody>
          <a:bodyPr>
            <a:normAutofit fontScale="92500" lnSpcReduction="10000"/>
          </a:bodyPr>
          <a:lstStyle/>
          <a:p>
            <a:r>
              <a:rPr lang="en-IE" dirty="0" smtClean="0">
                <a:effectLst/>
              </a:rPr>
              <a:t>On the other hand, systematic reviews</a:t>
            </a:r>
            <a:r>
              <a:rPr lang="en-IE" b="1" dirty="0" smtClean="0">
                <a:effectLst/>
              </a:rPr>
              <a:t> </a:t>
            </a:r>
            <a:r>
              <a:rPr lang="en-IE" dirty="0" smtClean="0">
                <a:effectLst/>
              </a:rPr>
              <a:t>follow a well-planned methodology to qualitatively or quantitatively </a:t>
            </a:r>
            <a:r>
              <a:rPr lang="en-IE" dirty="0" err="1" smtClean="0">
                <a:effectLst/>
              </a:rPr>
              <a:t>analyze</a:t>
            </a:r>
            <a:r>
              <a:rPr lang="en-IE" dirty="0" smtClean="0">
                <a:effectLst/>
              </a:rPr>
              <a:t> a defined number of studies. They usually focus on a single question and have clear study objectives that are worked upon in a systematic manner. These studies are based on a well-defined strategy unlike narrative reviews. Systematic reviews and narrative reviews are organized slightly differently. The details are described below:</a:t>
            </a:r>
          </a:p>
          <a:p>
            <a:endParaRPr lang="en-IE" dirty="0"/>
          </a:p>
        </p:txBody>
      </p:sp>
    </p:spTree>
    <p:extLst>
      <p:ext uri="{BB962C8B-B14F-4D97-AF65-F5344CB8AC3E}">
        <p14:creationId xmlns:p14="http://schemas.microsoft.com/office/powerpoint/2010/main" val="56197425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Components of Systematic Review</a:t>
            </a:r>
            <a:endParaRPr lang="en-IE" dirty="0"/>
          </a:p>
        </p:txBody>
      </p:sp>
      <p:sp>
        <p:nvSpPr>
          <p:cNvPr id="3" name="Content Placeholder 2"/>
          <p:cNvSpPr>
            <a:spLocks noGrp="1"/>
          </p:cNvSpPr>
          <p:nvPr>
            <p:ph idx="1"/>
          </p:nvPr>
        </p:nvSpPr>
        <p:spPr/>
        <p:txBody>
          <a:bodyPr>
            <a:normAutofit fontScale="62500" lnSpcReduction="20000"/>
          </a:bodyPr>
          <a:lstStyle/>
          <a:p>
            <a:r>
              <a:rPr lang="en-IE" b="1" dirty="0" smtClean="0">
                <a:effectLst/>
              </a:rPr>
              <a:t>Introduction: </a:t>
            </a:r>
            <a:r>
              <a:rPr lang="en-IE" dirty="0" smtClean="0">
                <a:effectLst/>
              </a:rPr>
              <a:t>Systematic reviews begin with specific research questions that are defined in terms of the samples and research outcomes to be studied.</a:t>
            </a:r>
          </a:p>
          <a:p>
            <a:r>
              <a:rPr lang="en-IE" b="1" dirty="0" smtClean="0">
                <a:effectLst/>
              </a:rPr>
              <a:t>Methods (only for systematic reviews): </a:t>
            </a:r>
            <a:r>
              <a:rPr lang="en-IE" dirty="0" smtClean="0">
                <a:effectLst/>
              </a:rPr>
              <a:t> These studies have a comprehensive methodology that starts by narrowing down the literature for the review. Usually, specific inclusion/exclusion criteria are set based on the research questions and databases are searched based on these criteria. Once the sample studies have been shortlisted, they are </a:t>
            </a:r>
            <a:r>
              <a:rPr lang="en-IE" dirty="0" err="1" smtClean="0">
                <a:effectLst/>
              </a:rPr>
              <a:t>analyzed</a:t>
            </a:r>
            <a:r>
              <a:rPr lang="en-IE" dirty="0" smtClean="0">
                <a:effectLst/>
              </a:rPr>
              <a:t> in detail. </a:t>
            </a:r>
          </a:p>
          <a:p>
            <a:r>
              <a:rPr lang="en-IE" b="1" dirty="0" smtClean="0">
                <a:effectLst/>
              </a:rPr>
              <a:t>Results: </a:t>
            </a:r>
            <a:r>
              <a:rPr lang="en-IE" dirty="0" smtClean="0">
                <a:effectLst/>
              </a:rPr>
              <a:t>The results section for these studies involves comprehensive data analysis to determine the significance of the study outcomes. Systematic reviews can be accompanied with Meta-analysis which involves statistical analysis of the included studies to increase the power of the results. </a:t>
            </a:r>
          </a:p>
          <a:p>
            <a:r>
              <a:rPr lang="en-IE" b="1" dirty="0" smtClean="0">
                <a:effectLst/>
              </a:rPr>
              <a:t>Discussion:</a:t>
            </a:r>
            <a:r>
              <a:rPr lang="en-IE" dirty="0" smtClean="0">
                <a:effectLst/>
              </a:rPr>
              <a:t> This section usually interprets the study data based on their weighted significance and the power of the results. The study therefore provides strengthened results that are validated by the scientific rigor of the analytical method. </a:t>
            </a:r>
          </a:p>
          <a:p>
            <a:endParaRPr lang="en-IE" dirty="0"/>
          </a:p>
        </p:txBody>
      </p:sp>
    </p:spTree>
    <p:extLst>
      <p:ext uri="{BB962C8B-B14F-4D97-AF65-F5344CB8AC3E}">
        <p14:creationId xmlns:p14="http://schemas.microsoft.com/office/powerpoint/2010/main" val="82758217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IE" dirty="0" smtClean="0"/>
              <a:t>https://www.editage.com/insights/how-to-write-the-literature-review-of-your-research-paper</a:t>
            </a:r>
            <a:endParaRPr lang="en-IE" dirty="0"/>
          </a:p>
        </p:txBody>
      </p:sp>
    </p:spTree>
    <p:extLst>
      <p:ext uri="{BB962C8B-B14F-4D97-AF65-F5344CB8AC3E}">
        <p14:creationId xmlns:p14="http://schemas.microsoft.com/office/powerpoint/2010/main" val="20426969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dirty="0" smtClean="0"/>
              <a:t>Gaps in the Literature</a:t>
            </a:r>
            <a:endParaRPr lang="en-IE" dirty="0"/>
          </a:p>
        </p:txBody>
      </p:sp>
      <p:sp>
        <p:nvSpPr>
          <p:cNvPr id="3" name="Content Placeholder 2"/>
          <p:cNvSpPr>
            <a:spLocks noGrp="1"/>
          </p:cNvSpPr>
          <p:nvPr>
            <p:ph idx="1"/>
          </p:nvPr>
        </p:nvSpPr>
        <p:spPr/>
        <p:txBody>
          <a:bodyPr/>
          <a:lstStyle/>
          <a:p>
            <a:r>
              <a:rPr lang="en-IE" dirty="0" smtClean="0"/>
              <a:t>https://ncu.libguides.com/researchprocess/literaturegap</a:t>
            </a:r>
            <a:endParaRPr lang="en-IE" dirty="0"/>
          </a:p>
        </p:txBody>
      </p:sp>
    </p:spTree>
    <p:extLst>
      <p:ext uri="{BB962C8B-B14F-4D97-AF65-F5344CB8AC3E}">
        <p14:creationId xmlns:p14="http://schemas.microsoft.com/office/powerpoint/2010/main" val="404886313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b="1" dirty="0" smtClean="0"/>
              <a:t>What is a ‘gap in the literature’? </a:t>
            </a:r>
            <a:endParaRPr lang="en-IE" dirty="0"/>
          </a:p>
        </p:txBody>
      </p:sp>
      <p:sp>
        <p:nvSpPr>
          <p:cNvPr id="3" name="Content Placeholder 2"/>
          <p:cNvSpPr>
            <a:spLocks noGrp="1"/>
          </p:cNvSpPr>
          <p:nvPr>
            <p:ph idx="1"/>
          </p:nvPr>
        </p:nvSpPr>
        <p:spPr/>
        <p:txBody>
          <a:bodyPr/>
          <a:lstStyle/>
          <a:p>
            <a:r>
              <a:rPr lang="en-IE" dirty="0" smtClean="0"/>
              <a:t>The gap, also considered the missing piece or pieces in the research literature, is the area that has not yet been explored or is under-explored. </a:t>
            </a:r>
          </a:p>
          <a:p>
            <a:r>
              <a:rPr lang="en-IE" dirty="0" smtClean="0"/>
              <a:t>This could be a population or sample (size, type, location, etc.), research method, data collection and/or analysis, or other research variables or conditions.</a:t>
            </a:r>
          </a:p>
          <a:p>
            <a:endParaRPr lang="en-IE" dirty="0"/>
          </a:p>
        </p:txBody>
      </p:sp>
    </p:spTree>
    <p:extLst>
      <p:ext uri="{BB962C8B-B14F-4D97-AF65-F5344CB8AC3E}">
        <p14:creationId xmlns:p14="http://schemas.microsoft.com/office/powerpoint/2010/main" val="401754310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b="1" dirty="0" smtClean="0"/>
              <a:t>How do you identify the gaps? </a:t>
            </a:r>
            <a:endParaRPr lang="en-IE" dirty="0"/>
          </a:p>
        </p:txBody>
      </p:sp>
      <p:sp>
        <p:nvSpPr>
          <p:cNvPr id="3" name="Content Placeholder 2"/>
          <p:cNvSpPr>
            <a:spLocks noGrp="1"/>
          </p:cNvSpPr>
          <p:nvPr>
            <p:ph idx="1"/>
          </p:nvPr>
        </p:nvSpPr>
        <p:spPr/>
        <p:txBody>
          <a:bodyPr/>
          <a:lstStyle/>
          <a:p>
            <a:r>
              <a:rPr lang="en-IE" dirty="0" smtClean="0"/>
              <a:t>Conducting an exhaustive literature review is your first step. </a:t>
            </a:r>
          </a:p>
          <a:p>
            <a:r>
              <a:rPr lang="en-IE" dirty="0" smtClean="0"/>
              <a:t>As you search for journal articles, you will need to read critically across the breadth of the literature to identify these gaps. </a:t>
            </a:r>
          </a:p>
          <a:p>
            <a:r>
              <a:rPr lang="en-IE" dirty="0" smtClean="0"/>
              <a:t>Your goal should be to find a ‘space’ or opening for contributing new research.</a:t>
            </a:r>
          </a:p>
          <a:p>
            <a:endParaRPr lang="en-IE" dirty="0"/>
          </a:p>
        </p:txBody>
      </p:sp>
    </p:spTree>
    <p:extLst>
      <p:ext uri="{BB962C8B-B14F-4D97-AF65-F5344CB8AC3E}">
        <p14:creationId xmlns:p14="http://schemas.microsoft.com/office/powerpoint/2010/main" val="312808340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b="1" dirty="0" smtClean="0"/>
              <a:t>Where can you locate research gaps? </a:t>
            </a:r>
            <a:endParaRPr lang="en-IE" dirty="0"/>
          </a:p>
        </p:txBody>
      </p:sp>
      <p:sp>
        <p:nvSpPr>
          <p:cNvPr id="3" name="Content Placeholder 2"/>
          <p:cNvSpPr>
            <a:spLocks noGrp="1"/>
          </p:cNvSpPr>
          <p:nvPr>
            <p:ph idx="1"/>
          </p:nvPr>
        </p:nvSpPr>
        <p:spPr/>
        <p:txBody>
          <a:bodyPr/>
          <a:lstStyle/>
          <a:p>
            <a:r>
              <a:rPr lang="en-IE" dirty="0" smtClean="0"/>
              <a:t>As you begin to gather the literature, you will want to establish what has, and has not, been learned from the research. Use the </a:t>
            </a:r>
            <a:r>
              <a:rPr lang="en-IE" b="1" dirty="0" smtClean="0">
                <a:effectLst/>
              </a:rPr>
              <a:t>Discussion</a:t>
            </a:r>
            <a:r>
              <a:rPr lang="en-IE" dirty="0" smtClean="0"/>
              <a:t> and </a:t>
            </a:r>
            <a:r>
              <a:rPr lang="en-IE" b="1" dirty="0" smtClean="0">
                <a:effectLst/>
              </a:rPr>
              <a:t>Future Research</a:t>
            </a:r>
            <a:r>
              <a:rPr lang="en-IE" dirty="0" smtClean="0"/>
              <a:t> sections of the articles to understand what the researchers have found and where they point out future or additional research areas.</a:t>
            </a:r>
          </a:p>
          <a:p>
            <a:endParaRPr lang="en-IE" dirty="0"/>
          </a:p>
        </p:txBody>
      </p:sp>
    </p:spTree>
    <p:extLst>
      <p:ext uri="{BB962C8B-B14F-4D97-AF65-F5344CB8AC3E}">
        <p14:creationId xmlns:p14="http://schemas.microsoft.com/office/powerpoint/2010/main" val="239745027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Critical Questions</a:t>
            </a:r>
            <a:endParaRPr lang="en-IE" dirty="0"/>
          </a:p>
        </p:txBody>
      </p:sp>
      <p:sp>
        <p:nvSpPr>
          <p:cNvPr id="3" name="Content Placeholder 2"/>
          <p:cNvSpPr>
            <a:spLocks noGrp="1"/>
          </p:cNvSpPr>
          <p:nvPr>
            <p:ph idx="1"/>
          </p:nvPr>
        </p:nvSpPr>
        <p:spPr/>
        <p:txBody>
          <a:bodyPr>
            <a:normAutofit fontScale="77500" lnSpcReduction="20000"/>
          </a:bodyPr>
          <a:lstStyle/>
          <a:p>
            <a:r>
              <a:rPr lang="en-IE" dirty="0" smtClean="0"/>
              <a:t>Continue to ask critical questions of your topic – who, what, when, where and how – about the population or setting, conditions or variables, methods or analysis, and measurement or outcomes. </a:t>
            </a:r>
          </a:p>
          <a:p>
            <a:r>
              <a:rPr lang="en-IE" dirty="0" smtClean="0"/>
              <a:t>Also consider what has not been explored in the study and what may be a possible ‘gap’ or opening for your potential research and contribution to the topic. </a:t>
            </a:r>
          </a:p>
          <a:p>
            <a:r>
              <a:rPr lang="en-IE" dirty="0" smtClean="0"/>
              <a:t>Use organizational tools such as charts or Venn diagrams to map out the research you find from scholarly articles. These methods may be helpful to organize what information you have found and what is shared among the literature, as well as to identify what areas may be missing in the research</a:t>
            </a:r>
            <a:endParaRPr lang="en-IE" dirty="0"/>
          </a:p>
        </p:txBody>
      </p:sp>
    </p:spTree>
    <p:extLst>
      <p:ext uri="{BB962C8B-B14F-4D97-AF65-F5344CB8AC3E}">
        <p14:creationId xmlns:p14="http://schemas.microsoft.com/office/powerpoint/2010/main" val="382756789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b="1" dirty="0" smtClean="0"/>
              <a:t>Descriptions of Possible Limitations </a:t>
            </a:r>
            <a:endParaRPr lang="en-IE" dirty="0"/>
          </a:p>
        </p:txBody>
      </p:sp>
      <p:sp>
        <p:nvSpPr>
          <p:cNvPr id="3" name="Content Placeholder 2"/>
          <p:cNvSpPr>
            <a:spLocks noGrp="1"/>
          </p:cNvSpPr>
          <p:nvPr>
            <p:ph idx="1"/>
          </p:nvPr>
        </p:nvSpPr>
        <p:spPr/>
        <p:txBody>
          <a:bodyPr>
            <a:normAutofit/>
          </a:bodyPr>
          <a:lstStyle/>
          <a:p>
            <a:r>
              <a:rPr lang="en-IE" b="1" dirty="0" smtClean="0"/>
              <a:t>All </a:t>
            </a:r>
            <a:r>
              <a:rPr lang="en-IE" b="1" dirty="0"/>
              <a:t>studies have limitations</a:t>
            </a:r>
            <a:r>
              <a:rPr lang="en-IE" dirty="0"/>
              <a:t>. However, it is important that you restrict your discussion to limitations related to the research problem under investigation. </a:t>
            </a:r>
            <a:endParaRPr lang="en-IE" dirty="0" smtClean="0"/>
          </a:p>
        </p:txBody>
      </p:sp>
    </p:spTree>
    <p:extLst>
      <p:ext uri="{BB962C8B-B14F-4D97-AF65-F5344CB8AC3E}">
        <p14:creationId xmlns:p14="http://schemas.microsoft.com/office/powerpoint/2010/main" val="367642538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b="1" dirty="0" smtClean="0"/>
              <a:t>Possible Methodological Limitations</a:t>
            </a:r>
            <a:endParaRPr lang="en-IE" dirty="0"/>
          </a:p>
        </p:txBody>
      </p:sp>
      <p:sp>
        <p:nvSpPr>
          <p:cNvPr id="3" name="Content Placeholder 2"/>
          <p:cNvSpPr>
            <a:spLocks noGrp="1"/>
          </p:cNvSpPr>
          <p:nvPr>
            <p:ph idx="1"/>
          </p:nvPr>
        </p:nvSpPr>
        <p:spPr/>
        <p:txBody>
          <a:bodyPr>
            <a:normAutofit/>
          </a:bodyPr>
          <a:lstStyle/>
          <a:p>
            <a:endParaRPr lang="en-IE" dirty="0" smtClean="0">
              <a:effectLst/>
            </a:endParaRPr>
          </a:p>
        </p:txBody>
      </p:sp>
    </p:spTree>
    <p:extLst>
      <p:ext uri="{BB962C8B-B14F-4D97-AF65-F5344CB8AC3E}">
        <p14:creationId xmlns:p14="http://schemas.microsoft.com/office/powerpoint/2010/main" val="406895785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b="1" dirty="0" smtClean="0"/>
              <a:t>Sample size</a:t>
            </a:r>
            <a:r>
              <a:rPr lang="en-IE" dirty="0" smtClean="0"/>
              <a:t> --</a:t>
            </a:r>
            <a:endParaRPr lang="en-IE" dirty="0"/>
          </a:p>
        </p:txBody>
      </p:sp>
      <p:sp>
        <p:nvSpPr>
          <p:cNvPr id="3" name="Content Placeholder 2"/>
          <p:cNvSpPr>
            <a:spLocks noGrp="1"/>
          </p:cNvSpPr>
          <p:nvPr>
            <p:ph idx="1"/>
          </p:nvPr>
        </p:nvSpPr>
        <p:spPr/>
        <p:txBody>
          <a:bodyPr>
            <a:normAutofit fontScale="77500" lnSpcReduction="20000"/>
          </a:bodyPr>
          <a:lstStyle/>
          <a:p>
            <a:r>
              <a:rPr lang="en-IE" dirty="0" smtClean="0"/>
              <a:t>the number of the units of analysis you use in your study is dictated by the type of research problem you are investigating. </a:t>
            </a:r>
          </a:p>
          <a:p>
            <a:r>
              <a:rPr lang="en-IE" dirty="0" smtClean="0"/>
              <a:t>Note that, if your sample size is too small, it will be difficult to find significant relationships from the data, as statistical tests normally require a larger sample size to ensure a representative distribution of the population and to be considered representative of groups of people to whom results will be generalized or transferred. </a:t>
            </a:r>
          </a:p>
          <a:p>
            <a:r>
              <a:rPr lang="en-IE" dirty="0" smtClean="0"/>
              <a:t>Note that sample size is generally less relevant in qualitative research if explained in the context of the research problem.</a:t>
            </a:r>
            <a:endParaRPr lang="en-IE" dirty="0" smtClean="0">
              <a:effectLst/>
            </a:endParaRPr>
          </a:p>
          <a:p>
            <a:endParaRPr lang="en-IE" dirty="0"/>
          </a:p>
        </p:txBody>
      </p:sp>
    </p:spTree>
    <p:extLst>
      <p:ext uri="{BB962C8B-B14F-4D97-AF65-F5344CB8AC3E}">
        <p14:creationId xmlns:p14="http://schemas.microsoft.com/office/powerpoint/2010/main" val="341440702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b="1" dirty="0" smtClean="0"/>
              <a:t>Lack of available and/or reliable data</a:t>
            </a:r>
            <a:endParaRPr lang="en-IE" dirty="0"/>
          </a:p>
        </p:txBody>
      </p:sp>
      <p:sp>
        <p:nvSpPr>
          <p:cNvPr id="3" name="Content Placeholder 2"/>
          <p:cNvSpPr>
            <a:spLocks noGrp="1"/>
          </p:cNvSpPr>
          <p:nvPr>
            <p:ph idx="1"/>
          </p:nvPr>
        </p:nvSpPr>
        <p:spPr/>
        <p:txBody>
          <a:bodyPr>
            <a:normAutofit fontScale="85000" lnSpcReduction="10000"/>
          </a:bodyPr>
          <a:lstStyle/>
          <a:p>
            <a:r>
              <a:rPr lang="en-IE" dirty="0" smtClean="0"/>
              <a:t>-- a lack of data or of reliable data will likely require you to limit the scope of your analysis, the size of your sample, or it can be a significant obstacle in finding a trend and a meaningful relationship. </a:t>
            </a:r>
          </a:p>
          <a:p>
            <a:r>
              <a:rPr lang="en-IE" dirty="0" smtClean="0"/>
              <a:t>You need to not only describe these limitations but provide cogent reasons why you believe data is missing or is unreliable. </a:t>
            </a:r>
          </a:p>
          <a:p>
            <a:r>
              <a:rPr lang="en-IE" dirty="0" smtClean="0"/>
              <a:t>However, don’t just throw up your hands in frustration; use this as an opportunity to describe a need for future research or a differently designed method for gathering data.</a:t>
            </a:r>
            <a:endParaRPr lang="en-IE" dirty="0" smtClean="0">
              <a:effectLst/>
            </a:endParaRPr>
          </a:p>
        </p:txBody>
      </p:sp>
    </p:spTree>
    <p:extLst>
      <p:ext uri="{BB962C8B-B14F-4D97-AF65-F5344CB8AC3E}">
        <p14:creationId xmlns:p14="http://schemas.microsoft.com/office/powerpoint/2010/main" val="206424921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b="1" dirty="0" smtClean="0"/>
              <a:t>Lack of prior research studies on the topic</a:t>
            </a:r>
            <a:endParaRPr lang="en-IE" dirty="0"/>
          </a:p>
        </p:txBody>
      </p:sp>
      <p:sp>
        <p:nvSpPr>
          <p:cNvPr id="3" name="Content Placeholder 2"/>
          <p:cNvSpPr>
            <a:spLocks noGrp="1"/>
          </p:cNvSpPr>
          <p:nvPr>
            <p:ph idx="1"/>
          </p:nvPr>
        </p:nvSpPr>
        <p:spPr/>
        <p:txBody>
          <a:bodyPr>
            <a:normAutofit fontScale="92500" lnSpcReduction="20000"/>
          </a:bodyPr>
          <a:lstStyle/>
          <a:p>
            <a:r>
              <a:rPr lang="en-IE" dirty="0" smtClean="0"/>
              <a:t>-- citing prior research studies forms the basis of your literature review and helps lay a foundation for understanding the research problem you are investigating. </a:t>
            </a:r>
          </a:p>
          <a:p>
            <a:r>
              <a:rPr lang="en-IE" dirty="0" smtClean="0"/>
              <a:t>Depending on the currency or scope of your research topic, there may be little, if any, prior research on your topic. </a:t>
            </a:r>
          </a:p>
          <a:p>
            <a:r>
              <a:rPr lang="en-IE" dirty="0" smtClean="0"/>
              <a:t>Note again that discovering a limitation can serve as an important opportunity to identify new gaps in the literature and to describe the need for further research.</a:t>
            </a:r>
            <a:endParaRPr lang="en-IE" dirty="0" smtClean="0">
              <a:effectLst/>
            </a:endParaRPr>
          </a:p>
        </p:txBody>
      </p:sp>
    </p:spTree>
    <p:extLst>
      <p:ext uri="{BB962C8B-B14F-4D97-AF65-F5344CB8AC3E}">
        <p14:creationId xmlns:p14="http://schemas.microsoft.com/office/powerpoint/2010/main" val="63980040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b="1" dirty="0" smtClean="0"/>
              <a:t>Measure used to collect the data </a:t>
            </a:r>
            <a:r>
              <a:rPr lang="en-IE" dirty="0" smtClean="0"/>
              <a:t>--</a:t>
            </a:r>
            <a:endParaRPr lang="en-IE" dirty="0"/>
          </a:p>
        </p:txBody>
      </p:sp>
      <p:sp>
        <p:nvSpPr>
          <p:cNvPr id="3" name="Content Placeholder 2"/>
          <p:cNvSpPr>
            <a:spLocks noGrp="1"/>
          </p:cNvSpPr>
          <p:nvPr>
            <p:ph idx="1"/>
          </p:nvPr>
        </p:nvSpPr>
        <p:spPr/>
        <p:txBody>
          <a:bodyPr>
            <a:normAutofit fontScale="85000" lnSpcReduction="10000"/>
          </a:bodyPr>
          <a:lstStyle/>
          <a:p>
            <a:r>
              <a:rPr lang="en-IE" dirty="0" smtClean="0"/>
              <a:t>sometimes it is the case that, after completing your interpretation of the findings, you discover that the way in which you gathered data inhibited your ability to conduct a thorough analysis of the results. </a:t>
            </a:r>
          </a:p>
          <a:p>
            <a:r>
              <a:rPr lang="en-IE" dirty="0" smtClean="0"/>
              <a:t>For example, you regret not including a specific question in a survey that, in retrospect, could have helped address a particular issue that emerged later in the study. Acknowledge the deficiency by stating a need for future researchers to revise the specific method for gathering data.</a:t>
            </a:r>
            <a:endParaRPr lang="en-IE" dirty="0" smtClean="0">
              <a:effectLst/>
            </a:endParaRPr>
          </a:p>
        </p:txBody>
      </p:sp>
    </p:spTree>
    <p:extLst>
      <p:ext uri="{BB962C8B-B14F-4D97-AF65-F5344CB8AC3E}">
        <p14:creationId xmlns:p14="http://schemas.microsoft.com/office/powerpoint/2010/main" val="346328199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b="1" dirty="0" smtClean="0"/>
              <a:t>Self-reported data </a:t>
            </a:r>
            <a:r>
              <a:rPr lang="en-IE" dirty="0" smtClean="0"/>
              <a:t>--</a:t>
            </a:r>
            <a:endParaRPr lang="en-IE" dirty="0"/>
          </a:p>
        </p:txBody>
      </p:sp>
      <p:sp>
        <p:nvSpPr>
          <p:cNvPr id="3" name="Content Placeholder 2"/>
          <p:cNvSpPr>
            <a:spLocks noGrp="1"/>
          </p:cNvSpPr>
          <p:nvPr>
            <p:ph idx="1"/>
          </p:nvPr>
        </p:nvSpPr>
        <p:spPr/>
        <p:txBody>
          <a:bodyPr>
            <a:normAutofit fontScale="62500" lnSpcReduction="20000"/>
          </a:bodyPr>
          <a:lstStyle/>
          <a:p>
            <a:r>
              <a:rPr lang="en-IE" dirty="0" smtClean="0"/>
              <a:t>whether you are relying on pre-existing data or you are conducting a qualitative research study and gathering the data yourself, self-reported data is limited by the fact that it rarely can be independently verified. In other words, you have to take what people say, whether in interviews, focus groups, or on questionnaires, at face value. </a:t>
            </a:r>
          </a:p>
          <a:p>
            <a:r>
              <a:rPr lang="en-IE" dirty="0" smtClean="0"/>
              <a:t>However, self-reported data can contain several potential sources of bias that you should be alert to and note as limitations. These biases become apparent if they are incongruent with data from other sources. </a:t>
            </a:r>
          </a:p>
          <a:p>
            <a:r>
              <a:rPr lang="en-IE" dirty="0" smtClean="0"/>
              <a:t>These are: </a:t>
            </a:r>
          </a:p>
          <a:p>
            <a:pPr lvl="1"/>
            <a:r>
              <a:rPr lang="en-IE" dirty="0" smtClean="0"/>
              <a:t>(1) </a:t>
            </a:r>
            <a:r>
              <a:rPr lang="en-IE" b="1" dirty="0" smtClean="0"/>
              <a:t>selective memory</a:t>
            </a:r>
            <a:r>
              <a:rPr lang="en-IE" dirty="0" smtClean="0"/>
              <a:t> [remembering or not remembering experiences or events that occurred at some point in the past]; </a:t>
            </a:r>
          </a:p>
          <a:p>
            <a:pPr lvl="1"/>
            <a:r>
              <a:rPr lang="en-IE" dirty="0" smtClean="0"/>
              <a:t>(2) </a:t>
            </a:r>
            <a:r>
              <a:rPr lang="en-IE" b="1" dirty="0" smtClean="0"/>
              <a:t>telescoping</a:t>
            </a:r>
            <a:r>
              <a:rPr lang="en-IE" dirty="0" smtClean="0"/>
              <a:t> [recalling events that occurred at one time as if they occurred at another time]; </a:t>
            </a:r>
          </a:p>
          <a:p>
            <a:pPr lvl="1"/>
            <a:r>
              <a:rPr lang="en-IE" dirty="0" smtClean="0"/>
              <a:t>(3) </a:t>
            </a:r>
            <a:r>
              <a:rPr lang="en-IE" b="1" dirty="0" smtClean="0"/>
              <a:t>attribution</a:t>
            </a:r>
            <a:r>
              <a:rPr lang="en-IE" dirty="0" smtClean="0"/>
              <a:t> [the act of attributing positive events and outcomes to one's own agency, but attributing negative events and outcomes to external forces];</a:t>
            </a:r>
          </a:p>
          <a:p>
            <a:endParaRPr lang="en-IE" dirty="0" smtClean="0"/>
          </a:p>
          <a:p>
            <a:endParaRPr lang="en-IE" dirty="0" smtClean="0"/>
          </a:p>
          <a:p>
            <a:endParaRPr lang="en-IE" dirty="0" smtClean="0"/>
          </a:p>
          <a:p>
            <a:endParaRPr lang="en-IE" dirty="0"/>
          </a:p>
        </p:txBody>
      </p:sp>
    </p:spTree>
    <p:extLst>
      <p:ext uri="{BB962C8B-B14F-4D97-AF65-F5344CB8AC3E}">
        <p14:creationId xmlns:p14="http://schemas.microsoft.com/office/powerpoint/2010/main" val="151541626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Methods</a:t>
            </a:r>
            <a:endParaRPr lang="en-IE" dirty="0"/>
          </a:p>
        </p:txBody>
      </p:sp>
      <p:sp>
        <p:nvSpPr>
          <p:cNvPr id="3" name="Content Placeholder 2"/>
          <p:cNvSpPr>
            <a:spLocks noGrp="1"/>
          </p:cNvSpPr>
          <p:nvPr>
            <p:ph idx="1"/>
          </p:nvPr>
        </p:nvSpPr>
        <p:spPr/>
        <p:txBody>
          <a:bodyPr/>
          <a:lstStyle/>
          <a:p>
            <a:r>
              <a:rPr lang="en-IE" dirty="0" smtClean="0"/>
              <a:t>Are the methods appropriate</a:t>
            </a:r>
          </a:p>
          <a:p>
            <a:r>
              <a:rPr lang="en-IE" dirty="0" smtClean="0"/>
              <a:t>Is the stated rationale for using them adequate</a:t>
            </a:r>
          </a:p>
          <a:p>
            <a:r>
              <a:rPr lang="en-IE" dirty="0" smtClean="0"/>
              <a:t>Have they been applied elsewhere with limited success</a:t>
            </a:r>
          </a:p>
          <a:p>
            <a:r>
              <a:rPr lang="en-IE" dirty="0" smtClean="0"/>
              <a:t>Has appropriate pre-processing been done</a:t>
            </a:r>
          </a:p>
          <a:p>
            <a:r>
              <a:rPr lang="en-IE" dirty="0" smtClean="0"/>
              <a:t>Are there known problems such as data bias</a:t>
            </a:r>
            <a:endParaRPr lang="en-IE" dirty="0"/>
          </a:p>
        </p:txBody>
      </p:sp>
    </p:spTree>
    <p:extLst>
      <p:ext uri="{BB962C8B-B14F-4D97-AF65-F5344CB8AC3E}">
        <p14:creationId xmlns:p14="http://schemas.microsoft.com/office/powerpoint/2010/main" val="136391450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b="1" dirty="0" smtClean="0"/>
              <a:t>Possible Limitations of the Researcher</a:t>
            </a:r>
            <a:endParaRPr lang="en-IE" dirty="0"/>
          </a:p>
        </p:txBody>
      </p:sp>
      <p:sp>
        <p:nvSpPr>
          <p:cNvPr id="3" name="Content Placeholder 2"/>
          <p:cNvSpPr>
            <a:spLocks noGrp="1"/>
          </p:cNvSpPr>
          <p:nvPr>
            <p:ph idx="1"/>
          </p:nvPr>
        </p:nvSpPr>
        <p:spPr/>
        <p:txBody>
          <a:bodyPr>
            <a:normAutofit/>
          </a:bodyPr>
          <a:lstStyle/>
          <a:p>
            <a:endParaRPr lang="en-IE" dirty="0"/>
          </a:p>
        </p:txBody>
      </p:sp>
    </p:spTree>
    <p:extLst>
      <p:ext uri="{BB962C8B-B14F-4D97-AF65-F5344CB8AC3E}">
        <p14:creationId xmlns:p14="http://schemas.microsoft.com/office/powerpoint/2010/main" val="236008644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b="1" dirty="0" smtClean="0"/>
              <a:t>Access</a:t>
            </a:r>
            <a:r>
              <a:rPr lang="en-IE" dirty="0" smtClean="0"/>
              <a:t> -</a:t>
            </a:r>
            <a:endParaRPr lang="en-IE" dirty="0"/>
          </a:p>
        </p:txBody>
      </p:sp>
      <p:sp>
        <p:nvSpPr>
          <p:cNvPr id="3" name="Content Placeholder 2"/>
          <p:cNvSpPr>
            <a:spLocks noGrp="1"/>
          </p:cNvSpPr>
          <p:nvPr>
            <p:ph idx="1"/>
          </p:nvPr>
        </p:nvSpPr>
        <p:spPr/>
        <p:txBody>
          <a:bodyPr>
            <a:normAutofit/>
          </a:bodyPr>
          <a:lstStyle/>
          <a:p>
            <a:r>
              <a:rPr lang="en-IE" dirty="0" smtClean="0"/>
              <a:t>- if your study depends on having access to people, organizations, data, or documents and, for whatever reason, access is denied or limited in some way, the reasons for this needs to be described. </a:t>
            </a:r>
          </a:p>
          <a:p>
            <a:r>
              <a:rPr lang="en-IE" dirty="0" smtClean="0"/>
              <a:t>Also, include an explanation why being denied or limited access did not prevent you from following through on your study.</a:t>
            </a:r>
            <a:endParaRPr lang="en-IE" dirty="0" smtClean="0">
              <a:effectLst/>
            </a:endParaRPr>
          </a:p>
          <a:p>
            <a:endParaRPr lang="en-IE" dirty="0"/>
          </a:p>
        </p:txBody>
      </p:sp>
    </p:spTree>
    <p:extLst>
      <p:ext uri="{BB962C8B-B14F-4D97-AF65-F5344CB8AC3E}">
        <p14:creationId xmlns:p14="http://schemas.microsoft.com/office/powerpoint/2010/main" val="35355088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b="1" dirty="0" smtClean="0"/>
              <a:t>Longitudinal effects</a:t>
            </a:r>
            <a:endParaRPr lang="en-IE" dirty="0"/>
          </a:p>
        </p:txBody>
      </p:sp>
      <p:sp>
        <p:nvSpPr>
          <p:cNvPr id="3" name="Content Placeholder 2"/>
          <p:cNvSpPr>
            <a:spLocks noGrp="1"/>
          </p:cNvSpPr>
          <p:nvPr>
            <p:ph idx="1"/>
          </p:nvPr>
        </p:nvSpPr>
        <p:spPr/>
        <p:txBody>
          <a:bodyPr>
            <a:normAutofit fontScale="85000" lnSpcReduction="20000"/>
          </a:bodyPr>
          <a:lstStyle/>
          <a:p>
            <a:r>
              <a:rPr lang="en-IE" dirty="0" smtClean="0"/>
              <a:t>-- unlike your professor, who can literally devote years [even a lifetime] to studying a single topic, the time available to investigate a research problem and to measure change or stability over time is pretty much constrained by the due date of your assignment. </a:t>
            </a:r>
          </a:p>
          <a:p>
            <a:r>
              <a:rPr lang="en-IE" dirty="0" smtClean="0"/>
              <a:t>Be sure to choose a research problem that does not require an excessive amount of time to complete the literature review, apply the methodology, and gather and interpret the results. </a:t>
            </a:r>
          </a:p>
          <a:p>
            <a:r>
              <a:rPr lang="en-IE" dirty="0" smtClean="0"/>
              <a:t>If you're unsure whether you can complete your research within the confines of the assignment's due date, talk to your professor.</a:t>
            </a:r>
            <a:endParaRPr lang="en-IE" dirty="0" smtClean="0">
              <a:effectLst/>
            </a:endParaRPr>
          </a:p>
          <a:p>
            <a:endParaRPr lang="en-IE" dirty="0"/>
          </a:p>
        </p:txBody>
      </p:sp>
    </p:spTree>
    <p:extLst>
      <p:ext uri="{BB962C8B-B14F-4D97-AF65-F5344CB8AC3E}">
        <p14:creationId xmlns:p14="http://schemas.microsoft.com/office/powerpoint/2010/main" val="294108603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b="1" dirty="0" smtClean="0"/>
              <a:t>Cultural and other type of bias</a:t>
            </a:r>
            <a:endParaRPr lang="en-IE" dirty="0"/>
          </a:p>
        </p:txBody>
      </p:sp>
      <p:sp>
        <p:nvSpPr>
          <p:cNvPr id="3" name="Content Placeholder 2"/>
          <p:cNvSpPr>
            <a:spLocks noGrp="1"/>
          </p:cNvSpPr>
          <p:nvPr>
            <p:ph idx="1"/>
          </p:nvPr>
        </p:nvSpPr>
        <p:spPr/>
        <p:txBody>
          <a:bodyPr>
            <a:normAutofit fontScale="62500" lnSpcReduction="20000"/>
          </a:bodyPr>
          <a:lstStyle/>
          <a:p>
            <a:r>
              <a:rPr lang="en-IE" dirty="0" smtClean="0"/>
              <a:t>-- we all have biases, whether we are conscience of them or not. Bias is when a person, place, event, or thing is viewed or shown in a consistently inaccurate way. </a:t>
            </a:r>
          </a:p>
          <a:p>
            <a:r>
              <a:rPr lang="en-IE" dirty="0" smtClean="0"/>
              <a:t>Bias is usually negative, though one can have a positive bias as well, especially if that bias reflects your reliance on research that only support your hypothesis. </a:t>
            </a:r>
          </a:p>
          <a:p>
            <a:r>
              <a:rPr lang="en-IE" dirty="0" smtClean="0"/>
              <a:t>When proof-reading your paper, be especially critical in reviewing how you have stated a problem, selected the data to be studied, what may have been omitted, the manner in which you have ordered events, people, or places, how you have chosen to represent a person, place, or thing, to name a phenomenon, or to use possible words with a positive or negative connotation. </a:t>
            </a:r>
          </a:p>
          <a:p>
            <a:r>
              <a:rPr lang="en-IE" b="1" dirty="0" smtClean="0"/>
              <a:t>NOTE:</a:t>
            </a:r>
            <a:r>
              <a:rPr lang="en-IE" dirty="0" smtClean="0"/>
              <a:t>  If you detect bias in prior research, it must be acknowledged and you should explain what measures were taken to avoid perpetuating that bias. For example, if a previous study only used boys to examine how music education supports effective math skills, describe how does your research expand the study to include girls?</a:t>
            </a:r>
            <a:endParaRPr lang="en-IE" dirty="0" smtClean="0">
              <a:effectLst/>
            </a:endParaRPr>
          </a:p>
        </p:txBody>
      </p:sp>
    </p:spTree>
    <p:extLst>
      <p:ext uri="{BB962C8B-B14F-4D97-AF65-F5344CB8AC3E}">
        <p14:creationId xmlns:p14="http://schemas.microsoft.com/office/powerpoint/2010/main" val="114778236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b="1" dirty="0" smtClean="0"/>
              <a:t>Fluency in a language</a:t>
            </a:r>
            <a:endParaRPr lang="en-IE" dirty="0"/>
          </a:p>
        </p:txBody>
      </p:sp>
      <p:sp>
        <p:nvSpPr>
          <p:cNvPr id="3" name="Content Placeholder 2"/>
          <p:cNvSpPr>
            <a:spLocks noGrp="1"/>
          </p:cNvSpPr>
          <p:nvPr>
            <p:ph idx="1"/>
          </p:nvPr>
        </p:nvSpPr>
        <p:spPr/>
        <p:txBody>
          <a:bodyPr>
            <a:normAutofit fontScale="92500"/>
          </a:bodyPr>
          <a:lstStyle/>
          <a:p>
            <a:r>
              <a:rPr lang="en-IE" dirty="0" smtClean="0"/>
              <a:t>-- if your research focuses, for example, on measuring the perceived value of after-school tutoring among Mexican-American ESL [English as a Second Language] students and you are not fluent in Spanish, you are limited in being able to read and interpret Spanish language research studies on the topic or to speak with these students in their primary language. </a:t>
            </a:r>
          </a:p>
          <a:p>
            <a:r>
              <a:rPr lang="en-IE" dirty="0" smtClean="0"/>
              <a:t>This deficiency should be acknowledged.</a:t>
            </a:r>
            <a:endParaRPr lang="en-IE" dirty="0" smtClean="0">
              <a:effectLst/>
            </a:endParaRPr>
          </a:p>
          <a:p>
            <a:endParaRPr lang="en-IE" dirty="0" smtClean="0"/>
          </a:p>
          <a:p>
            <a:endParaRPr lang="en-IE" dirty="0" smtClean="0"/>
          </a:p>
          <a:p>
            <a:endParaRPr lang="en-IE" dirty="0"/>
          </a:p>
        </p:txBody>
      </p:sp>
    </p:spTree>
    <p:extLst>
      <p:ext uri="{BB962C8B-B14F-4D97-AF65-F5344CB8AC3E}">
        <p14:creationId xmlns:p14="http://schemas.microsoft.com/office/powerpoint/2010/main" val="329584935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IE" dirty="0" smtClean="0"/>
              <a:t>https://libguides.usc.edu/writingguide/limitations</a:t>
            </a:r>
            <a:endParaRPr lang="en-IE" dirty="0"/>
          </a:p>
        </p:txBody>
      </p:sp>
    </p:spTree>
    <p:extLst>
      <p:ext uri="{BB962C8B-B14F-4D97-AF65-F5344CB8AC3E}">
        <p14:creationId xmlns:p14="http://schemas.microsoft.com/office/powerpoint/2010/main" val="189347641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Finally</a:t>
            </a:r>
            <a:endParaRPr lang="en-IE" dirty="0"/>
          </a:p>
        </p:txBody>
      </p:sp>
      <p:sp>
        <p:nvSpPr>
          <p:cNvPr id="3" name="Content Placeholder 2"/>
          <p:cNvSpPr>
            <a:spLocks noGrp="1"/>
          </p:cNvSpPr>
          <p:nvPr>
            <p:ph idx="1"/>
          </p:nvPr>
        </p:nvSpPr>
        <p:spPr/>
        <p:txBody>
          <a:bodyPr>
            <a:normAutofit fontScale="85000" lnSpcReduction="20000"/>
          </a:bodyPr>
          <a:lstStyle/>
          <a:p>
            <a:r>
              <a:rPr lang="en-IE" b="1" dirty="0" smtClean="0"/>
              <a:t>Always </a:t>
            </a:r>
            <a:r>
              <a:rPr lang="en-IE" b="1" dirty="0"/>
              <a:t>acknowledge a study's limitations.</a:t>
            </a:r>
            <a:r>
              <a:rPr lang="en-IE" dirty="0"/>
              <a:t> It is far better that you identify and acknowledge your study’s limitations than to have them pointed out by your professor and have your grade lowered because you appeared to have ignored them.</a:t>
            </a:r>
            <a:endParaRPr lang="en-IE" dirty="0" smtClean="0">
              <a:effectLst/>
            </a:endParaRPr>
          </a:p>
          <a:p>
            <a:r>
              <a:rPr lang="en-IE" b="1" dirty="0"/>
              <a:t>Keep in mind that acknowledgment of a study's limitations is an opportunity to make suggestions for further research.</a:t>
            </a:r>
            <a:r>
              <a:rPr lang="en-IE" dirty="0"/>
              <a:t> If you do connect your study's limitations to suggestions for further research, be sure to explain the ways in which these unanswered questions may become more focused because of your study</a:t>
            </a:r>
            <a:r>
              <a:rPr lang="en-IE" dirty="0" smtClean="0"/>
              <a:t>.</a:t>
            </a:r>
            <a:endParaRPr lang="en-IE" dirty="0" smtClean="0">
              <a:effectLst/>
            </a:endParaRPr>
          </a:p>
        </p:txBody>
      </p:sp>
    </p:spTree>
    <p:extLst>
      <p:ext uri="{BB962C8B-B14F-4D97-AF65-F5344CB8AC3E}">
        <p14:creationId xmlns:p14="http://schemas.microsoft.com/office/powerpoint/2010/main" val="353025374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Opportunity</a:t>
            </a:r>
            <a:endParaRPr lang="en-IE" dirty="0"/>
          </a:p>
        </p:txBody>
      </p:sp>
      <p:sp>
        <p:nvSpPr>
          <p:cNvPr id="3" name="Content Placeholder 2"/>
          <p:cNvSpPr>
            <a:spLocks noGrp="1"/>
          </p:cNvSpPr>
          <p:nvPr>
            <p:ph idx="1"/>
          </p:nvPr>
        </p:nvSpPr>
        <p:spPr/>
        <p:txBody>
          <a:bodyPr>
            <a:normAutofit fontScale="92500" lnSpcReduction="10000"/>
          </a:bodyPr>
          <a:lstStyle/>
          <a:p>
            <a:r>
              <a:rPr lang="en-IE" b="1" dirty="0" smtClean="0"/>
              <a:t>Acknowledgment of a study's limitations also provides you with an opportunity</a:t>
            </a:r>
            <a:r>
              <a:rPr lang="en-IE" dirty="0" smtClean="0"/>
              <a:t> to demonstrate that you have thought critically about the research problem, understood the relevant literature published about it, and correctly assessed the methods chosen for studying the problem. </a:t>
            </a:r>
          </a:p>
          <a:p>
            <a:r>
              <a:rPr lang="en-IE" dirty="0" smtClean="0"/>
              <a:t>A key objective of the research process is not only discovering new knowledge but to also confront assumptions and explore what we don't know.</a:t>
            </a:r>
            <a:endParaRPr lang="en-IE" dirty="0" smtClean="0">
              <a:effectLst/>
            </a:endParaRPr>
          </a:p>
        </p:txBody>
      </p:sp>
    </p:spTree>
    <p:extLst>
      <p:ext uri="{BB962C8B-B14F-4D97-AF65-F5344CB8AC3E}">
        <p14:creationId xmlns:p14="http://schemas.microsoft.com/office/powerpoint/2010/main" val="200565517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Note</a:t>
            </a:r>
            <a:endParaRPr lang="en-IE" dirty="0"/>
          </a:p>
        </p:txBody>
      </p:sp>
      <p:sp>
        <p:nvSpPr>
          <p:cNvPr id="3" name="Content Placeholder 2"/>
          <p:cNvSpPr>
            <a:spLocks noGrp="1"/>
          </p:cNvSpPr>
          <p:nvPr>
            <p:ph idx="1"/>
          </p:nvPr>
        </p:nvSpPr>
        <p:spPr/>
        <p:txBody>
          <a:bodyPr>
            <a:normAutofit fontScale="77500" lnSpcReduction="20000"/>
          </a:bodyPr>
          <a:lstStyle/>
          <a:p>
            <a:r>
              <a:rPr lang="en-IE" b="1" dirty="0" smtClean="0"/>
              <a:t>Claiming limitations is a subjective process because you must evaluate the impact of those limitations</a:t>
            </a:r>
            <a:r>
              <a:rPr lang="en-IE" dirty="0" smtClean="0"/>
              <a:t>. Don't just list key weaknesses and the magnitude of a study's limitations. </a:t>
            </a:r>
          </a:p>
          <a:p>
            <a:r>
              <a:rPr lang="en-IE" dirty="0" smtClean="0"/>
              <a:t>To do so diminishes the validity of your research because it leaves the reader wondering whether, or in what ways, limitation(s) in your study may have impacted the results and conclusions. Limitations require a critical, overall appraisal and interpretation of their impact. </a:t>
            </a:r>
          </a:p>
          <a:p>
            <a:r>
              <a:rPr lang="en-IE" dirty="0" smtClean="0"/>
              <a:t>You should answer the question: do these problems with errors, methods, validity, etc. eventually matter and, if so, to what extent?</a:t>
            </a:r>
            <a:endParaRPr lang="en-IE" dirty="0" smtClean="0">
              <a:effectLst/>
            </a:endParaRPr>
          </a:p>
          <a:p>
            <a:endParaRPr lang="en-IE" dirty="0" smtClean="0"/>
          </a:p>
          <a:p>
            <a:endParaRPr lang="en-IE" dirty="0" smtClean="0"/>
          </a:p>
          <a:p>
            <a:endParaRPr lang="en-IE" dirty="0"/>
          </a:p>
        </p:txBody>
      </p:sp>
    </p:spTree>
    <p:extLst>
      <p:ext uri="{BB962C8B-B14F-4D97-AF65-F5344CB8AC3E}">
        <p14:creationId xmlns:p14="http://schemas.microsoft.com/office/powerpoint/2010/main" val="417737703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TotalTime>
  <Words>3337</Words>
  <Application>Microsoft Office PowerPoint</Application>
  <PresentationFormat>On-screen Show (4:3)</PresentationFormat>
  <Paragraphs>210</Paragraphs>
  <Slides>53</Slides>
  <Notes>0</Notes>
  <HiddenSlides>0</HiddenSlides>
  <MMClips>0</MMClips>
  <ScaleCrop>false</ScaleCrop>
  <HeadingPairs>
    <vt:vector size="4" baseType="variant">
      <vt:variant>
        <vt:lpstr>Theme</vt:lpstr>
      </vt:variant>
      <vt:variant>
        <vt:i4>1</vt:i4>
      </vt:variant>
      <vt:variant>
        <vt:lpstr>Slide Titles</vt:lpstr>
      </vt:variant>
      <vt:variant>
        <vt:i4>53</vt:i4>
      </vt:variant>
    </vt:vector>
  </HeadingPairs>
  <TitlesOfParts>
    <vt:vector size="54" baseType="lpstr">
      <vt:lpstr>Office Theme</vt:lpstr>
      <vt:lpstr>PowerPoint Presentation</vt:lpstr>
      <vt:lpstr>Title</vt:lpstr>
      <vt:lpstr>Writing an Abstract for Your Research Paper</vt:lpstr>
      <vt:lpstr>Definition and Purpose of Abstracts</vt:lpstr>
      <vt:lpstr>Typical kinds of information found in most abstracts: </vt:lpstr>
      <vt:lpstr>Background</vt:lpstr>
      <vt:lpstr>Methods</vt:lpstr>
      <vt:lpstr>Results</vt:lpstr>
      <vt:lpstr>Conclusions</vt:lpstr>
      <vt:lpstr>Abstract</vt:lpstr>
      <vt:lpstr>Abstracts and Search Engines</vt:lpstr>
      <vt:lpstr>PowerPoint Presentation</vt:lpstr>
      <vt:lpstr>Writing a Research Paper</vt:lpstr>
      <vt:lpstr>Discovering, Narrowing, and Focusing a Researchable Topic</vt:lpstr>
      <vt:lpstr>Finding, Selecting, and Reading Sources</vt:lpstr>
      <vt:lpstr>PowerPoint Presentation</vt:lpstr>
      <vt:lpstr>Writing an Outline and a Prospectus for Yourself</vt:lpstr>
      <vt:lpstr>Writing the Introduction</vt:lpstr>
      <vt:lpstr>Writing the Body</vt:lpstr>
      <vt:lpstr>Writing the Conclusion</vt:lpstr>
      <vt:lpstr>Revising the Final Draft</vt:lpstr>
      <vt:lpstr>PowerPoint Presentation</vt:lpstr>
      <vt:lpstr>Literature review</vt:lpstr>
      <vt:lpstr>General Structure</vt:lpstr>
      <vt:lpstr>Broad Outline</vt:lpstr>
      <vt:lpstr>Stand-alone literature reviews</vt:lpstr>
      <vt:lpstr>1. Narrative reviews</vt:lpstr>
      <vt:lpstr>Organization of Narrative Reviews</vt:lpstr>
      <vt:lpstr>Systematic Reviews</vt:lpstr>
      <vt:lpstr>Components of Systematic Review</vt:lpstr>
      <vt:lpstr>PowerPoint Presentation</vt:lpstr>
      <vt:lpstr>Gaps in the Literature</vt:lpstr>
      <vt:lpstr>What is a ‘gap in the literature’? </vt:lpstr>
      <vt:lpstr>How do you identify the gaps? </vt:lpstr>
      <vt:lpstr>Where can you locate research gaps? </vt:lpstr>
      <vt:lpstr>Critical Questions</vt:lpstr>
      <vt:lpstr>Descriptions of Possible Limitations </vt:lpstr>
      <vt:lpstr>Possible Methodological Limitations</vt:lpstr>
      <vt:lpstr>Sample size --</vt:lpstr>
      <vt:lpstr>Lack of available and/or reliable data</vt:lpstr>
      <vt:lpstr>Lack of prior research studies on the topic</vt:lpstr>
      <vt:lpstr>Measure used to collect the data --</vt:lpstr>
      <vt:lpstr>Self-reported data --</vt:lpstr>
      <vt:lpstr>Methods</vt:lpstr>
      <vt:lpstr>Possible Limitations of the Researcher</vt:lpstr>
      <vt:lpstr>Access -</vt:lpstr>
      <vt:lpstr>Longitudinal effects</vt:lpstr>
      <vt:lpstr>Cultural and other type of bias</vt:lpstr>
      <vt:lpstr>Fluency in a language</vt:lpstr>
      <vt:lpstr>PowerPoint Presentation</vt:lpstr>
      <vt:lpstr>Finally</vt:lpstr>
      <vt:lpstr>Opportunity</vt:lpstr>
      <vt:lpstr>Note</vt:lpstr>
    </vt:vector>
  </TitlesOfParts>
  <Company>Hewlett-Packard Company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Writing an Abstract for Your Research Paper</dc:title>
  <dc:creator>John-PC</dc:creator>
  <cp:lastModifiedBy>John-PC</cp:lastModifiedBy>
  <cp:revision>6</cp:revision>
  <dcterms:created xsi:type="dcterms:W3CDTF">2020-12-07T09:50:04Z</dcterms:created>
  <dcterms:modified xsi:type="dcterms:W3CDTF">2020-12-07T10:45:27Z</dcterms:modified>
</cp:coreProperties>
</file>