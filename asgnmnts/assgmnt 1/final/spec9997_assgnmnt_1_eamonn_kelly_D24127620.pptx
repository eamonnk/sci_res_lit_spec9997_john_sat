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tiff" ContentType="image/tiff"/>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notesMasters/notesMaster1.xml" ContentType="application/vnd.openxmlformats-officedocument.presentationml.notes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theme/theme2.xml" ContentType="application/vnd.openxmlformats-officedocument.theme+xml"/>
  <Override PartName="/ppt/tags/tag2.xml" ContentType="application/vnd.openxmlformats-officedocument.presentationml.tags+xml"/>
  <Override PartName="/ppt/tags/tag3.xml" ContentType="application/vnd.openxmlformats-officedocument.presentationml.tag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893" r:id="rId4"/>
  </p:sldMasterIdLst>
  <p:notesMasterIdLst>
    <p:notesMasterId r:id="rId41"/>
  </p:notesMasterIdLst>
  <p:sldIdLst>
    <p:sldId id="294" r:id="rId5"/>
    <p:sldId id="343" r:id="rId6"/>
    <p:sldId id="278" r:id="rId7"/>
    <p:sldId id="279" r:id="rId8"/>
    <p:sldId id="308" r:id="rId9"/>
    <p:sldId id="309" r:id="rId10"/>
    <p:sldId id="310" r:id="rId11"/>
    <p:sldId id="311" r:id="rId12"/>
    <p:sldId id="312" r:id="rId13"/>
    <p:sldId id="313" r:id="rId14"/>
    <p:sldId id="314" r:id="rId15"/>
    <p:sldId id="315" r:id="rId16"/>
    <p:sldId id="316" r:id="rId17"/>
    <p:sldId id="339" r:id="rId18"/>
    <p:sldId id="317" r:id="rId19"/>
    <p:sldId id="320" r:id="rId20"/>
    <p:sldId id="322" r:id="rId21"/>
    <p:sldId id="323" r:id="rId22"/>
    <p:sldId id="324" r:id="rId23"/>
    <p:sldId id="325" r:id="rId24"/>
    <p:sldId id="326" r:id="rId25"/>
    <p:sldId id="332" r:id="rId26"/>
    <p:sldId id="333" r:id="rId27"/>
    <p:sldId id="334" r:id="rId28"/>
    <p:sldId id="335" r:id="rId29"/>
    <p:sldId id="336" r:id="rId30"/>
    <p:sldId id="337" r:id="rId31"/>
    <p:sldId id="328" r:id="rId32"/>
    <p:sldId id="330" r:id="rId33"/>
    <p:sldId id="331" r:id="rId34"/>
    <p:sldId id="290" r:id="rId35"/>
    <p:sldId id="270" r:id="rId36"/>
    <p:sldId id="321" r:id="rId37"/>
    <p:sldId id="340" r:id="rId38"/>
    <p:sldId id="344" r:id="rId39"/>
    <p:sldId id="342" r:id="rId40"/>
  </p:sldIdLst>
  <p:sldSz cx="12192000" cy="6858000"/>
  <p:notesSz cx="6858000" cy="9144000"/>
  <p:custDataLst>
    <p:tags r:id="rId42"/>
  </p:custData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756655"/>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F2DE63D5-997A-4646-A377-4702673A728D}" styleName="Light Style 2 - Accent 3">
    <a:wholeTbl>
      <a:tcTxStyle>
        <a:fontRef idx="minor">
          <a:scrgbClr r="0" g="0" b="0"/>
        </a:fontRef>
        <a:schemeClr val="tx1"/>
      </a:tcTxStyle>
      <a:tcStyle>
        <a:tcBdr>
          <a:left>
            <a:lnRef idx="1">
              <a:schemeClr val="accent3"/>
            </a:lnRef>
          </a:left>
          <a:right>
            <a:lnRef idx="1">
              <a:schemeClr val="accent3"/>
            </a:lnRef>
          </a:right>
          <a:top>
            <a:lnRef idx="1">
              <a:schemeClr val="accent3"/>
            </a:lnRef>
          </a:top>
          <a:bottom>
            <a:lnRef idx="1">
              <a:schemeClr val="accent3"/>
            </a:lnRef>
          </a:bottom>
          <a:insideH>
            <a:ln>
              <a:noFill/>
            </a:ln>
          </a:insideH>
          <a:insideV>
            <a:ln>
              <a:noFill/>
            </a:ln>
          </a:insideV>
        </a:tcBdr>
        <a:fill>
          <a:noFill/>
        </a:fill>
      </a:tcStyle>
    </a:wholeTbl>
    <a:band1H>
      <a:tcStyle>
        <a:tcBdr>
          <a:top>
            <a:lnRef idx="1">
              <a:schemeClr val="accent3"/>
            </a:lnRef>
          </a:top>
          <a:bottom>
            <a:lnRef idx="1">
              <a:schemeClr val="accent3"/>
            </a:lnRef>
          </a:bottom>
        </a:tcBdr>
      </a:tcStyle>
    </a:band1H>
    <a:band1V>
      <a:tcStyle>
        <a:tcBdr>
          <a:left>
            <a:lnRef idx="1">
              <a:schemeClr val="accent3"/>
            </a:lnRef>
          </a:left>
          <a:right>
            <a:lnRef idx="1">
              <a:schemeClr val="accent3"/>
            </a:lnRef>
          </a:right>
        </a:tcBdr>
      </a:tcStyle>
    </a:band1V>
    <a:band2V>
      <a:tcStyle>
        <a:tcBdr>
          <a:left>
            <a:lnRef idx="1">
              <a:schemeClr val="accent3"/>
            </a:lnRef>
          </a:left>
          <a:right>
            <a:lnRef idx="1">
              <a:schemeClr val="accent3"/>
            </a:lnRef>
          </a:right>
        </a:tcBdr>
      </a:tcStyle>
    </a:band2V>
    <a:lastCol>
      <a:tcTxStyle b="on"/>
      <a:tcStyle>
        <a:tcBdr/>
      </a:tcStyle>
    </a:lastCol>
    <a:firstCol>
      <a:tcTxStyle b="on"/>
      <a:tcStyle>
        <a:tcBdr/>
      </a:tcStyle>
    </a:firstCol>
    <a:lastRow>
      <a:tcTxStyle b="on"/>
      <a:tcStyle>
        <a:tcBdr>
          <a:top>
            <a:ln w="50800" cmpd="dbl">
              <a:solidFill>
                <a:schemeClr val="accent3"/>
              </a:solidFill>
            </a:ln>
          </a:top>
        </a:tcBdr>
      </a:tcStyle>
    </a:lastRow>
    <a:firstRow>
      <a:tcTxStyle b="on">
        <a:fontRef idx="minor">
          <a:scrgbClr r="0" g="0" b="0"/>
        </a:fontRef>
        <a:schemeClr val="bg1"/>
      </a:tcTxStyle>
      <a:tcStyle>
        <a:tcBdr/>
        <a:fillRef idx="1">
          <a:schemeClr val="accent3"/>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9925" autoAdjust="0"/>
    <p:restoredTop sz="95407" autoAdjust="0"/>
  </p:normalViewPr>
  <p:slideViewPr>
    <p:cSldViewPr snapToGrid="0">
      <p:cViewPr varScale="1">
        <p:scale>
          <a:sx n="84" d="100"/>
          <a:sy n="84" d="100"/>
        </p:scale>
        <p:origin x="102" y="13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slide" Target="slides/slide35.xml"/><Relationship Id="rId21" Type="http://schemas.openxmlformats.org/officeDocument/2006/relationships/slide" Target="slides/slide17.xml"/><Relationship Id="rId34" Type="http://schemas.openxmlformats.org/officeDocument/2006/relationships/slide" Target="slides/slide30.xml"/><Relationship Id="rId42" Type="http://schemas.openxmlformats.org/officeDocument/2006/relationships/tags" Target="tags/tag1.xml"/><Relationship Id="rId7" Type="http://schemas.openxmlformats.org/officeDocument/2006/relationships/slide" Target="slides/slide3.xml"/><Relationship Id="rId2" Type="http://schemas.openxmlformats.org/officeDocument/2006/relationships/customXml" Target="../customXml/item2.xml"/><Relationship Id="rId16" Type="http://schemas.openxmlformats.org/officeDocument/2006/relationships/slide" Target="slides/slide12.xml"/><Relationship Id="rId29" Type="http://schemas.openxmlformats.org/officeDocument/2006/relationships/slide" Target="slides/slide25.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slide" Target="slides/slide33.xml"/><Relationship Id="rId40" Type="http://schemas.openxmlformats.org/officeDocument/2006/relationships/slide" Target="slides/slide36.xml"/><Relationship Id="rId45" Type="http://schemas.openxmlformats.org/officeDocument/2006/relationships/theme" Target="theme/theme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slide" Target="slides/slide27.xml"/><Relationship Id="rId44" Type="http://schemas.openxmlformats.org/officeDocument/2006/relationships/viewProps" Target="viewProp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presProps" Target="presProps.xml"/><Relationship Id="rId8" Type="http://schemas.openxmlformats.org/officeDocument/2006/relationships/slide" Target="slides/slide4.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openxmlformats.org/officeDocument/2006/relationships/tableStyles" Target="tableStyles.xml"/><Relationship Id="rId20" Type="http://schemas.openxmlformats.org/officeDocument/2006/relationships/slide" Target="slides/slide16.xml"/><Relationship Id="rId41"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5CFF80E-FE01-479F-9FC2-075B3977819B}" type="datetimeFigureOut">
              <a:rPr lang="en-GB" smtClean="0"/>
              <a:t>06/03/2026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C2473FF-6D87-4F74-A5F4-85DBF4181AFE}" type="slidenum">
              <a:rPr lang="en-GB" smtClean="0"/>
              <a:t>‹#›</a:t>
            </a:fld>
            <a:endParaRPr lang="en-GB"/>
          </a:p>
        </p:txBody>
      </p:sp>
    </p:spTree>
    <p:extLst>
      <p:ext uri="{BB962C8B-B14F-4D97-AF65-F5344CB8AC3E}">
        <p14:creationId xmlns:p14="http://schemas.microsoft.com/office/powerpoint/2010/main" val="10151047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7" name="Group 6"/>
          <p:cNvGrpSpPr/>
          <p:nvPr/>
        </p:nvGrpSpPr>
        <p:grpSpPr>
          <a:xfrm>
            <a:off x="0" y="-8467"/>
            <a:ext cx="12192000" cy="6866467"/>
            <a:chOff x="0" y="-8467"/>
            <a:chExt cx="12192000" cy="6866467"/>
          </a:xfrm>
        </p:grpSpPr>
        <p:cxnSp>
          <p:nvCxnSpPr>
            <p:cNvPr id="32" name="Straight Connector 31"/>
            <p:cNvCxnSpPr/>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Isosceles Triangle 26"/>
            <p:cNvSpPr/>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9"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30"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sp>
        <p:sp>
          <p:nvSpPr>
            <p:cNvPr id="31" name="Isosceles Triangle 30"/>
            <p:cNvSpPr/>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19" name="Isosceles Triangle 18"/>
            <p:cNvSpPr/>
            <p:nvPr/>
          </p:nvSpPr>
          <p:spPr>
            <a:xfrm rot="10800000">
              <a:off x="0" y="0"/>
              <a:ext cx="842596" cy="5666154"/>
            </a:xfrm>
            <a:prstGeom prst="triangle">
              <a:avLst>
                <a:gd name="adj" fmla="val 10000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ctrTitle"/>
          </p:nvPr>
        </p:nvSpPr>
        <p:spPr>
          <a:xfrm>
            <a:off x="1507067" y="2404534"/>
            <a:ext cx="7766936" cy="1646302"/>
          </a:xfrm>
        </p:spPr>
        <p:txBody>
          <a:bodyPr anchor="b">
            <a:noAutofit/>
          </a:bodyPr>
          <a:lstStyle>
            <a:lvl1pPr algn="r">
              <a:defRPr sz="5400">
                <a:solidFill>
                  <a:schemeClr val="accent1"/>
                </a:solidFill>
              </a:defRPr>
            </a:lvl1pPr>
          </a:lstStyle>
          <a:p>
            <a:r>
              <a:rPr lang="en-US"/>
              <a:t>Click to edit Master title style</a:t>
            </a:r>
            <a:endParaRPr lang="en-US" dirty="0"/>
          </a:p>
        </p:txBody>
      </p:sp>
      <p:sp>
        <p:nvSpPr>
          <p:cNvPr id="3" name="Subtitle 2"/>
          <p:cNvSpPr>
            <a:spLocks noGrp="1"/>
          </p:cNvSpPr>
          <p:nvPr>
            <p:ph type="subTitle" idx="1"/>
          </p:nvPr>
        </p:nvSpPr>
        <p:spPr>
          <a:xfrm>
            <a:off x="1507067" y="4050833"/>
            <a:ext cx="7766936" cy="1096899"/>
          </a:xfrm>
        </p:spPr>
        <p:txBody>
          <a:bodyPr anchor="t"/>
          <a:lstStyle>
            <a:lvl1pPr marL="0" indent="0" algn="r">
              <a:buNone/>
              <a:defRPr>
                <a:solidFill>
                  <a:schemeClr val="tx1">
                    <a:lumMod val="50000"/>
                    <a:lumOff val="5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149249F5-ABDC-F949-8525-04D1FEAB47D9}" type="datetimeFigureOut">
              <a:rPr lang="en-US" smtClean="0"/>
              <a:t>3/6/2026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9A5F2D9-2677-EE4F-8BB0-D6DF5E3DAB80}" type="slidenum">
              <a:rPr lang="en-US" smtClean="0"/>
              <a:t>‹#›</a:t>
            </a:fld>
            <a:endParaRPr lang="en-US"/>
          </a:p>
        </p:txBody>
      </p:sp>
    </p:spTree>
    <p:extLst>
      <p:ext uri="{BB962C8B-B14F-4D97-AF65-F5344CB8AC3E}">
        <p14:creationId xmlns:p14="http://schemas.microsoft.com/office/powerpoint/2010/main" val="166427873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3600"/>
            </a:lvl1p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49249F5-ABDC-F949-8525-04D1FEAB47D9}" type="datetimeFigureOut">
              <a:rPr lang="en-US" smtClean="0"/>
              <a:t>3/6/2026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9A5F2D9-2677-EE4F-8BB0-D6DF5E3DAB80}" type="slidenum">
              <a:rPr lang="en-US" smtClean="0"/>
              <a:t>‹#›</a:t>
            </a:fld>
            <a:endParaRPr lang="en-US"/>
          </a:p>
        </p:txBody>
      </p:sp>
    </p:spTree>
    <p:extLst>
      <p:ext uri="{BB962C8B-B14F-4D97-AF65-F5344CB8AC3E}">
        <p14:creationId xmlns:p14="http://schemas.microsoft.com/office/powerpoint/2010/main" val="353041080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77335" y="2700867"/>
            <a:ext cx="8596668" cy="1826581"/>
          </a:xfrm>
        </p:spPr>
        <p:txBody>
          <a:bodyPr anchor="b"/>
          <a:lstStyle>
            <a:lvl1pPr algn="l">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860400"/>
          </a:xfrm>
        </p:spPr>
        <p:txBody>
          <a:bodyPr anchor="t"/>
          <a:lstStyle>
            <a:lvl1pPr marL="0" indent="0" algn="l">
              <a:buNone/>
              <a:defRPr sz="20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49249F5-ABDC-F949-8525-04D1FEAB47D9}" type="datetimeFigureOut">
              <a:rPr lang="en-US" smtClean="0"/>
              <a:t>3/6/2026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9A5F2D9-2677-EE4F-8BB0-D6DF5E3DAB80}" type="slidenum">
              <a:rPr lang="en-US" smtClean="0"/>
              <a:t>‹#›</a:t>
            </a:fld>
            <a:endParaRPr lang="en-US"/>
          </a:p>
        </p:txBody>
      </p:sp>
    </p:spTree>
    <p:extLst>
      <p:ext uri="{BB962C8B-B14F-4D97-AF65-F5344CB8AC3E}">
        <p14:creationId xmlns:p14="http://schemas.microsoft.com/office/powerpoint/2010/main" val="213097213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77334" y="2160589"/>
            <a:ext cx="4184035" cy="388077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5089970" y="2160589"/>
            <a:ext cx="4184034" cy="388077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149249F5-ABDC-F949-8525-04D1FEAB47D9}" type="datetimeFigureOut">
              <a:rPr lang="en-US" smtClean="0"/>
              <a:t>3/6/2026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79A5F2D9-2677-EE4F-8BB0-D6DF5E3DAB80}" type="slidenum">
              <a:rPr lang="en-US" smtClean="0"/>
              <a:t>‹#›</a:t>
            </a:fld>
            <a:endParaRPr lang="en-US"/>
          </a:p>
        </p:txBody>
      </p:sp>
    </p:spTree>
    <p:extLst>
      <p:ext uri="{BB962C8B-B14F-4D97-AF65-F5344CB8AC3E}">
        <p14:creationId xmlns:p14="http://schemas.microsoft.com/office/powerpoint/2010/main" val="296875263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675745" y="2160983"/>
            <a:ext cx="4185623"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75745" y="2737245"/>
            <a:ext cx="4185623"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5088383" y="2160983"/>
            <a:ext cx="4185618"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5088384" y="2737245"/>
            <a:ext cx="4185617"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149249F5-ABDC-F949-8525-04D1FEAB47D9}" type="datetimeFigureOut">
              <a:rPr lang="en-US" smtClean="0"/>
              <a:t>3/6/2026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79A5F2D9-2677-EE4F-8BB0-D6DF5E3DAB80}" type="slidenum">
              <a:rPr lang="en-US" smtClean="0"/>
              <a:t>‹#›</a:t>
            </a:fld>
            <a:endParaRPr lang="en-US"/>
          </a:p>
        </p:txBody>
      </p:sp>
    </p:spTree>
    <p:extLst>
      <p:ext uri="{BB962C8B-B14F-4D97-AF65-F5344CB8AC3E}">
        <p14:creationId xmlns:p14="http://schemas.microsoft.com/office/powerpoint/2010/main" val="314718493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77334" y="609600"/>
            <a:ext cx="8596668" cy="1320800"/>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149249F5-ABDC-F949-8525-04D1FEAB47D9}" type="datetimeFigureOut">
              <a:rPr lang="en-US" smtClean="0"/>
              <a:t>3/6/2026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79A5F2D9-2677-EE4F-8BB0-D6DF5E3DAB80}" type="slidenum">
              <a:rPr lang="en-US" smtClean="0"/>
              <a:t>‹#›</a:t>
            </a:fld>
            <a:endParaRPr lang="en-US"/>
          </a:p>
        </p:txBody>
      </p:sp>
    </p:spTree>
    <p:extLst>
      <p:ext uri="{BB962C8B-B14F-4D97-AF65-F5344CB8AC3E}">
        <p14:creationId xmlns:p14="http://schemas.microsoft.com/office/powerpoint/2010/main" val="425354542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49249F5-ABDC-F949-8525-04D1FEAB47D9}" type="datetimeFigureOut">
              <a:rPr lang="en-US" smtClean="0"/>
              <a:t>3/6/2026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79A5F2D9-2677-EE4F-8BB0-D6DF5E3DAB80}" type="slidenum">
              <a:rPr lang="en-US" smtClean="0"/>
              <a:t>‹#›</a:t>
            </a:fld>
            <a:endParaRPr lang="en-US"/>
          </a:p>
        </p:txBody>
      </p:sp>
    </p:spTree>
    <p:extLst>
      <p:ext uri="{BB962C8B-B14F-4D97-AF65-F5344CB8AC3E}">
        <p14:creationId xmlns:p14="http://schemas.microsoft.com/office/powerpoint/2010/main" val="106611162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1498604"/>
            <a:ext cx="3854528" cy="1278466"/>
          </a:xfrm>
        </p:spPr>
        <p:txBody>
          <a:bodyPr anchor="b">
            <a:normAutofit/>
          </a:bodyPr>
          <a:lstStyle>
            <a:lvl1pPr>
              <a:defRPr sz="2000"/>
            </a:lvl1pPr>
          </a:lstStyle>
          <a:p>
            <a:r>
              <a:rPr lang="en-US"/>
              <a:t>Click to edit Master title style</a:t>
            </a:r>
            <a:endParaRPr lang="en-US" dirty="0"/>
          </a:p>
        </p:txBody>
      </p:sp>
      <p:sp>
        <p:nvSpPr>
          <p:cNvPr id="3" name="Content Placeholder 2"/>
          <p:cNvSpPr>
            <a:spLocks noGrp="1"/>
          </p:cNvSpPr>
          <p:nvPr>
            <p:ph idx="1"/>
          </p:nvPr>
        </p:nvSpPr>
        <p:spPr>
          <a:xfrm>
            <a:off x="4760461" y="514924"/>
            <a:ext cx="4513541" cy="552643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77334" y="2777069"/>
            <a:ext cx="3854528" cy="2584449"/>
          </a:xfrm>
        </p:spPr>
        <p:txBody>
          <a:bodyPr>
            <a:normAutofit/>
          </a:bodyPr>
          <a:lstStyle>
            <a:lvl1pPr marL="0" indent="0">
              <a:buNone/>
              <a:defRPr sz="1400"/>
            </a:lvl1pPr>
            <a:lvl2pPr marL="457063" indent="0">
              <a:buNone/>
              <a:defRPr sz="1400"/>
            </a:lvl2pPr>
            <a:lvl3pPr marL="914126" indent="0">
              <a:buNone/>
              <a:defRPr sz="1200"/>
            </a:lvl3pPr>
            <a:lvl4pPr marL="1371189" indent="0">
              <a:buNone/>
              <a:defRPr sz="1000"/>
            </a:lvl4pPr>
            <a:lvl5pPr marL="1828251" indent="0">
              <a:buNone/>
              <a:defRPr sz="1000"/>
            </a:lvl5pPr>
            <a:lvl6pPr marL="2285314" indent="0">
              <a:buNone/>
              <a:defRPr sz="1000"/>
            </a:lvl6pPr>
            <a:lvl7pPr marL="2742377" indent="0">
              <a:buNone/>
              <a:defRPr sz="1000"/>
            </a:lvl7pPr>
            <a:lvl8pPr marL="3199440" indent="0">
              <a:buNone/>
              <a:defRPr sz="1000"/>
            </a:lvl8pPr>
            <a:lvl9pPr marL="3656503"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149249F5-ABDC-F949-8525-04D1FEAB47D9}" type="datetimeFigureOut">
              <a:rPr lang="en-US" smtClean="0"/>
              <a:t>3/6/2026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79A5F2D9-2677-EE4F-8BB0-D6DF5E3DAB80}" type="slidenum">
              <a:rPr lang="en-US" smtClean="0"/>
              <a:t>‹#›</a:t>
            </a:fld>
            <a:endParaRPr lang="en-US"/>
          </a:p>
        </p:txBody>
      </p:sp>
    </p:spTree>
    <p:extLst>
      <p:ext uri="{BB962C8B-B14F-4D97-AF65-F5344CB8AC3E}">
        <p14:creationId xmlns:p14="http://schemas.microsoft.com/office/powerpoint/2010/main" val="135847327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4800600"/>
            <a:ext cx="8596667" cy="566738"/>
          </a:xfrm>
        </p:spPr>
        <p:txBody>
          <a:bodyPr anchor="b">
            <a:normAutofit/>
          </a:bodyPr>
          <a:lstStyle>
            <a:lvl1pPr algn="l">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677334" y="609600"/>
            <a:ext cx="8596668" cy="3845718"/>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677334" y="5367338"/>
            <a:ext cx="8596667" cy="674024"/>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49249F5-ABDC-F949-8525-04D1FEAB47D9}" type="datetimeFigureOut">
              <a:rPr lang="en-US" smtClean="0"/>
              <a:t>3/6/2026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79A5F2D9-2677-EE4F-8BB0-D6DF5E3DAB80}" type="slidenum">
              <a:rPr lang="en-US" smtClean="0"/>
              <a:t>‹#›</a:t>
            </a:fld>
            <a:endParaRPr lang="en-US"/>
          </a:p>
        </p:txBody>
      </p:sp>
    </p:spTree>
    <p:extLst>
      <p:ext uri="{BB962C8B-B14F-4D97-AF65-F5344CB8AC3E}">
        <p14:creationId xmlns:p14="http://schemas.microsoft.com/office/powerpoint/2010/main" val="372162584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5" y="609600"/>
            <a:ext cx="8596668" cy="3403600"/>
          </a:xfrm>
        </p:spPr>
        <p:txBody>
          <a:bodyPr anchor="ctr">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49249F5-ABDC-F949-8525-04D1FEAB47D9}" type="datetimeFigureOut">
              <a:rPr lang="en-US" smtClean="0"/>
              <a:t>3/6/2026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9A5F2D9-2677-EE4F-8BB0-D6DF5E3DAB80}" type="slidenum">
              <a:rPr lang="en-US" smtClean="0"/>
              <a:t>‹#›</a:t>
            </a:fld>
            <a:endParaRPr lang="en-US"/>
          </a:p>
        </p:txBody>
      </p:sp>
    </p:spTree>
    <p:extLst>
      <p:ext uri="{BB962C8B-B14F-4D97-AF65-F5344CB8AC3E}">
        <p14:creationId xmlns:p14="http://schemas.microsoft.com/office/powerpoint/2010/main" val="259601176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1366139" y="3632200"/>
            <a:ext cx="7224524" cy="381000"/>
          </a:xfrm>
        </p:spPr>
        <p:txBody>
          <a:bodyPr anchor="ctr">
            <a:noAutofit/>
          </a:bodyPr>
          <a:lstStyle>
            <a:lvl1pPr marL="0" indent="0">
              <a:buFontTx/>
              <a:buNone/>
              <a:defRPr sz="1600">
                <a:solidFill>
                  <a:schemeClr val="tx1">
                    <a:lumMod val="50000"/>
                    <a:lumOff val="50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49249F5-ABDC-F949-8525-04D1FEAB47D9}" type="datetimeFigureOut">
              <a:rPr lang="en-US" smtClean="0"/>
              <a:t>3/6/2026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9A5F2D9-2677-EE4F-8BB0-D6DF5E3DAB80}" type="slidenum">
              <a:rPr lang="en-US" smtClean="0"/>
              <a:t>‹#›</a:t>
            </a:fld>
            <a:endParaRPr lang="en-US"/>
          </a:p>
        </p:txBody>
      </p:sp>
      <p:sp>
        <p:nvSpPr>
          <p:cNvPr id="20" name="TextBox 19"/>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2" name="TextBox 21"/>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latin typeface="Arial"/>
              </a:rPr>
              <a:t>”</a:t>
            </a:r>
            <a:endParaRPr lang="en-US" dirty="0">
              <a:solidFill>
                <a:schemeClr val="accent1">
                  <a:lumMod val="60000"/>
                  <a:lumOff val="40000"/>
                </a:schemeClr>
              </a:solidFill>
              <a:latin typeface="Arial"/>
            </a:endParaRPr>
          </a:p>
        </p:txBody>
      </p:sp>
    </p:spTree>
    <p:extLst>
      <p:ext uri="{BB962C8B-B14F-4D97-AF65-F5344CB8AC3E}">
        <p14:creationId xmlns:p14="http://schemas.microsoft.com/office/powerpoint/2010/main" val="3548660473"/>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677335" y="1931988"/>
            <a:ext cx="8596668" cy="2595460"/>
          </a:xfrm>
        </p:spPr>
        <p:txBody>
          <a:bodyPr anchor="b">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49249F5-ABDC-F949-8525-04D1FEAB47D9}" type="datetimeFigureOut">
              <a:rPr lang="en-US" smtClean="0"/>
              <a:t>3/6/2026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9A5F2D9-2677-EE4F-8BB0-D6DF5E3DAB80}" type="slidenum">
              <a:rPr lang="en-US" smtClean="0"/>
              <a:t>‹#›</a:t>
            </a:fld>
            <a:endParaRPr lang="en-US"/>
          </a:p>
        </p:txBody>
      </p:sp>
    </p:spTree>
    <p:extLst>
      <p:ext uri="{BB962C8B-B14F-4D97-AF65-F5344CB8AC3E}">
        <p14:creationId xmlns:p14="http://schemas.microsoft.com/office/powerpoint/2010/main" val="3588618321"/>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tx1">
                    <a:lumMod val="75000"/>
                    <a:lumOff val="25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49249F5-ABDC-F949-8525-04D1FEAB47D9}" type="datetimeFigureOut">
              <a:rPr lang="en-US" smtClean="0"/>
              <a:t>3/6/2026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9A5F2D9-2677-EE4F-8BB0-D6DF5E3DAB80}" type="slidenum">
              <a:rPr lang="en-US" smtClean="0"/>
              <a:t>‹#›</a:t>
            </a:fld>
            <a:endParaRPr lang="en-US"/>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270294372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685799" y="609600"/>
            <a:ext cx="8588203"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49249F5-ABDC-F949-8525-04D1FEAB47D9}" type="datetimeFigureOut">
              <a:rPr lang="en-US" smtClean="0"/>
              <a:t>3/6/2026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9A5F2D9-2677-EE4F-8BB0-D6DF5E3DAB80}" type="slidenum">
              <a:rPr lang="en-US" smtClean="0"/>
              <a:t>‹#›</a:t>
            </a:fld>
            <a:endParaRPr lang="en-US"/>
          </a:p>
        </p:txBody>
      </p:sp>
    </p:spTree>
    <p:extLst>
      <p:ext uri="{BB962C8B-B14F-4D97-AF65-F5344CB8AC3E}">
        <p14:creationId xmlns:p14="http://schemas.microsoft.com/office/powerpoint/2010/main" val="2245411664"/>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49249F5-ABDC-F949-8525-04D1FEAB47D9}" type="datetimeFigureOut">
              <a:rPr lang="en-US" smtClean="0"/>
              <a:t>3/6/2026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9A5F2D9-2677-EE4F-8BB0-D6DF5E3DAB80}" type="slidenum">
              <a:rPr lang="en-US" smtClean="0"/>
              <a:t>‹#›</a:t>
            </a:fld>
            <a:endParaRPr lang="en-US"/>
          </a:p>
        </p:txBody>
      </p:sp>
    </p:spTree>
    <p:extLst>
      <p:ext uri="{BB962C8B-B14F-4D97-AF65-F5344CB8AC3E}">
        <p14:creationId xmlns:p14="http://schemas.microsoft.com/office/powerpoint/2010/main" val="911687086"/>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967673" y="609599"/>
            <a:ext cx="1304743" cy="5251451"/>
          </a:xfrm>
        </p:spPr>
        <p:txBody>
          <a:bodyPr vert="eaVert" anchor="ctr"/>
          <a:lstStyle/>
          <a:p>
            <a:r>
              <a:rPr lang="en-US"/>
              <a:t>Click to edit Master title style</a:t>
            </a:r>
            <a:endParaRPr lang="en-US" dirty="0"/>
          </a:p>
        </p:txBody>
      </p:sp>
      <p:sp>
        <p:nvSpPr>
          <p:cNvPr id="3" name="Vertical Text Placeholder 2"/>
          <p:cNvSpPr>
            <a:spLocks noGrp="1"/>
          </p:cNvSpPr>
          <p:nvPr>
            <p:ph type="body" orient="vert" idx="1"/>
          </p:nvPr>
        </p:nvSpPr>
        <p:spPr>
          <a:xfrm>
            <a:off x="677335" y="609600"/>
            <a:ext cx="7060150" cy="525145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49249F5-ABDC-F949-8525-04D1FEAB47D9}" type="datetimeFigureOut">
              <a:rPr lang="en-US" smtClean="0"/>
              <a:t>3/6/2026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9A5F2D9-2677-EE4F-8BB0-D6DF5E3DAB80}" type="slidenum">
              <a:rPr lang="en-US" smtClean="0"/>
              <a:t>‹#›</a:t>
            </a:fld>
            <a:endParaRPr lang="en-US"/>
          </a:p>
        </p:txBody>
      </p:sp>
    </p:spTree>
    <p:extLst>
      <p:ext uri="{BB962C8B-B14F-4D97-AF65-F5344CB8AC3E}">
        <p14:creationId xmlns:p14="http://schemas.microsoft.com/office/powerpoint/2010/main" val="321614926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pSp>
        <p:nvGrpSpPr>
          <p:cNvPr id="7" name="Group 6"/>
          <p:cNvGrpSpPr/>
          <p:nvPr/>
        </p:nvGrpSpPr>
        <p:grpSpPr>
          <a:xfrm>
            <a:off x="0" y="-8467"/>
            <a:ext cx="12192000" cy="6866467"/>
            <a:chOff x="0" y="-8467"/>
            <a:chExt cx="12192000" cy="6866467"/>
          </a:xfrm>
        </p:grpSpPr>
        <p:cxnSp>
          <p:nvCxnSpPr>
            <p:cNvPr id="20" name="Straight Connector 19"/>
            <p:cNvCxnSpPr/>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2"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Isosceles Triangle 23"/>
            <p:cNvSpPr/>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Isosceles Triangle 27"/>
            <p:cNvSpPr/>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9" name="Isosceles Triangle 28"/>
            <p:cNvSpPr/>
            <p:nvPr/>
          </p:nvSpPr>
          <p:spPr>
            <a:xfrm>
              <a:off x="0" y="4013200"/>
              <a:ext cx="448733" cy="2844800"/>
            </a:xfrm>
            <a:prstGeom prst="triangle">
              <a:avLst>
                <a:gd name="adj" fmla="val 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Placeholder 1"/>
          <p:cNvSpPr>
            <a:spLocks noGrp="1"/>
          </p:cNvSpPr>
          <p:nvPr>
            <p:ph type="title"/>
          </p:nvPr>
        </p:nvSpPr>
        <p:spPr>
          <a:xfrm>
            <a:off x="677334" y="609600"/>
            <a:ext cx="8596668" cy="1320800"/>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677334" y="2160589"/>
            <a:ext cx="8596668" cy="388077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205133" y="6041362"/>
            <a:ext cx="911939"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149249F5-ABDC-F949-8525-04D1FEAB47D9}" type="datetimeFigureOut">
              <a:rPr lang="en-US" smtClean="0"/>
              <a:t>3/6/2026</a:t>
            </a:fld>
            <a:endParaRPr lang="en-US"/>
          </a:p>
        </p:txBody>
      </p:sp>
      <p:sp>
        <p:nvSpPr>
          <p:cNvPr id="5" name="Footer Placeholder 4"/>
          <p:cNvSpPr>
            <a:spLocks noGrp="1"/>
          </p:cNvSpPr>
          <p:nvPr>
            <p:ph type="ftr" sz="quarter" idx="3"/>
          </p:nvPr>
        </p:nvSpPr>
        <p:spPr>
          <a:xfrm>
            <a:off x="677334" y="6041362"/>
            <a:ext cx="6297612" cy="365125"/>
          </a:xfrm>
          <a:prstGeom prst="rect">
            <a:avLst/>
          </a:prstGeom>
        </p:spPr>
        <p:txBody>
          <a:bodyPr vert="horz" lIns="91440" tIns="45720" rIns="91440" bIns="45720" rtlCol="0" anchor="ctr"/>
          <a:lstStyle>
            <a:lvl1pPr algn="l">
              <a:defRPr sz="9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590663" y="6041362"/>
            <a:ext cx="683339" cy="365125"/>
          </a:xfrm>
          <a:prstGeom prst="rect">
            <a:avLst/>
          </a:prstGeom>
        </p:spPr>
        <p:txBody>
          <a:bodyPr vert="horz" lIns="91440" tIns="45720" rIns="91440" bIns="45720" rtlCol="0" anchor="ctr"/>
          <a:lstStyle>
            <a:lvl1pPr algn="r">
              <a:defRPr sz="900">
                <a:solidFill>
                  <a:schemeClr val="accent1"/>
                </a:solidFill>
              </a:defRPr>
            </a:lvl1pPr>
          </a:lstStyle>
          <a:p>
            <a:fld id="{79A5F2D9-2677-EE4F-8BB0-D6DF5E3DAB80}" type="slidenum">
              <a:rPr lang="en-US" smtClean="0"/>
              <a:t>‹#›</a:t>
            </a:fld>
            <a:endParaRPr lang="en-US"/>
          </a:p>
        </p:txBody>
      </p:sp>
    </p:spTree>
    <p:extLst>
      <p:ext uri="{BB962C8B-B14F-4D97-AF65-F5344CB8AC3E}">
        <p14:creationId xmlns:p14="http://schemas.microsoft.com/office/powerpoint/2010/main" val="2885775579"/>
      </p:ext>
    </p:extLst>
  </p:cSld>
  <p:clrMap bg1="lt1" tx1="dk1" bg2="lt2" tx2="dk2" accent1="accent1" accent2="accent2" accent3="accent3" accent4="accent4" accent5="accent5" accent6="accent6" hlink="hlink" folHlink="folHlink"/>
  <p:sldLayoutIdLst>
    <p:sldLayoutId id="2147483894" r:id="rId1"/>
    <p:sldLayoutId id="2147483895" r:id="rId2"/>
    <p:sldLayoutId id="2147483896" r:id="rId3"/>
    <p:sldLayoutId id="2147483897" r:id="rId4"/>
    <p:sldLayoutId id="2147483898" r:id="rId5"/>
    <p:sldLayoutId id="2147483899" r:id="rId6"/>
    <p:sldLayoutId id="2147483900" r:id="rId7"/>
    <p:sldLayoutId id="2147483901" r:id="rId8"/>
    <p:sldLayoutId id="2147483902" r:id="rId9"/>
    <p:sldLayoutId id="2147483903" r:id="rId10"/>
    <p:sldLayoutId id="2147483904" r:id="rId11"/>
    <p:sldLayoutId id="2147483905" r:id="rId12"/>
    <p:sldLayoutId id="2147483906" r:id="rId13"/>
    <p:sldLayoutId id="2147483907" r:id="rId14"/>
    <p:sldLayoutId id="2147483908" r:id="rId15"/>
    <p:sldLayoutId id="2147483909" r:id="rId16"/>
  </p:sldLayoutIdLst>
  <p:txStyles>
    <p:title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8" Type="http://schemas.openxmlformats.org/officeDocument/2006/relationships/hyperlink" Target="https://dblp.org/" TargetMode="External"/><Relationship Id="rId3" Type="http://schemas.openxmlformats.org/officeDocument/2006/relationships/hyperlink" Target="https://ieeexplore-ieee-org.tudublin.idm.oclc.org/Xplore/home.jsp" TargetMode="External"/><Relationship Id="rId7" Type="http://schemas.openxmlformats.org/officeDocument/2006/relationships/hyperlink" Target="https://scholar.google.com/" TargetMode="External"/><Relationship Id="rId2" Type="http://schemas.openxmlformats.org/officeDocument/2006/relationships/hyperlink" Target="https://dl-acm-org.tudublin.idm.oclc.org/" TargetMode="External"/><Relationship Id="rId1" Type="http://schemas.openxmlformats.org/officeDocument/2006/relationships/slideLayout" Target="../slideLayouts/slideLayout2.xml"/><Relationship Id="rId6" Type="http://schemas.openxmlformats.org/officeDocument/2006/relationships/hyperlink" Target="https://link-springer-com.tudublin.idm.oclc.org/" TargetMode="External"/><Relationship Id="rId5" Type="http://schemas.openxmlformats.org/officeDocument/2006/relationships/hyperlink" Target="https://www-cambridge-org.tudublin.idm.oclc.org/core/" TargetMode="External"/><Relationship Id="rId4" Type="http://schemas.openxmlformats.org/officeDocument/2006/relationships/hyperlink" Target="https://journals-sagepub-com.tudublin.idm.oclc.org/" TargetMode="External"/></Relationships>
</file>

<file path=ppt/slides/_rels/slide3.xml.rels><?xml version="1.0" encoding="UTF-8" standalone="yes"?>
<Relationships xmlns="http://schemas.openxmlformats.org/package/2006/relationships"><Relationship Id="rId2" Type="http://schemas.openxmlformats.org/officeDocument/2006/relationships/hyperlink" Target="https://dl-acm-org.tudublin.idm.oclc.org/doi/10.1145/3701716.3717509" TargetMode="Externa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tags" Target="../tags/tag3.xml"/><Relationship Id="rId1" Type="http://schemas.openxmlformats.org/officeDocument/2006/relationships/tags" Target="../tags/tag2.xml"/><Relationship Id="rId4" Type="http://schemas.openxmlformats.org/officeDocument/2006/relationships/image" Target="../media/image1.tiff"/></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hyperlink" Target="https://www.gdeltproject.org/" TargetMode="External"/><Relationship Id="rId2" Type="http://schemas.openxmlformats.org/officeDocument/2006/relationships/hyperlink" Target="https://www.lseg.com/en/data-analytics" TargetMode="External"/><Relationship Id="rId1" Type="http://schemas.openxmlformats.org/officeDocument/2006/relationships/slideLayout" Target="../slideLayouts/slideLayout2.xml"/><Relationship Id="rId4" Type="http://schemas.openxmlformats.org/officeDocument/2006/relationships/hyperlink" Target="https://pypi.org/project/gdeltdoc/"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hyperlink" Target="https://huggingface.co/" TargetMode="External"/><Relationship Id="rId2" Type="http://schemas.openxmlformats.org/officeDocument/2006/relationships/hyperlink" Target="https://corporatefinanceinstitute.com/" TargetMode="Externa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5.emf"/><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6.emf"/><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7.emf"/><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8.emf"/><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hyperlink" Target="https://doi.org/10.1109/TCSS.2017.2763128" TargetMode="Externa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hyperlink" Target="https://www.unpri.org/" TargetMode="External"/><Relationship Id="rId2" Type="http://schemas.openxmlformats.org/officeDocument/2006/relationships/hyperlink" Target="https://sdgs.un.org/goals" TargetMode="External"/><Relationship Id="rId1" Type="http://schemas.openxmlformats.org/officeDocument/2006/relationships/slideLayout" Target="../slideLayouts/slideLayout2.xml"/><Relationship Id="rId4" Type="http://schemas.openxmlformats.org/officeDocument/2006/relationships/hyperlink" Target="https://www.ngfs.net/en" TargetMode="Externa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404040"/>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4C5D79-D71A-4A71-86E3-E4952A6E169A}"/>
              </a:ext>
            </a:extLst>
          </p:cNvPr>
          <p:cNvSpPr>
            <a:spLocks noGrp="1"/>
          </p:cNvSpPr>
          <p:nvPr>
            <p:ph type="title"/>
          </p:nvPr>
        </p:nvSpPr>
        <p:spPr>
          <a:xfrm>
            <a:off x="833002" y="365125"/>
            <a:ext cx="10520796" cy="5811837"/>
          </a:xfrm>
        </p:spPr>
        <p:txBody>
          <a:bodyPr>
            <a:normAutofit fontScale="90000"/>
          </a:bodyPr>
          <a:lstStyle/>
          <a:p>
            <a:br>
              <a:rPr lang="en-US" u="sng" dirty="0">
                <a:solidFill>
                  <a:srgbClr val="FFFFFF"/>
                </a:solidFill>
                <a:cs typeface="Calibri Light"/>
              </a:rPr>
            </a:br>
            <a:br>
              <a:rPr lang="en-US" u="sng" dirty="0">
                <a:solidFill>
                  <a:srgbClr val="FFFFFF"/>
                </a:solidFill>
                <a:cs typeface="Calibri Light"/>
              </a:rPr>
            </a:br>
            <a:br>
              <a:rPr lang="en-US" u="sng" dirty="0">
                <a:solidFill>
                  <a:srgbClr val="FFFFFF"/>
                </a:solidFill>
                <a:cs typeface="Calibri Light"/>
              </a:rPr>
            </a:br>
            <a:br>
              <a:rPr lang="en-US" u="sng" dirty="0">
                <a:solidFill>
                  <a:srgbClr val="FFFFFF"/>
                </a:solidFill>
                <a:cs typeface="Calibri Light"/>
              </a:rPr>
            </a:br>
            <a:r>
              <a:rPr lang="en-US" u="sng" dirty="0">
                <a:solidFill>
                  <a:srgbClr val="FFFFFF"/>
                </a:solidFill>
                <a:cs typeface="Calibri Light"/>
              </a:rPr>
              <a:t>Research Methods</a:t>
            </a:r>
            <a:br>
              <a:rPr lang="en-US" dirty="0">
                <a:cs typeface="Calibri Light"/>
              </a:rPr>
            </a:br>
            <a:r>
              <a:rPr lang="en-US" dirty="0">
                <a:solidFill>
                  <a:srgbClr val="FFFFFF"/>
                </a:solidFill>
                <a:cs typeface="Calibri Light"/>
              </a:rPr>
              <a:t>Scientific research &amp; Literature (SPEC 9997) </a:t>
            </a:r>
            <a:br>
              <a:rPr lang="en-US" dirty="0">
                <a:solidFill>
                  <a:srgbClr val="FFFFFF"/>
                </a:solidFill>
                <a:cs typeface="Calibri Light"/>
              </a:rPr>
            </a:br>
            <a:r>
              <a:rPr lang="en-US" dirty="0">
                <a:solidFill>
                  <a:srgbClr val="FFFFFF"/>
                </a:solidFill>
                <a:cs typeface="Calibri Light"/>
              </a:rPr>
              <a:t>Assignment 1</a:t>
            </a:r>
            <a:br>
              <a:rPr lang="en-US" dirty="0">
                <a:solidFill>
                  <a:srgbClr val="FFFFFF"/>
                </a:solidFill>
                <a:cs typeface="Calibri Light"/>
              </a:rPr>
            </a:br>
            <a:br>
              <a:rPr lang="en-US" dirty="0">
                <a:solidFill>
                  <a:srgbClr val="FFFFFF"/>
                </a:solidFill>
                <a:cs typeface="Calibri Light"/>
              </a:rPr>
            </a:br>
            <a:br>
              <a:rPr lang="en-US" dirty="0">
                <a:solidFill>
                  <a:srgbClr val="FFFFFF"/>
                </a:solidFill>
                <a:cs typeface="Calibri Light"/>
              </a:rPr>
            </a:br>
            <a:r>
              <a:rPr lang="en-US" sz="2200" dirty="0">
                <a:solidFill>
                  <a:srgbClr val="FFFFFF"/>
                </a:solidFill>
                <a:cs typeface="Calibri Light"/>
              </a:rPr>
              <a:t>Student name = </a:t>
            </a:r>
            <a:r>
              <a:rPr lang="en-US" sz="2200" dirty="0" err="1">
                <a:solidFill>
                  <a:srgbClr val="FFFFFF"/>
                </a:solidFill>
                <a:cs typeface="Calibri Light"/>
              </a:rPr>
              <a:t>eamonn</a:t>
            </a:r>
            <a:r>
              <a:rPr lang="en-US" sz="2200" dirty="0">
                <a:solidFill>
                  <a:srgbClr val="FFFFFF"/>
                </a:solidFill>
                <a:cs typeface="Calibri Light"/>
              </a:rPr>
              <a:t> kelly</a:t>
            </a:r>
            <a:br>
              <a:rPr lang="en-US" sz="2200" dirty="0">
                <a:solidFill>
                  <a:srgbClr val="FFFFFF"/>
                </a:solidFill>
                <a:cs typeface="Calibri Light"/>
              </a:rPr>
            </a:br>
            <a:r>
              <a:rPr lang="en-US" sz="2200" dirty="0">
                <a:solidFill>
                  <a:srgbClr val="FFFFFF"/>
                </a:solidFill>
                <a:cs typeface="Calibri Light"/>
              </a:rPr>
              <a:t>Student number = </a:t>
            </a:r>
            <a:r>
              <a:rPr lang="fi-FI" sz="2200" dirty="0">
                <a:solidFill>
                  <a:srgbClr val="FFFFFF"/>
                </a:solidFill>
                <a:cs typeface="Calibri Light"/>
              </a:rPr>
              <a:t>D24127620</a:t>
            </a:r>
            <a:br>
              <a:rPr lang="fi-FI" sz="2200" dirty="0">
                <a:solidFill>
                  <a:srgbClr val="FFFFFF"/>
                </a:solidFill>
                <a:cs typeface="Calibri Light"/>
              </a:rPr>
            </a:br>
            <a:r>
              <a:rPr lang="fi-FI" sz="2200" dirty="0">
                <a:solidFill>
                  <a:srgbClr val="FFFFFF"/>
                </a:solidFill>
                <a:cs typeface="Calibri Light"/>
              </a:rPr>
              <a:t>Date = Feb 2026</a:t>
            </a:r>
            <a:endParaRPr lang="en-US" sz="2200" dirty="0">
              <a:solidFill>
                <a:srgbClr val="FFFFFF"/>
              </a:solidFill>
              <a:cs typeface="Calibri Light"/>
            </a:endParaRPr>
          </a:p>
        </p:txBody>
      </p:sp>
    </p:spTree>
    <p:extLst>
      <p:ext uri="{BB962C8B-B14F-4D97-AF65-F5344CB8AC3E}">
        <p14:creationId xmlns:p14="http://schemas.microsoft.com/office/powerpoint/2010/main" val="1253448006"/>
      </p:ext>
    </p:extLst>
  </p:cSld>
  <p:clrMapOvr>
    <a:overrideClrMapping bg1="dk1" tx1="lt1" bg2="dk2" tx2="lt2" accent1="accent1" accent2="accent2" accent3="accent3" accent4="accent4" accent5="accent5" accent6="accent6" hlink="hlink" folHlink="folHlink"/>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2E488C-E3C2-D21F-0930-1BD0DE7EB3B6}"/>
              </a:ext>
            </a:extLst>
          </p:cNvPr>
          <p:cNvSpPr>
            <a:spLocks noGrp="1"/>
          </p:cNvSpPr>
          <p:nvPr>
            <p:ph type="title"/>
          </p:nvPr>
        </p:nvSpPr>
        <p:spPr>
          <a:xfrm>
            <a:off x="838199" y="365125"/>
            <a:ext cx="8726905" cy="789907"/>
          </a:xfrm>
        </p:spPr>
        <p:txBody>
          <a:bodyPr>
            <a:normAutofit fontScale="90000"/>
          </a:bodyPr>
          <a:lstStyle/>
          <a:p>
            <a:r>
              <a:rPr lang="en-GB" dirty="0">
                <a:solidFill>
                  <a:schemeClr val="tx1"/>
                </a:solidFill>
              </a:rPr>
              <a:t>Some of the Databases and Journals Data sources checked</a:t>
            </a:r>
          </a:p>
        </p:txBody>
      </p:sp>
      <p:sp>
        <p:nvSpPr>
          <p:cNvPr id="3" name="Content Placeholder 2">
            <a:extLst>
              <a:ext uri="{FF2B5EF4-FFF2-40B4-BE49-F238E27FC236}">
                <a16:creationId xmlns:a16="http://schemas.microsoft.com/office/drawing/2014/main" id="{F0FE553C-F6AE-1F89-91EC-062CAA7C4679}"/>
              </a:ext>
            </a:extLst>
          </p:cNvPr>
          <p:cNvSpPr>
            <a:spLocks noGrp="1"/>
          </p:cNvSpPr>
          <p:nvPr>
            <p:ph idx="1"/>
          </p:nvPr>
        </p:nvSpPr>
        <p:spPr>
          <a:xfrm>
            <a:off x="537410" y="1789531"/>
            <a:ext cx="10515600" cy="4351338"/>
          </a:xfrm>
        </p:spPr>
        <p:txBody>
          <a:bodyPr>
            <a:normAutofit/>
          </a:bodyPr>
          <a:lstStyle/>
          <a:p>
            <a:r>
              <a:rPr lang="en-GB" dirty="0">
                <a:hlinkClick r:id="rId2"/>
              </a:rPr>
              <a:t>ACM Digital Library </a:t>
            </a:r>
            <a:r>
              <a:rPr lang="en-GB" dirty="0"/>
              <a:t>– Have access via </a:t>
            </a:r>
            <a:r>
              <a:rPr lang="en-GB" dirty="0" err="1"/>
              <a:t>TUDublin</a:t>
            </a:r>
            <a:r>
              <a:rPr lang="en-GB" dirty="0"/>
              <a:t> institutional licence</a:t>
            </a:r>
          </a:p>
          <a:p>
            <a:r>
              <a:rPr lang="en-GB" dirty="0">
                <a:hlinkClick r:id="rId3"/>
              </a:rPr>
              <a:t>IEEE Xplore </a:t>
            </a:r>
            <a:r>
              <a:rPr lang="en-GB" dirty="0"/>
              <a:t>- Have access via </a:t>
            </a:r>
            <a:r>
              <a:rPr lang="en-GB" dirty="0" err="1"/>
              <a:t>TUDublin</a:t>
            </a:r>
            <a:r>
              <a:rPr lang="en-GB" dirty="0"/>
              <a:t> institutional licence</a:t>
            </a:r>
          </a:p>
          <a:p>
            <a:r>
              <a:rPr lang="en-GB" dirty="0">
                <a:hlinkClick r:id="rId4"/>
              </a:rPr>
              <a:t>Sage Journals </a:t>
            </a:r>
            <a:r>
              <a:rPr lang="en-GB" dirty="0"/>
              <a:t>- Have access via </a:t>
            </a:r>
            <a:r>
              <a:rPr lang="en-GB" dirty="0" err="1"/>
              <a:t>TUDublin</a:t>
            </a:r>
            <a:r>
              <a:rPr lang="en-GB" dirty="0"/>
              <a:t> institutional licence</a:t>
            </a:r>
          </a:p>
          <a:p>
            <a:r>
              <a:rPr lang="en-GB" dirty="0">
                <a:hlinkClick r:id="rId5"/>
              </a:rPr>
              <a:t>Cambridge Core </a:t>
            </a:r>
            <a:r>
              <a:rPr lang="en-GB" dirty="0"/>
              <a:t>- Have access via </a:t>
            </a:r>
            <a:r>
              <a:rPr lang="en-GB" dirty="0" err="1"/>
              <a:t>TUDublin</a:t>
            </a:r>
            <a:r>
              <a:rPr lang="en-GB" dirty="0"/>
              <a:t> institutional licence</a:t>
            </a:r>
          </a:p>
          <a:p>
            <a:r>
              <a:rPr lang="en-GB" dirty="0">
                <a:hlinkClick r:id="rId6"/>
              </a:rPr>
              <a:t>Springer Nature Link </a:t>
            </a:r>
            <a:r>
              <a:rPr lang="en-GB" dirty="0"/>
              <a:t>– Have access via </a:t>
            </a:r>
            <a:r>
              <a:rPr lang="en-GB" dirty="0" err="1"/>
              <a:t>TUDublin</a:t>
            </a:r>
            <a:r>
              <a:rPr lang="en-GB" dirty="0"/>
              <a:t> institutional licence, but have to register to get </a:t>
            </a:r>
            <a:r>
              <a:rPr lang="en-GB" dirty="0" err="1"/>
              <a:t>ORCid</a:t>
            </a:r>
            <a:r>
              <a:rPr lang="en-GB" dirty="0"/>
              <a:t> with college account</a:t>
            </a:r>
          </a:p>
          <a:p>
            <a:r>
              <a:rPr lang="en-GB" dirty="0">
                <a:hlinkClick r:id="rId7"/>
              </a:rPr>
              <a:t>Google Scholar</a:t>
            </a:r>
            <a:r>
              <a:rPr lang="en-GB" dirty="0"/>
              <a:t> – don’t always have access to the articles it references, can be a mixed bag, need to narrow searches with more specificity</a:t>
            </a:r>
          </a:p>
          <a:p>
            <a:r>
              <a:rPr lang="en-GB" dirty="0">
                <a:hlinkClick r:id="rId8"/>
              </a:rPr>
              <a:t>DBLP</a:t>
            </a:r>
            <a:r>
              <a:rPr lang="en-GB" dirty="0"/>
              <a:t> – was very slow, not available through TU Dublin library</a:t>
            </a:r>
          </a:p>
          <a:p>
            <a:r>
              <a:rPr lang="en-GB" dirty="0"/>
              <a:t>Use of the TU Dublin library was probably the greatest resource and allows for institutional access across a wide variety of </a:t>
            </a:r>
          </a:p>
          <a:p>
            <a:endParaRPr lang="en-GB" dirty="0"/>
          </a:p>
        </p:txBody>
      </p:sp>
    </p:spTree>
    <p:extLst>
      <p:ext uri="{BB962C8B-B14F-4D97-AF65-F5344CB8AC3E}">
        <p14:creationId xmlns:p14="http://schemas.microsoft.com/office/powerpoint/2010/main" val="43814867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59FAB6-068C-EA47-B675-E325CD9C423B}"/>
              </a:ext>
            </a:extLst>
          </p:cNvPr>
          <p:cNvSpPr>
            <a:spLocks noGrp="1"/>
          </p:cNvSpPr>
          <p:nvPr>
            <p:ph type="ctrTitle"/>
          </p:nvPr>
        </p:nvSpPr>
        <p:spPr>
          <a:xfrm>
            <a:off x="1422751" y="1670311"/>
            <a:ext cx="7614169" cy="1547323"/>
          </a:xfrm>
        </p:spPr>
        <p:txBody>
          <a:bodyPr anchor="ctr">
            <a:normAutofit fontScale="90000"/>
          </a:bodyPr>
          <a:lstStyle/>
          <a:p>
            <a:pPr algn="ctr"/>
            <a:r>
              <a:rPr lang="en-GB" sz="4200" dirty="0">
                <a:solidFill>
                  <a:schemeClr val="tx1"/>
                </a:solidFill>
                <a:hlinkClick r:id="rId2">
                  <a:extLst>
                    <a:ext uri="{A12FA001-AC4F-418D-AE19-62706E023703}">
                      <ahyp:hlinkClr xmlns:ahyp="http://schemas.microsoft.com/office/drawing/2018/hyperlinkcolor" val="tx"/>
                    </a:ext>
                  </a:extLst>
                </a:hlinkClick>
              </a:rPr>
              <a:t>Predicting Company ESG Ratings from News Articles Using</a:t>
            </a:r>
            <a:br>
              <a:rPr lang="en-GB" sz="4200" dirty="0">
                <a:solidFill>
                  <a:schemeClr val="tx1"/>
                </a:solidFill>
                <a:hlinkClick r:id="rId2">
                  <a:extLst>
                    <a:ext uri="{A12FA001-AC4F-418D-AE19-62706E023703}">
                      <ahyp:hlinkClr xmlns:ahyp="http://schemas.microsoft.com/office/drawing/2018/hyperlinkcolor" val="tx"/>
                    </a:ext>
                  </a:extLst>
                </a:hlinkClick>
              </a:rPr>
            </a:br>
            <a:r>
              <a:rPr lang="en-GB" sz="4200" dirty="0">
                <a:solidFill>
                  <a:schemeClr val="tx1"/>
                </a:solidFill>
                <a:hlinkClick r:id="rId2">
                  <a:extLst>
                    <a:ext uri="{A12FA001-AC4F-418D-AE19-62706E023703}">
                      <ahyp:hlinkClr xmlns:ahyp="http://schemas.microsoft.com/office/drawing/2018/hyperlinkcolor" val="tx"/>
                    </a:ext>
                  </a:extLst>
                </a:hlinkClick>
              </a:rPr>
              <a:t>Multivariate Timeseries Analysis</a:t>
            </a:r>
            <a:endParaRPr lang="en-IE" sz="4200" dirty="0">
              <a:solidFill>
                <a:schemeClr val="tx1"/>
              </a:solidFill>
              <a:cs typeface="Calibri Light"/>
            </a:endParaRPr>
          </a:p>
        </p:txBody>
      </p:sp>
      <p:sp>
        <p:nvSpPr>
          <p:cNvPr id="3" name="Subtitle 2">
            <a:extLst>
              <a:ext uri="{FF2B5EF4-FFF2-40B4-BE49-F238E27FC236}">
                <a16:creationId xmlns:a16="http://schemas.microsoft.com/office/drawing/2014/main" id="{0DD3C4F0-8BB5-AC44-8B01-00056C198D7F}"/>
              </a:ext>
            </a:extLst>
          </p:cNvPr>
          <p:cNvSpPr>
            <a:spLocks noGrp="1"/>
          </p:cNvSpPr>
          <p:nvPr>
            <p:ph type="subTitle" idx="1"/>
          </p:nvPr>
        </p:nvSpPr>
        <p:spPr>
          <a:xfrm>
            <a:off x="2719137" y="3863609"/>
            <a:ext cx="5835315" cy="2392811"/>
          </a:xfrm>
        </p:spPr>
        <p:txBody>
          <a:bodyPr anchor="ctr">
            <a:normAutofit fontScale="92500"/>
          </a:bodyPr>
          <a:lstStyle/>
          <a:p>
            <a:pPr algn="l"/>
            <a:endParaRPr lang="en-US" dirty="0"/>
          </a:p>
          <a:p>
            <a:pPr marL="285750" indent="-285750" algn="l">
              <a:buFont typeface="Arial" panose="020B0604020202020204" pitchFamily="34" charset="0"/>
              <a:buChar char="•"/>
            </a:pPr>
            <a:r>
              <a:rPr lang="en-US" dirty="0">
                <a:solidFill>
                  <a:schemeClr val="tx1"/>
                </a:solidFill>
              </a:rPr>
              <a:t>Published on: </a:t>
            </a:r>
            <a:r>
              <a:rPr lang="en-US" b="1" dirty="0">
                <a:solidFill>
                  <a:schemeClr val="tx1"/>
                </a:solidFill>
              </a:rPr>
              <a:t>ACM Digital Library</a:t>
            </a:r>
          </a:p>
          <a:p>
            <a:pPr marL="342900" indent="-342900" algn="l">
              <a:buFont typeface="Arial" panose="020B0604020202020204" pitchFamily="34" charset="0"/>
              <a:buChar char="•"/>
            </a:pPr>
            <a:r>
              <a:rPr lang="en-US" sz="1800" dirty="0">
                <a:solidFill>
                  <a:schemeClr val="tx1"/>
                </a:solidFill>
                <a:cs typeface="Calibri"/>
              </a:rPr>
              <a:t>Date Published = 23</a:t>
            </a:r>
            <a:r>
              <a:rPr lang="en-US" sz="1800" baseline="30000" dirty="0">
                <a:solidFill>
                  <a:schemeClr val="tx1"/>
                </a:solidFill>
                <a:cs typeface="Calibri"/>
              </a:rPr>
              <a:t>rd</a:t>
            </a:r>
            <a:r>
              <a:rPr lang="en-US" sz="1800" dirty="0">
                <a:solidFill>
                  <a:schemeClr val="tx1"/>
                </a:solidFill>
                <a:cs typeface="Calibri"/>
              </a:rPr>
              <a:t> May ‘2025</a:t>
            </a:r>
          </a:p>
          <a:p>
            <a:pPr marL="342900" indent="-342900" algn="l">
              <a:buFont typeface="Arial" panose="020B0604020202020204" pitchFamily="34" charset="0"/>
              <a:buChar char="•"/>
            </a:pPr>
            <a:r>
              <a:rPr lang="en-US" sz="1800" dirty="0">
                <a:solidFill>
                  <a:schemeClr val="tx1"/>
                </a:solidFill>
                <a:cs typeface="Calibri"/>
              </a:rPr>
              <a:t>Number of Citations = 1</a:t>
            </a:r>
          </a:p>
          <a:p>
            <a:pPr marL="342900" indent="-342900" algn="l">
              <a:buFont typeface="Arial" panose="020B0604020202020204" pitchFamily="34" charset="0"/>
              <a:buChar char="•"/>
            </a:pPr>
            <a:r>
              <a:rPr lang="en-US" sz="1800" dirty="0">
                <a:solidFill>
                  <a:schemeClr val="tx1"/>
                </a:solidFill>
                <a:cs typeface="Calibri"/>
              </a:rPr>
              <a:t>Total Downloads =1,350</a:t>
            </a:r>
          </a:p>
          <a:p>
            <a:pPr marL="342900" indent="-342900" algn="l">
              <a:buFont typeface="Arial" panose="020B0604020202020204" pitchFamily="34" charset="0"/>
              <a:buChar char="•"/>
            </a:pPr>
            <a:r>
              <a:rPr lang="en-US" dirty="0">
                <a:solidFill>
                  <a:schemeClr val="tx1"/>
                </a:solidFill>
                <a:cs typeface="Calibri"/>
              </a:rPr>
              <a:t>Note: Click paper link above to view paper at source</a:t>
            </a:r>
            <a:endParaRPr lang="en-US" sz="1800" dirty="0">
              <a:solidFill>
                <a:schemeClr val="tx1"/>
              </a:solidFill>
              <a:cs typeface="Calibri"/>
            </a:endParaRPr>
          </a:p>
          <a:p>
            <a:pPr algn="l"/>
            <a:endParaRPr lang="en-US" dirty="0"/>
          </a:p>
        </p:txBody>
      </p:sp>
    </p:spTree>
    <p:extLst>
      <p:ext uri="{BB962C8B-B14F-4D97-AF65-F5344CB8AC3E}">
        <p14:creationId xmlns:p14="http://schemas.microsoft.com/office/powerpoint/2010/main" val="136345742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0D0D6F-BC49-8F48-A384-F200F93AB63B}"/>
              </a:ext>
            </a:extLst>
          </p:cNvPr>
          <p:cNvSpPr>
            <a:spLocks noGrp="1"/>
          </p:cNvSpPr>
          <p:nvPr>
            <p:ph type="title"/>
          </p:nvPr>
        </p:nvSpPr>
        <p:spPr>
          <a:xfrm>
            <a:off x="157018" y="54951"/>
            <a:ext cx="5228798" cy="570731"/>
          </a:xfrm>
        </p:spPr>
        <p:txBody>
          <a:bodyPr vert="horz" lIns="91440" tIns="45720" rIns="91440" bIns="45720" rtlCol="0" anchor="b">
            <a:normAutofit fontScale="90000"/>
          </a:bodyPr>
          <a:lstStyle/>
          <a:p>
            <a:r>
              <a:rPr lang="en-US" sz="3400" dirty="0">
                <a:solidFill>
                  <a:schemeClr val="tx1"/>
                </a:solidFill>
                <a:ea typeface="+mj-lt"/>
                <a:cs typeface="+mj-lt"/>
              </a:rPr>
              <a:t>The Purpose of the Research</a:t>
            </a:r>
            <a:endParaRPr lang="en-US" dirty="0">
              <a:solidFill>
                <a:schemeClr val="tx1"/>
              </a:solidFill>
            </a:endParaRPr>
          </a:p>
        </p:txBody>
      </p:sp>
      <p:sp>
        <p:nvSpPr>
          <p:cNvPr id="3" name="Content Placeholder 2">
            <a:extLst>
              <a:ext uri="{FF2B5EF4-FFF2-40B4-BE49-F238E27FC236}">
                <a16:creationId xmlns:a16="http://schemas.microsoft.com/office/drawing/2014/main" id="{37883414-A1AC-0547-A5E6-80F17EADA8A3}"/>
              </a:ext>
            </a:extLst>
          </p:cNvPr>
          <p:cNvSpPr>
            <a:spLocks noGrp="1"/>
          </p:cNvSpPr>
          <p:nvPr>
            <p:ph idx="1"/>
            <p:custDataLst>
              <p:tags r:id="rId1"/>
            </p:custDataLst>
          </p:nvPr>
        </p:nvSpPr>
        <p:spPr>
          <a:xfrm>
            <a:off x="411480" y="2045368"/>
            <a:ext cx="4786162" cy="4131595"/>
          </a:xfrm>
        </p:spPr>
        <p:txBody>
          <a:bodyPr vert="horz" lIns="91440" tIns="45720" rIns="91440" bIns="45720" rtlCol="0" anchor="t">
            <a:normAutofit/>
          </a:bodyPr>
          <a:lstStyle>
            <a:lvl1pPr marL="228600" indent="-228600" algn="l" defTabSz="914400" rtl="0" eaLnBrk="1" latinLnBrk="0" hangingPunct="1">
              <a:buFont typeface="Arial" panose="020B0604020202020204" pitchFamily="34" charset="0"/>
              <a:buChar char="•"/>
            </a:lvl1pPr>
            <a:lvl2pPr marL="685800" indent="-228600" algn="l" defTabSz="914400" rtl="0" eaLnBrk="1" latinLnBrk="0" hangingPunct="1">
              <a:buFont typeface="Arial" panose="020B0604020202020204" pitchFamily="34" charset="0"/>
              <a:buChar char="•"/>
            </a:lvl2pPr>
            <a:lvl3pPr marL="1143000" indent="-228600" algn="l" defTabSz="914400" rtl="0" eaLnBrk="1" latinLnBrk="0" hangingPunct="1">
              <a:buFont typeface="Arial" panose="020B0604020202020204" pitchFamily="34" charset="0"/>
              <a:buChar char="•"/>
            </a:lvl3pPr>
            <a:lvl4pPr marL="1600200" indent="-228600" algn="l" defTabSz="914400" rtl="0" eaLnBrk="1" latinLnBrk="0" hangingPunct="1">
              <a:buFont typeface="Arial" panose="020B0604020202020204" pitchFamily="34" charset="0"/>
              <a:buChar char="•"/>
            </a:lvl4pPr>
            <a:lvl5pPr marL="2057400" indent="-228600" algn="l" defTabSz="914400" rtl="0" eaLnBrk="1" latinLnBrk="0" hangingPunct="1">
              <a:buFont typeface="Arial" panose="020B0604020202020204" pitchFamily="34" charset="0"/>
              <a:buChar char="•"/>
            </a:lvl5pPr>
            <a:lvl6pPr marL="2514600" indent="-228600" algn="l" defTabSz="914400" rtl="0" eaLnBrk="1" latinLnBrk="0" hangingPunct="1">
              <a:buFont typeface="Arial" panose="020B0604020202020204" pitchFamily="34" charset="0"/>
              <a:buChar char="•"/>
            </a:lvl6pPr>
            <a:lvl7pPr marL="2971800" indent="-228600" algn="l" defTabSz="914400" rtl="0" eaLnBrk="1" latinLnBrk="0" hangingPunct="1">
              <a:buFont typeface="Arial" panose="020B0604020202020204" pitchFamily="34" charset="0"/>
              <a:buChar char="•"/>
            </a:lvl7pPr>
            <a:lvl8pPr marL="3429000" indent="-228600" algn="l" defTabSz="914400" rtl="0" eaLnBrk="1" latinLnBrk="0" hangingPunct="1">
              <a:buFont typeface="Arial" panose="020B0604020202020204" pitchFamily="34" charset="0"/>
              <a:buChar char="•"/>
            </a:lvl8pPr>
            <a:lvl9pPr marL="3886200" indent="-228600" algn="l" defTabSz="914400" rtl="0" eaLnBrk="1" latinLnBrk="0" hangingPunct="1">
              <a:buFont typeface="Arial" panose="020B0604020202020204" pitchFamily="34" charset="0"/>
              <a:buChar char="•"/>
            </a:lvl9pPr>
          </a:lstStyle>
          <a:p>
            <a:pPr marL="0" indent="0">
              <a:buNone/>
            </a:pPr>
            <a:endParaRPr lang="en-US" sz="1800" dirty="0">
              <a:cs typeface="Calibri"/>
            </a:endParaRPr>
          </a:p>
          <a:p>
            <a:r>
              <a:rPr lang="en-US" sz="1800" dirty="0"/>
              <a:t>Can a model be created that will accurately </a:t>
            </a:r>
            <a:r>
              <a:rPr lang="en-US" dirty="0"/>
              <a:t>predict Company Environmental Social Governance (ESG) </a:t>
            </a:r>
            <a:r>
              <a:rPr lang="en-US" sz="1800" dirty="0"/>
              <a:t>ratings based of existing and accessible (not company reported) data ?</a:t>
            </a:r>
          </a:p>
          <a:p>
            <a:r>
              <a:rPr lang="en-US" sz="1800" dirty="0"/>
              <a:t>Improvement on existing methodologies</a:t>
            </a:r>
            <a:endParaRPr lang="en-US" sz="1800" dirty="0">
              <a:cs typeface="Calibri"/>
            </a:endParaRPr>
          </a:p>
          <a:p>
            <a:r>
              <a:rPr lang="en-US" sz="1800" dirty="0"/>
              <a:t>ESG reporting is a legal governance requirement for companies in the EU.</a:t>
            </a:r>
          </a:p>
          <a:p>
            <a:r>
              <a:rPr lang="en-US" sz="1800" dirty="0"/>
              <a:t>ESG is an Important area, as it has financial and market performance implications for companies and investors.</a:t>
            </a:r>
          </a:p>
          <a:p>
            <a:pPr marL="0" indent="0">
              <a:buNone/>
            </a:pPr>
            <a:endParaRPr lang="en-US" sz="1800" dirty="0">
              <a:cs typeface="Calibri"/>
            </a:endParaRPr>
          </a:p>
          <a:p>
            <a:endParaRPr lang="en-US" sz="1800" dirty="0">
              <a:cs typeface="Calibri"/>
            </a:endParaRPr>
          </a:p>
          <a:p>
            <a:endParaRPr lang="en-US" sz="1800" dirty="0">
              <a:cs typeface="Calibri"/>
            </a:endParaRPr>
          </a:p>
        </p:txBody>
      </p:sp>
      <p:sp>
        <p:nvSpPr>
          <p:cNvPr id="9" name="Content Placeholder 2">
            <a:extLst>
              <a:ext uri="{FF2B5EF4-FFF2-40B4-BE49-F238E27FC236}">
                <a16:creationId xmlns:a16="http://schemas.microsoft.com/office/drawing/2014/main" id="{56F677C4-6082-4C6E-B411-B3EC3962AFE4}"/>
              </a:ext>
            </a:extLst>
          </p:cNvPr>
          <p:cNvSpPr txBox="1">
            <a:spLocks/>
          </p:cNvSpPr>
          <p:nvPr>
            <p:custDataLst>
              <p:tags r:id="rId2"/>
            </p:custDataLst>
          </p:nvPr>
        </p:nvSpPr>
        <p:spPr>
          <a:xfrm>
            <a:off x="519988" y="1044921"/>
            <a:ext cx="4502858" cy="1112191"/>
          </a:xfrm>
          <a:prstGeom prst="rect">
            <a:avLst/>
          </a:prstGeom>
        </p:spPr>
        <p:txBody>
          <a:bodyPr vert="horz" lIns="91440" tIns="45720" rIns="91440" bIns="45720" rtlCol="0" anchor="t">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lvl="0" indent="0">
              <a:buNone/>
              <a:defRPr/>
            </a:pPr>
            <a:r>
              <a:rPr lang="en-GB" sz="1800" b="1" dirty="0"/>
              <a:t>Predicting Company ESG Ratings from News Articles Using Multivariate Timeseries Analysis</a:t>
            </a:r>
            <a:r>
              <a:rPr lang="en-IE" sz="1800" b="1" dirty="0"/>
              <a:t>?</a:t>
            </a:r>
            <a:endParaRPr kumimoji="0" lang="en-US" sz="1800" b="1" i="0" u="none" strike="noStrike" kern="1200" cap="none" spc="0" normalizeH="0" baseline="0" noProof="0" dirty="0">
              <a:ln>
                <a:noFill/>
              </a:ln>
              <a:effectLst/>
              <a:uLnTx/>
              <a:uFillTx/>
              <a:latin typeface="Calibri" panose="020F0502020204030204"/>
              <a:ea typeface="+mn-ea"/>
              <a:cs typeface="+mn-cs"/>
            </a:endParaRPr>
          </a:p>
        </p:txBody>
      </p:sp>
      <p:pic>
        <p:nvPicPr>
          <p:cNvPr id="5" name="Picture 4">
            <a:extLst>
              <a:ext uri="{FF2B5EF4-FFF2-40B4-BE49-F238E27FC236}">
                <a16:creationId xmlns:a16="http://schemas.microsoft.com/office/drawing/2014/main" id="{B8B693F6-2779-2C45-A9D5-83421B08747E}"/>
              </a:ext>
            </a:extLst>
          </p:cNvPr>
          <p:cNvPicPr>
            <a:picLocks noChangeAspect="1"/>
          </p:cNvPicPr>
          <p:nvPr/>
        </p:nvPicPr>
        <p:blipFill>
          <a:blip r:embed="rId4"/>
          <a:stretch>
            <a:fillRect/>
          </a:stretch>
        </p:blipFill>
        <p:spPr>
          <a:xfrm>
            <a:off x="5673047" y="0"/>
            <a:ext cx="6518954" cy="6858000"/>
          </a:xfrm>
          <a:prstGeom prst="rect">
            <a:avLst/>
          </a:prstGeom>
        </p:spPr>
      </p:pic>
    </p:spTree>
    <p:extLst>
      <p:ext uri="{BB962C8B-B14F-4D97-AF65-F5344CB8AC3E}">
        <p14:creationId xmlns:p14="http://schemas.microsoft.com/office/powerpoint/2010/main" val="190142561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C176E8-B77C-1FAD-DA39-F4E0444A5B1C}"/>
              </a:ext>
            </a:extLst>
          </p:cNvPr>
          <p:cNvSpPr>
            <a:spLocks noGrp="1"/>
          </p:cNvSpPr>
          <p:nvPr>
            <p:ph type="title"/>
          </p:nvPr>
        </p:nvSpPr>
        <p:spPr>
          <a:xfrm>
            <a:off x="101930" y="142503"/>
            <a:ext cx="7373289" cy="726177"/>
          </a:xfrm>
        </p:spPr>
        <p:txBody>
          <a:bodyPr>
            <a:normAutofit/>
          </a:bodyPr>
          <a:lstStyle/>
          <a:p>
            <a:r>
              <a:rPr lang="en-GB" dirty="0">
                <a:solidFill>
                  <a:schemeClr val="tx1"/>
                </a:solidFill>
              </a:rPr>
              <a:t>Research Onion Classification</a:t>
            </a:r>
          </a:p>
        </p:txBody>
      </p:sp>
      <p:pic>
        <p:nvPicPr>
          <p:cNvPr id="7" name="Content Placeholder 6">
            <a:extLst>
              <a:ext uri="{FF2B5EF4-FFF2-40B4-BE49-F238E27FC236}">
                <a16:creationId xmlns:a16="http://schemas.microsoft.com/office/drawing/2014/main" id="{1D4C4890-BD6A-6CE9-536E-996B4431E87C}"/>
              </a:ext>
            </a:extLst>
          </p:cNvPr>
          <p:cNvPicPr>
            <a:picLocks noGrp="1" noChangeAspect="1"/>
          </p:cNvPicPr>
          <p:nvPr>
            <p:ph idx="1"/>
          </p:nvPr>
        </p:nvPicPr>
        <p:blipFill>
          <a:blip r:embed="rId2"/>
          <a:stretch>
            <a:fillRect/>
          </a:stretch>
        </p:blipFill>
        <p:spPr>
          <a:xfrm>
            <a:off x="101930" y="868680"/>
            <a:ext cx="9840203" cy="5346074"/>
          </a:xfrm>
          <a:prstGeom prst="rect">
            <a:avLst/>
          </a:prstGeom>
        </p:spPr>
      </p:pic>
      <p:pic>
        <p:nvPicPr>
          <p:cNvPr id="9" name="Picture 8">
            <a:extLst>
              <a:ext uri="{FF2B5EF4-FFF2-40B4-BE49-F238E27FC236}">
                <a16:creationId xmlns:a16="http://schemas.microsoft.com/office/drawing/2014/main" id="{F2A1B6BC-6BA5-84AC-05E8-343B6E47D5EF}"/>
              </a:ext>
            </a:extLst>
          </p:cNvPr>
          <p:cNvPicPr>
            <a:picLocks noChangeAspect="1"/>
          </p:cNvPicPr>
          <p:nvPr/>
        </p:nvPicPr>
        <p:blipFill>
          <a:blip r:embed="rId3"/>
          <a:stretch>
            <a:fillRect/>
          </a:stretch>
        </p:blipFill>
        <p:spPr>
          <a:xfrm>
            <a:off x="9942133" y="3347329"/>
            <a:ext cx="1771897" cy="2867425"/>
          </a:xfrm>
          <a:prstGeom prst="rect">
            <a:avLst/>
          </a:prstGeom>
        </p:spPr>
      </p:pic>
      <p:sp>
        <p:nvSpPr>
          <p:cNvPr id="10" name="Title 1">
            <a:extLst>
              <a:ext uri="{FF2B5EF4-FFF2-40B4-BE49-F238E27FC236}">
                <a16:creationId xmlns:a16="http://schemas.microsoft.com/office/drawing/2014/main" id="{FA8C4DE5-CBBA-5D63-0190-14FBC0450243}"/>
              </a:ext>
            </a:extLst>
          </p:cNvPr>
          <p:cNvSpPr txBox="1">
            <a:spLocks/>
          </p:cNvSpPr>
          <p:nvPr/>
        </p:nvSpPr>
        <p:spPr>
          <a:xfrm>
            <a:off x="796947" y="6281757"/>
            <a:ext cx="7373289" cy="726177"/>
          </a:xfrm>
          <a:prstGeom prst="rect">
            <a:avLst/>
          </a:prstGeom>
        </p:spPr>
        <p:txBody>
          <a:bodyPr vert="horz" lIns="91440" tIns="45720" rIns="91440" bIns="45720" rtlCol="0" anchor="t">
            <a:normAutofit/>
          </a:bodyPr>
          <a:lst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GB" sz="2000" dirty="0">
                <a:solidFill>
                  <a:schemeClr val="tx1"/>
                </a:solidFill>
              </a:rPr>
              <a:t>The researchers adopted the above approach for their work</a:t>
            </a:r>
          </a:p>
        </p:txBody>
      </p:sp>
    </p:spTree>
    <p:extLst>
      <p:ext uri="{BB962C8B-B14F-4D97-AF65-F5344CB8AC3E}">
        <p14:creationId xmlns:p14="http://schemas.microsoft.com/office/powerpoint/2010/main" val="5774091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6DF71B-73C5-228D-831E-327B0C97E1F0}"/>
              </a:ext>
            </a:extLst>
          </p:cNvPr>
          <p:cNvSpPr>
            <a:spLocks noGrp="1"/>
          </p:cNvSpPr>
          <p:nvPr>
            <p:ph type="title"/>
          </p:nvPr>
        </p:nvSpPr>
        <p:spPr>
          <a:xfrm>
            <a:off x="463216" y="18255"/>
            <a:ext cx="11265568" cy="1325563"/>
          </a:xfrm>
        </p:spPr>
        <p:txBody>
          <a:bodyPr/>
          <a:lstStyle/>
          <a:p>
            <a:r>
              <a:rPr lang="en-GB" dirty="0">
                <a:solidFill>
                  <a:schemeClr val="tx1"/>
                </a:solidFill>
              </a:rPr>
              <a:t>Philosophy – Epistemology </a:t>
            </a:r>
            <a:r>
              <a:rPr lang="en-GB" sz="2400" dirty="0">
                <a:solidFill>
                  <a:schemeClr val="tx1"/>
                </a:solidFill>
              </a:rPr>
              <a:t>(what is knowledge?)</a:t>
            </a:r>
          </a:p>
        </p:txBody>
      </p:sp>
      <p:sp>
        <p:nvSpPr>
          <p:cNvPr id="3" name="Content Placeholder 2">
            <a:extLst>
              <a:ext uri="{FF2B5EF4-FFF2-40B4-BE49-F238E27FC236}">
                <a16:creationId xmlns:a16="http://schemas.microsoft.com/office/drawing/2014/main" id="{1CB346AC-23ED-1230-B1B9-79339CB57373}"/>
              </a:ext>
            </a:extLst>
          </p:cNvPr>
          <p:cNvSpPr>
            <a:spLocks noGrp="1"/>
          </p:cNvSpPr>
          <p:nvPr>
            <p:ph idx="1"/>
          </p:nvPr>
        </p:nvSpPr>
        <p:spPr>
          <a:xfrm>
            <a:off x="264695" y="782053"/>
            <a:ext cx="11464087" cy="5678905"/>
          </a:xfrm>
        </p:spPr>
        <p:txBody>
          <a:bodyPr>
            <a:normAutofit fontScale="92500" lnSpcReduction="20000"/>
          </a:bodyPr>
          <a:lstStyle/>
          <a:p>
            <a:r>
              <a:rPr lang="en-GB" b="1" u="sng" dirty="0"/>
              <a:t>It is - Positivism</a:t>
            </a:r>
            <a:r>
              <a:rPr lang="en-GB" dirty="0"/>
              <a:t>  -</a:t>
            </a:r>
          </a:p>
          <a:p>
            <a:pPr lvl="1"/>
            <a:r>
              <a:rPr lang="en-GB" dirty="0"/>
              <a:t>as it generates hypotheses (or research questions) that </a:t>
            </a:r>
            <a:r>
              <a:rPr lang="en-GB" b="1" dirty="0"/>
              <a:t>can be tested</a:t>
            </a:r>
            <a:r>
              <a:rPr lang="en-GB" dirty="0"/>
              <a:t> and allows explanations that are measured against accepted knowledge of the world we live in</a:t>
            </a:r>
          </a:p>
          <a:p>
            <a:pPr lvl="1"/>
            <a:r>
              <a:rPr lang="en-US" dirty="0"/>
              <a:t>research that can be </a:t>
            </a:r>
            <a:r>
              <a:rPr lang="en-US" b="1" dirty="0"/>
              <a:t>replicated</a:t>
            </a:r>
            <a:r>
              <a:rPr lang="en-US" dirty="0"/>
              <a:t> by other researchers to generate the same results.</a:t>
            </a:r>
            <a:endParaRPr lang="en-GB" dirty="0"/>
          </a:p>
          <a:p>
            <a:pPr lvl="1"/>
            <a:r>
              <a:rPr lang="en-GB" dirty="0"/>
              <a:t>emphasis is on quantifiable results that lend themselves to statistical analysis</a:t>
            </a:r>
          </a:p>
          <a:p>
            <a:pPr lvl="1"/>
            <a:r>
              <a:rPr lang="en-GB" dirty="0"/>
              <a:t>It is extracting metrics, patterns and reproducible answers from data…not inferring any absolute truths, gaining a predicted accuracy….as the outcome</a:t>
            </a:r>
          </a:p>
          <a:p>
            <a:pPr lvl="1"/>
            <a:r>
              <a:rPr lang="en-GB" dirty="0"/>
              <a:t>Knowledge is evaluated through observable data and predictive performance rather than claims of absolute truth…</a:t>
            </a:r>
          </a:p>
          <a:p>
            <a:pPr lvl="2"/>
            <a:r>
              <a:rPr lang="en-GB" dirty="0"/>
              <a:t>Quantifiable  / reproducible / testable data</a:t>
            </a:r>
          </a:p>
          <a:p>
            <a:r>
              <a:rPr lang="en-GB" dirty="0"/>
              <a:t>It is not</a:t>
            </a:r>
          </a:p>
          <a:p>
            <a:pPr lvl="1"/>
            <a:r>
              <a:rPr lang="en-GB" b="1" u="sng" dirty="0"/>
              <a:t>Realism </a:t>
            </a:r>
            <a:r>
              <a:rPr lang="en-GB" b="1" dirty="0"/>
              <a:t>– </a:t>
            </a:r>
          </a:p>
          <a:p>
            <a:pPr lvl="2"/>
            <a:r>
              <a:rPr lang="en-GB" dirty="0"/>
              <a:t>realism thinks that scientific methods are not perfect</a:t>
            </a:r>
          </a:p>
          <a:p>
            <a:pPr lvl="2"/>
            <a:r>
              <a:rPr lang="en-US" dirty="0"/>
              <a:t>theory can be revised and that our ability to know for certain what reality is may not exist without continually researching and leaving our minds open to using new methods of research.</a:t>
            </a:r>
            <a:endParaRPr lang="en-GB" dirty="0"/>
          </a:p>
          <a:p>
            <a:pPr lvl="2"/>
            <a:r>
              <a:rPr lang="en-GB" dirty="0"/>
              <a:t>Realism may therefore use several types of research methods to </a:t>
            </a:r>
            <a:r>
              <a:rPr lang="en-GB" b="1" u="sng" dirty="0"/>
              <a:t>triangulate</a:t>
            </a:r>
            <a:r>
              <a:rPr lang="en-GB" dirty="0"/>
              <a:t> results in their search for a more reliable outcome</a:t>
            </a:r>
          </a:p>
          <a:p>
            <a:pPr lvl="2"/>
            <a:r>
              <a:rPr lang="en-GB" dirty="0"/>
              <a:t>Time series element maps to realism -- theory can be revised and that our ability to know for certain what reality is may not exist without continually researching and leaving our minds open to using new methods of research</a:t>
            </a:r>
          </a:p>
          <a:p>
            <a:pPr lvl="1"/>
            <a:r>
              <a:rPr lang="en-GB" b="1" u="sng" dirty="0"/>
              <a:t>Interpretivism</a:t>
            </a:r>
          </a:p>
          <a:p>
            <a:pPr lvl="2"/>
            <a:r>
              <a:rPr lang="en-GB" dirty="0"/>
              <a:t>meanings people confer upon their own and others' actions </a:t>
            </a:r>
          </a:p>
          <a:p>
            <a:pPr lvl="2"/>
            <a:r>
              <a:rPr lang="en-US" dirty="0"/>
              <a:t>approaches emphasizing the meaningful nature of people's participation in social and cultural life.</a:t>
            </a:r>
            <a:endParaRPr lang="en-GB" dirty="0"/>
          </a:p>
          <a:p>
            <a:pPr lvl="1"/>
            <a:endParaRPr lang="en-GB" dirty="0"/>
          </a:p>
        </p:txBody>
      </p:sp>
    </p:spTree>
    <p:extLst>
      <p:ext uri="{BB962C8B-B14F-4D97-AF65-F5344CB8AC3E}">
        <p14:creationId xmlns:p14="http://schemas.microsoft.com/office/powerpoint/2010/main" val="366521198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D4669A-84B4-CB1D-2BD7-75018B518CA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6BFD938-A699-30E3-6EFE-E4C15152B1D7}"/>
              </a:ext>
            </a:extLst>
          </p:cNvPr>
          <p:cNvSpPr>
            <a:spLocks noGrp="1"/>
          </p:cNvSpPr>
          <p:nvPr>
            <p:ph type="title"/>
          </p:nvPr>
        </p:nvSpPr>
        <p:spPr>
          <a:xfrm>
            <a:off x="838200" y="18256"/>
            <a:ext cx="10515600" cy="968334"/>
          </a:xfrm>
        </p:spPr>
        <p:txBody>
          <a:bodyPr/>
          <a:lstStyle/>
          <a:p>
            <a:r>
              <a:rPr lang="en-GB" dirty="0">
                <a:solidFill>
                  <a:schemeClr val="tx1"/>
                </a:solidFill>
              </a:rPr>
              <a:t>Philosophy – Ontology </a:t>
            </a:r>
            <a:r>
              <a:rPr lang="en-GB" sz="2800" dirty="0">
                <a:solidFill>
                  <a:schemeClr val="tx1"/>
                </a:solidFill>
              </a:rPr>
              <a:t>(what is reality?)</a:t>
            </a:r>
          </a:p>
        </p:txBody>
      </p:sp>
      <p:sp>
        <p:nvSpPr>
          <p:cNvPr id="3" name="Content Placeholder 2">
            <a:extLst>
              <a:ext uri="{FF2B5EF4-FFF2-40B4-BE49-F238E27FC236}">
                <a16:creationId xmlns:a16="http://schemas.microsoft.com/office/drawing/2014/main" id="{F4454700-DBB5-CBEE-F134-B4EECE5C1299}"/>
              </a:ext>
            </a:extLst>
          </p:cNvPr>
          <p:cNvSpPr>
            <a:spLocks noGrp="1"/>
          </p:cNvSpPr>
          <p:nvPr>
            <p:ph idx="1"/>
          </p:nvPr>
        </p:nvSpPr>
        <p:spPr>
          <a:xfrm>
            <a:off x="360947" y="890337"/>
            <a:ext cx="10992853" cy="5354051"/>
          </a:xfrm>
        </p:spPr>
        <p:txBody>
          <a:bodyPr>
            <a:normAutofit/>
          </a:bodyPr>
          <a:lstStyle/>
          <a:p>
            <a:r>
              <a:rPr lang="en-GB" b="1" u="sng" dirty="0"/>
              <a:t>It is – Constructivism</a:t>
            </a:r>
            <a:r>
              <a:rPr lang="en-GB" dirty="0"/>
              <a:t> -	</a:t>
            </a:r>
          </a:p>
          <a:p>
            <a:pPr lvl="2"/>
            <a:r>
              <a:rPr lang="en-GB" b="1" dirty="0">
                <a:solidFill>
                  <a:srgbClr val="FF0000"/>
                </a:solidFill>
              </a:rPr>
              <a:t>social phenomena are actually constructed by social actors</a:t>
            </a:r>
          </a:p>
          <a:p>
            <a:pPr lvl="2"/>
            <a:r>
              <a:rPr lang="en-GB" dirty="0"/>
              <a:t>law is the product of the behaviour of the group of people it now has an impact on.</a:t>
            </a:r>
          </a:p>
          <a:p>
            <a:r>
              <a:rPr lang="en-GB" dirty="0"/>
              <a:t>It is not</a:t>
            </a:r>
          </a:p>
          <a:p>
            <a:pPr lvl="1"/>
            <a:r>
              <a:rPr lang="en-GB" b="1" u="sng" dirty="0"/>
              <a:t>Objectivism?</a:t>
            </a:r>
            <a:r>
              <a:rPr lang="en-GB" dirty="0"/>
              <a:t>  -</a:t>
            </a:r>
          </a:p>
          <a:p>
            <a:pPr lvl="2"/>
            <a:r>
              <a:rPr lang="en-US" dirty="0"/>
              <a:t>social </a:t>
            </a:r>
            <a:r>
              <a:rPr lang="en-US" dirty="0">
                <a:solidFill>
                  <a:srgbClr val="FF0000"/>
                </a:solidFill>
              </a:rPr>
              <a:t>phenomena and their meanings exist separately to social actors.</a:t>
            </a:r>
          </a:p>
          <a:p>
            <a:pPr lvl="2"/>
            <a:r>
              <a:rPr lang="en-GB" dirty="0"/>
              <a:t>There is an argument that the environmental realities – i.e. pollution are absolute realities…. And we are measuring merely reflections of the absolute realities…. i.e. media data only occurs if theres realities of temp/pollution/</a:t>
            </a:r>
            <a:r>
              <a:rPr lang="en-GB" dirty="0" err="1"/>
              <a:t>gdpr</a:t>
            </a:r>
            <a:r>
              <a:rPr lang="en-GB" dirty="0"/>
              <a:t> breaches/diversity issues etc </a:t>
            </a:r>
          </a:p>
          <a:p>
            <a:pPr lvl="1"/>
            <a:r>
              <a:rPr lang="en-GB" b="1" u="sng" dirty="0"/>
              <a:t>Pragmatism</a:t>
            </a:r>
            <a:endParaRPr lang="en-GB" dirty="0"/>
          </a:p>
          <a:p>
            <a:pPr lvl="2"/>
            <a:r>
              <a:rPr lang="en-GB" b="1" u="sng" dirty="0"/>
              <a:t>both</a:t>
            </a:r>
            <a:r>
              <a:rPr lang="en-GB" dirty="0"/>
              <a:t> constructivism and objectivism are valid ways to approach research. meanings people confer upon their own and others' actions </a:t>
            </a:r>
          </a:p>
          <a:p>
            <a:pPr lvl="2"/>
            <a:r>
              <a:rPr lang="en-GB" b="1" u="sng" dirty="0"/>
              <a:t>may be used to find solutions to problems.</a:t>
            </a:r>
          </a:p>
          <a:p>
            <a:pPr lvl="2"/>
            <a:r>
              <a:rPr lang="en-GB" b="1" u="sng" dirty="0"/>
              <a:t>Not really coming with any absolute defined version of truth… merely saying hey we can do this better to get a better solution to the problem</a:t>
            </a:r>
          </a:p>
        </p:txBody>
      </p:sp>
    </p:spTree>
    <p:extLst>
      <p:ext uri="{BB962C8B-B14F-4D97-AF65-F5344CB8AC3E}">
        <p14:creationId xmlns:p14="http://schemas.microsoft.com/office/powerpoint/2010/main" val="389830171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2B6A3B-1210-C766-55B7-789C0075DF3A}"/>
              </a:ext>
            </a:extLst>
          </p:cNvPr>
          <p:cNvSpPr>
            <a:spLocks noGrp="1"/>
          </p:cNvSpPr>
          <p:nvPr>
            <p:ph type="title"/>
          </p:nvPr>
        </p:nvSpPr>
        <p:spPr>
          <a:xfrm>
            <a:off x="741948" y="18255"/>
            <a:ext cx="10515600" cy="1325563"/>
          </a:xfrm>
        </p:spPr>
        <p:txBody>
          <a:bodyPr/>
          <a:lstStyle/>
          <a:p>
            <a:r>
              <a:rPr lang="en-GB" dirty="0">
                <a:solidFill>
                  <a:schemeClr val="tx1"/>
                </a:solidFill>
              </a:rPr>
              <a:t>Layer 2. Approaches</a:t>
            </a:r>
          </a:p>
        </p:txBody>
      </p:sp>
      <p:sp>
        <p:nvSpPr>
          <p:cNvPr id="3" name="Content Placeholder 2">
            <a:extLst>
              <a:ext uri="{FF2B5EF4-FFF2-40B4-BE49-F238E27FC236}">
                <a16:creationId xmlns:a16="http://schemas.microsoft.com/office/drawing/2014/main" id="{F0EB2DF1-3C61-A61D-4EF1-A3B69E91291A}"/>
              </a:ext>
            </a:extLst>
          </p:cNvPr>
          <p:cNvSpPr>
            <a:spLocks noGrp="1"/>
          </p:cNvSpPr>
          <p:nvPr>
            <p:ph idx="1"/>
          </p:nvPr>
        </p:nvSpPr>
        <p:spPr>
          <a:xfrm>
            <a:off x="481263" y="1179095"/>
            <a:ext cx="10872537" cy="4997868"/>
          </a:xfrm>
        </p:spPr>
        <p:txBody>
          <a:bodyPr>
            <a:normAutofit/>
          </a:bodyPr>
          <a:lstStyle/>
          <a:p>
            <a:r>
              <a:rPr lang="en-GB" dirty="0"/>
              <a:t>It is – </a:t>
            </a:r>
          </a:p>
          <a:p>
            <a:pPr lvl="1"/>
            <a:r>
              <a:rPr lang="en-GB" b="1" u="sng" dirty="0"/>
              <a:t>Deductive</a:t>
            </a:r>
          </a:p>
          <a:p>
            <a:pPr lvl="2"/>
            <a:r>
              <a:rPr lang="en-GB" dirty="0"/>
              <a:t>start with a statement/hypothesis or question and your research sets out to answer it.</a:t>
            </a:r>
          </a:p>
          <a:p>
            <a:pPr lvl="2"/>
            <a:r>
              <a:rPr lang="en-GB" dirty="0"/>
              <a:t>The paper is stating “</a:t>
            </a:r>
            <a:r>
              <a:rPr lang="en-GB" i="1" dirty="0"/>
              <a:t>predicting ESG ratings from news articles </a:t>
            </a:r>
            <a:r>
              <a:rPr lang="en-GB" sz="2000" i="1" dirty="0"/>
              <a:t>by uniquely combining multivariate time series construction with advanced deep learning techniques”</a:t>
            </a:r>
          </a:p>
          <a:p>
            <a:pPr lvl="2"/>
            <a:r>
              <a:rPr lang="en-GB" i="1" dirty="0"/>
              <a:t>The believe they can achieve this and then they set out to prove it…</a:t>
            </a:r>
          </a:p>
          <a:p>
            <a:pPr lvl="2"/>
            <a:r>
              <a:rPr lang="en-GB" dirty="0"/>
              <a:t>Questions and hypothesis may be derived from informed speculation about the topic, that the researcher believes can be answered or tested</a:t>
            </a:r>
            <a:endParaRPr lang="en-GB" sz="2000" i="1" dirty="0"/>
          </a:p>
          <a:p>
            <a:pPr lvl="1"/>
            <a:endParaRPr lang="en-GB" u="sng" dirty="0"/>
          </a:p>
          <a:p>
            <a:r>
              <a:rPr lang="en-GB" u="sng" dirty="0"/>
              <a:t>it is not</a:t>
            </a:r>
          </a:p>
          <a:p>
            <a:pPr lvl="2"/>
            <a:r>
              <a:rPr lang="en-GB" b="1" u="sng" dirty="0"/>
              <a:t>Inductive</a:t>
            </a:r>
          </a:p>
          <a:p>
            <a:pPr lvl="3"/>
            <a:r>
              <a:rPr lang="en-GB" dirty="0"/>
              <a:t>researching to create theory.</a:t>
            </a:r>
          </a:p>
          <a:p>
            <a:pPr lvl="3"/>
            <a:r>
              <a:rPr lang="en-GB" dirty="0"/>
              <a:t>research goes from research question to observation and description, to analysis and finally theory.</a:t>
            </a:r>
          </a:p>
          <a:p>
            <a:pPr lvl="2"/>
            <a:endParaRPr lang="en-GB" dirty="0"/>
          </a:p>
        </p:txBody>
      </p:sp>
    </p:spTree>
    <p:extLst>
      <p:ext uri="{BB962C8B-B14F-4D97-AF65-F5344CB8AC3E}">
        <p14:creationId xmlns:p14="http://schemas.microsoft.com/office/powerpoint/2010/main" val="157476302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a:extLst>
              <a:ext uri="{FF2B5EF4-FFF2-40B4-BE49-F238E27FC236}">
                <a16:creationId xmlns:a16="http://schemas.microsoft.com/office/drawing/2014/main" id="{150BB33B-E99D-9738-A471-8244D8465056}"/>
              </a:ext>
            </a:extLst>
          </p:cNvPr>
          <p:cNvPicPr>
            <a:picLocks noGrp="1" noChangeAspect="1"/>
          </p:cNvPicPr>
          <p:nvPr>
            <p:ph idx="1"/>
          </p:nvPr>
        </p:nvPicPr>
        <p:blipFill>
          <a:blip r:embed="rId2"/>
          <a:stretch>
            <a:fillRect/>
          </a:stretch>
        </p:blipFill>
        <p:spPr>
          <a:xfrm>
            <a:off x="155075" y="1148315"/>
            <a:ext cx="10799280" cy="3668233"/>
          </a:xfrm>
          <a:prstGeom prst="rect">
            <a:avLst/>
          </a:prstGeom>
        </p:spPr>
      </p:pic>
    </p:spTree>
    <p:extLst>
      <p:ext uri="{BB962C8B-B14F-4D97-AF65-F5344CB8AC3E}">
        <p14:creationId xmlns:p14="http://schemas.microsoft.com/office/powerpoint/2010/main" val="388034357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758617-8491-9FFB-40FD-CE71E7825114}"/>
              </a:ext>
            </a:extLst>
          </p:cNvPr>
          <p:cNvSpPr>
            <a:spLocks noGrp="1"/>
          </p:cNvSpPr>
          <p:nvPr>
            <p:ph type="title"/>
          </p:nvPr>
        </p:nvSpPr>
        <p:spPr/>
        <p:txBody>
          <a:bodyPr/>
          <a:lstStyle/>
          <a:p>
            <a:r>
              <a:rPr lang="en-GB" dirty="0">
                <a:solidFill>
                  <a:schemeClr val="tx1"/>
                </a:solidFill>
              </a:rPr>
              <a:t>Layer 3. Strategy</a:t>
            </a:r>
          </a:p>
        </p:txBody>
      </p:sp>
      <p:sp>
        <p:nvSpPr>
          <p:cNvPr id="3" name="Content Placeholder 2">
            <a:extLst>
              <a:ext uri="{FF2B5EF4-FFF2-40B4-BE49-F238E27FC236}">
                <a16:creationId xmlns:a16="http://schemas.microsoft.com/office/drawing/2014/main" id="{D1D29733-3D33-1024-C965-10ECDCDE32BB}"/>
              </a:ext>
            </a:extLst>
          </p:cNvPr>
          <p:cNvSpPr>
            <a:spLocks noGrp="1"/>
          </p:cNvSpPr>
          <p:nvPr>
            <p:ph idx="1"/>
          </p:nvPr>
        </p:nvSpPr>
        <p:spPr>
          <a:xfrm>
            <a:off x="385011" y="1528011"/>
            <a:ext cx="8888991" cy="4513351"/>
          </a:xfrm>
        </p:spPr>
        <p:txBody>
          <a:bodyPr>
            <a:normAutofit/>
          </a:bodyPr>
          <a:lstStyle/>
          <a:p>
            <a:r>
              <a:rPr lang="en-GB" dirty="0"/>
              <a:t>Archival research</a:t>
            </a:r>
          </a:p>
          <a:p>
            <a:pPr lvl="1"/>
            <a:r>
              <a:rPr lang="en-GB" dirty="0"/>
              <a:t>data collection on existing data sets or archive documents</a:t>
            </a:r>
          </a:p>
          <a:p>
            <a:pPr lvl="1"/>
            <a:r>
              <a:rPr lang="en-GB" dirty="0"/>
              <a:t>exploratory, explanatory or descriptive analysis of changes tracked </a:t>
            </a:r>
            <a:r>
              <a:rPr lang="en-GB" b="1" u="sng" dirty="0"/>
              <a:t>over a long period of time.</a:t>
            </a:r>
          </a:p>
          <a:p>
            <a:pPr marL="457200" lvl="1" indent="0">
              <a:buNone/>
            </a:pPr>
            <a:endParaRPr lang="en-GB" dirty="0"/>
          </a:p>
          <a:p>
            <a:r>
              <a:rPr lang="en-GB" dirty="0"/>
              <a:t>It is not, </a:t>
            </a:r>
          </a:p>
          <a:p>
            <a:pPr lvl="1"/>
            <a:r>
              <a:rPr lang="en-GB" dirty="0"/>
              <a:t>Experiment  - no causal or control groups, no speculated measurable effect</a:t>
            </a:r>
          </a:p>
          <a:p>
            <a:pPr lvl="1"/>
            <a:r>
              <a:rPr lang="en-GB" dirty="0"/>
              <a:t>Survey – no surveys taken</a:t>
            </a:r>
          </a:p>
          <a:p>
            <a:pPr lvl="1"/>
            <a:r>
              <a:rPr lang="en-GB" dirty="0"/>
              <a:t>Case Study  -no case studies performed</a:t>
            </a:r>
          </a:p>
          <a:p>
            <a:pPr lvl="1"/>
            <a:r>
              <a:rPr lang="en-GB" dirty="0"/>
              <a:t>Action research  - not reflective or iterative </a:t>
            </a:r>
          </a:p>
          <a:p>
            <a:pPr lvl="1"/>
            <a:r>
              <a:rPr lang="en-GB" dirty="0"/>
              <a:t>grounded theory – does not use inductive methods to predict or explain</a:t>
            </a:r>
          </a:p>
          <a:p>
            <a:pPr lvl="1"/>
            <a:r>
              <a:rPr lang="en-GB" dirty="0"/>
              <a:t>Ethnography – is not a study of others</a:t>
            </a:r>
          </a:p>
        </p:txBody>
      </p:sp>
    </p:spTree>
    <p:extLst>
      <p:ext uri="{BB962C8B-B14F-4D97-AF65-F5344CB8AC3E}">
        <p14:creationId xmlns:p14="http://schemas.microsoft.com/office/powerpoint/2010/main" val="331965954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02CE1A-7143-950C-E803-2BC80B3874F9}"/>
              </a:ext>
            </a:extLst>
          </p:cNvPr>
          <p:cNvSpPr>
            <a:spLocks noGrp="1"/>
          </p:cNvSpPr>
          <p:nvPr>
            <p:ph type="title"/>
          </p:nvPr>
        </p:nvSpPr>
        <p:spPr/>
        <p:txBody>
          <a:bodyPr/>
          <a:lstStyle/>
          <a:p>
            <a:r>
              <a:rPr lang="en-GB" dirty="0">
                <a:solidFill>
                  <a:schemeClr val="tx1"/>
                </a:solidFill>
              </a:rPr>
              <a:t>Layer 4. Choices</a:t>
            </a:r>
          </a:p>
        </p:txBody>
      </p:sp>
      <p:sp>
        <p:nvSpPr>
          <p:cNvPr id="3" name="Content Placeholder 2">
            <a:extLst>
              <a:ext uri="{FF2B5EF4-FFF2-40B4-BE49-F238E27FC236}">
                <a16:creationId xmlns:a16="http://schemas.microsoft.com/office/drawing/2014/main" id="{31F5C72B-21BE-CB1D-01BC-9AEA1245090E}"/>
              </a:ext>
            </a:extLst>
          </p:cNvPr>
          <p:cNvSpPr>
            <a:spLocks noGrp="1"/>
          </p:cNvSpPr>
          <p:nvPr>
            <p:ph idx="1"/>
          </p:nvPr>
        </p:nvSpPr>
        <p:spPr/>
        <p:txBody>
          <a:bodyPr>
            <a:normAutofit/>
          </a:bodyPr>
          <a:lstStyle/>
          <a:p>
            <a:r>
              <a:rPr lang="en-GB" dirty="0"/>
              <a:t>Is </a:t>
            </a:r>
            <a:r>
              <a:rPr lang="en-GB" b="1" dirty="0"/>
              <a:t>Quantitative</a:t>
            </a:r>
          </a:p>
          <a:p>
            <a:pPr lvl="1"/>
            <a:r>
              <a:rPr lang="en-GB" dirty="0"/>
              <a:t>statistical data collected through empirical observation or from statistical digests</a:t>
            </a:r>
          </a:p>
          <a:p>
            <a:r>
              <a:rPr lang="en-GB" dirty="0"/>
              <a:t>Is not </a:t>
            </a:r>
            <a:r>
              <a:rPr lang="en-GB" b="1" dirty="0"/>
              <a:t>Qualitative </a:t>
            </a:r>
          </a:p>
          <a:p>
            <a:pPr lvl="1"/>
            <a:r>
              <a:rPr lang="en-GB" dirty="0"/>
              <a:t>Does not rely on opinion, personal accounts etc</a:t>
            </a:r>
          </a:p>
          <a:p>
            <a:pPr marL="457200" lvl="1" indent="0">
              <a:buNone/>
            </a:pPr>
            <a:endParaRPr lang="en-GB" dirty="0"/>
          </a:p>
          <a:p>
            <a:r>
              <a:rPr lang="en-GB" dirty="0"/>
              <a:t>Is Mono-method</a:t>
            </a:r>
          </a:p>
          <a:p>
            <a:pPr lvl="2"/>
            <a:r>
              <a:rPr lang="en-GB" dirty="0"/>
              <a:t>Only quantitative data is collected and used</a:t>
            </a:r>
          </a:p>
          <a:p>
            <a:r>
              <a:rPr lang="en-GB" dirty="0"/>
              <a:t>Is not </a:t>
            </a:r>
            <a:r>
              <a:rPr lang="en-GB" b="1" dirty="0"/>
              <a:t>mixed</a:t>
            </a:r>
            <a:r>
              <a:rPr lang="en-GB" dirty="0"/>
              <a:t> or </a:t>
            </a:r>
            <a:r>
              <a:rPr lang="en-GB" b="1" dirty="0"/>
              <a:t>multi method</a:t>
            </a:r>
          </a:p>
        </p:txBody>
      </p:sp>
    </p:spTree>
    <p:extLst>
      <p:ext uri="{BB962C8B-B14F-4D97-AF65-F5344CB8AC3E}">
        <p14:creationId xmlns:p14="http://schemas.microsoft.com/office/powerpoint/2010/main" val="274813367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CC503A-E30C-82D7-86B6-5BE9C7756D8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2E09765-14F7-25AB-2014-B9A0D07FF2EC}"/>
              </a:ext>
            </a:extLst>
          </p:cNvPr>
          <p:cNvSpPr>
            <a:spLocks noGrp="1"/>
          </p:cNvSpPr>
          <p:nvPr>
            <p:ph type="title"/>
          </p:nvPr>
        </p:nvSpPr>
        <p:spPr/>
        <p:txBody>
          <a:bodyPr/>
          <a:lstStyle/>
          <a:p>
            <a:r>
              <a:rPr lang="en-GB" dirty="0">
                <a:solidFill>
                  <a:schemeClr val="tx1"/>
                </a:solidFill>
              </a:rPr>
              <a:t>Layer 5. Time Horizons</a:t>
            </a:r>
          </a:p>
        </p:txBody>
      </p:sp>
      <p:sp>
        <p:nvSpPr>
          <p:cNvPr id="3" name="Content Placeholder 2">
            <a:extLst>
              <a:ext uri="{FF2B5EF4-FFF2-40B4-BE49-F238E27FC236}">
                <a16:creationId xmlns:a16="http://schemas.microsoft.com/office/drawing/2014/main" id="{35F96499-3613-502C-02C3-1E9073A6A7EC}"/>
              </a:ext>
            </a:extLst>
          </p:cNvPr>
          <p:cNvSpPr>
            <a:spLocks noGrp="1"/>
          </p:cNvSpPr>
          <p:nvPr>
            <p:ph idx="1"/>
          </p:nvPr>
        </p:nvSpPr>
        <p:spPr/>
        <p:txBody>
          <a:bodyPr>
            <a:normAutofit/>
          </a:bodyPr>
          <a:lstStyle/>
          <a:p>
            <a:r>
              <a:rPr lang="en-GB" dirty="0"/>
              <a:t>Is </a:t>
            </a:r>
            <a:r>
              <a:rPr lang="en-GB" b="1" dirty="0"/>
              <a:t>Longitudinal</a:t>
            </a:r>
          </a:p>
          <a:p>
            <a:pPr lvl="1"/>
            <a:r>
              <a:rPr lang="en-GB" dirty="0"/>
              <a:t>study events and behaviours using concentrated samples over a longer period of time.</a:t>
            </a:r>
          </a:p>
          <a:p>
            <a:pPr lvl="1"/>
            <a:endParaRPr lang="en-GB" dirty="0"/>
          </a:p>
          <a:p>
            <a:pPr lvl="1"/>
            <a:endParaRPr lang="en-GB" dirty="0"/>
          </a:p>
          <a:p>
            <a:r>
              <a:rPr lang="en-GB" dirty="0"/>
              <a:t>Is not </a:t>
            </a:r>
            <a:r>
              <a:rPr lang="en-GB" b="1" dirty="0"/>
              <a:t>Cross - Sectional</a:t>
            </a:r>
          </a:p>
          <a:p>
            <a:pPr lvl="1"/>
            <a:r>
              <a:rPr lang="en-GB" dirty="0"/>
              <a:t>measures an aspect or behaviour of many groups or individuals and at a single point in time.</a:t>
            </a:r>
          </a:p>
        </p:txBody>
      </p:sp>
    </p:spTree>
    <p:extLst>
      <p:ext uri="{BB962C8B-B14F-4D97-AF65-F5344CB8AC3E}">
        <p14:creationId xmlns:p14="http://schemas.microsoft.com/office/powerpoint/2010/main" val="95353233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A854DC-AFCA-9EF9-D0EC-5E9E40F468BF}"/>
              </a:ext>
            </a:extLst>
          </p:cNvPr>
          <p:cNvSpPr>
            <a:spLocks noGrp="1"/>
          </p:cNvSpPr>
          <p:nvPr>
            <p:ph type="title"/>
          </p:nvPr>
        </p:nvSpPr>
        <p:spPr/>
        <p:txBody>
          <a:bodyPr/>
          <a:lstStyle/>
          <a:p>
            <a:r>
              <a:rPr lang="en-GB" dirty="0">
                <a:solidFill>
                  <a:schemeClr val="tx1"/>
                </a:solidFill>
              </a:rPr>
              <a:t>Layer 6. Techniques and procedures</a:t>
            </a:r>
          </a:p>
        </p:txBody>
      </p:sp>
      <p:sp>
        <p:nvSpPr>
          <p:cNvPr id="3" name="Content Placeholder 2">
            <a:extLst>
              <a:ext uri="{FF2B5EF4-FFF2-40B4-BE49-F238E27FC236}">
                <a16:creationId xmlns:a16="http://schemas.microsoft.com/office/drawing/2014/main" id="{42F24BDD-64CE-CC33-76FA-8DDBACF98DA1}"/>
              </a:ext>
            </a:extLst>
          </p:cNvPr>
          <p:cNvSpPr>
            <a:spLocks noGrp="1"/>
          </p:cNvSpPr>
          <p:nvPr>
            <p:ph idx="1"/>
          </p:nvPr>
        </p:nvSpPr>
        <p:spPr>
          <a:xfrm>
            <a:off x="677333" y="1515979"/>
            <a:ext cx="10018741" cy="4920916"/>
          </a:xfrm>
        </p:spPr>
        <p:txBody>
          <a:bodyPr>
            <a:normAutofit/>
          </a:bodyPr>
          <a:lstStyle/>
          <a:p>
            <a:r>
              <a:rPr lang="en-GB" dirty="0"/>
              <a:t>It is a combination of both of the following.</a:t>
            </a:r>
          </a:p>
          <a:p>
            <a:pPr lvl="1"/>
            <a:r>
              <a:rPr lang="en-GB" dirty="0"/>
              <a:t>Experimental</a:t>
            </a:r>
          </a:p>
          <a:p>
            <a:pPr lvl="2"/>
            <a:r>
              <a:rPr lang="en-GB" dirty="0"/>
              <a:t>Methods = </a:t>
            </a:r>
            <a:r>
              <a:rPr lang="en-GB" b="1" u="sng" dirty="0"/>
              <a:t>rigid in structure</a:t>
            </a:r>
            <a:r>
              <a:rPr lang="en-GB" dirty="0"/>
              <a:t> and process to enable the research to be replicated.</a:t>
            </a:r>
          </a:p>
          <a:p>
            <a:pPr lvl="2"/>
            <a:r>
              <a:rPr lang="en-GB" dirty="0"/>
              <a:t>Tools = python, ML, neural networks (CNNs) x2  and transformer-based x2, </a:t>
            </a:r>
            <a:r>
              <a:rPr lang="en-GB" dirty="0" err="1"/>
              <a:t>DistilBERT</a:t>
            </a:r>
            <a:r>
              <a:rPr lang="en-GB" dirty="0"/>
              <a:t> model, k-means clustering</a:t>
            </a:r>
          </a:p>
          <a:p>
            <a:pPr lvl="1"/>
            <a:r>
              <a:rPr lang="en-GB" dirty="0"/>
              <a:t>Formal Modelling</a:t>
            </a:r>
          </a:p>
          <a:p>
            <a:pPr lvl="2"/>
            <a:r>
              <a:rPr lang="en-GB" dirty="0"/>
              <a:t>Methods = analytical, mathematical</a:t>
            </a:r>
          </a:p>
          <a:p>
            <a:pPr lvl="2"/>
            <a:r>
              <a:rPr lang="en-GB" dirty="0"/>
              <a:t>Tools / Models = k-means clustering (k centroids, k=6), Neural Networks</a:t>
            </a:r>
          </a:p>
          <a:p>
            <a:pPr lvl="2"/>
            <a:endParaRPr lang="en-GB" dirty="0"/>
          </a:p>
          <a:p>
            <a:r>
              <a:rPr lang="en-GB" dirty="0"/>
              <a:t>There is no use of </a:t>
            </a:r>
            <a:r>
              <a:rPr lang="en-GB" b="1" dirty="0"/>
              <a:t>Surveys</a:t>
            </a:r>
            <a:r>
              <a:rPr lang="en-GB" dirty="0"/>
              <a:t>, </a:t>
            </a:r>
            <a:r>
              <a:rPr lang="en-GB" b="1" dirty="0"/>
              <a:t>Action Research</a:t>
            </a:r>
            <a:r>
              <a:rPr lang="en-GB" dirty="0"/>
              <a:t>, </a:t>
            </a:r>
            <a:r>
              <a:rPr lang="en-GB" b="1" dirty="0"/>
              <a:t>Case Studies</a:t>
            </a:r>
            <a:r>
              <a:rPr lang="en-GB" dirty="0"/>
              <a:t>, </a:t>
            </a:r>
            <a:r>
              <a:rPr lang="en-GB" b="1" dirty="0"/>
              <a:t>Grounded theory</a:t>
            </a:r>
            <a:r>
              <a:rPr lang="en-GB" dirty="0"/>
              <a:t> or </a:t>
            </a:r>
            <a:r>
              <a:rPr lang="en-GB" b="1" dirty="0"/>
              <a:t>Ethnography</a:t>
            </a:r>
          </a:p>
        </p:txBody>
      </p:sp>
    </p:spTree>
    <p:extLst>
      <p:ext uri="{BB962C8B-B14F-4D97-AF65-F5344CB8AC3E}">
        <p14:creationId xmlns:p14="http://schemas.microsoft.com/office/powerpoint/2010/main" val="1641254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D2A1E8-103D-7EBA-4EB3-CFA5775DCE2F}"/>
              </a:ext>
            </a:extLst>
          </p:cNvPr>
          <p:cNvSpPr>
            <a:spLocks noGrp="1"/>
          </p:cNvSpPr>
          <p:nvPr>
            <p:ph type="title"/>
          </p:nvPr>
        </p:nvSpPr>
        <p:spPr>
          <a:xfrm>
            <a:off x="3838074" y="2501524"/>
            <a:ext cx="3642882" cy="662782"/>
          </a:xfrm>
        </p:spPr>
        <p:txBody>
          <a:bodyPr>
            <a:noAutofit/>
          </a:bodyPr>
          <a:lstStyle/>
          <a:p>
            <a:r>
              <a:rPr lang="en-GB" sz="4400" dirty="0">
                <a:solidFill>
                  <a:schemeClr val="tx1"/>
                </a:solidFill>
              </a:rPr>
              <a:t>Methodology</a:t>
            </a:r>
          </a:p>
        </p:txBody>
      </p:sp>
      <p:sp>
        <p:nvSpPr>
          <p:cNvPr id="5" name="TextBox 4">
            <a:extLst>
              <a:ext uri="{FF2B5EF4-FFF2-40B4-BE49-F238E27FC236}">
                <a16:creationId xmlns:a16="http://schemas.microsoft.com/office/drawing/2014/main" id="{1F3EFDB6-25BD-2A18-D057-BD0127537CF2}"/>
              </a:ext>
            </a:extLst>
          </p:cNvPr>
          <p:cNvSpPr txBox="1"/>
          <p:nvPr/>
        </p:nvSpPr>
        <p:spPr>
          <a:xfrm>
            <a:off x="3716414" y="3429000"/>
            <a:ext cx="3886201" cy="369332"/>
          </a:xfrm>
          <a:prstGeom prst="rect">
            <a:avLst/>
          </a:prstGeom>
          <a:noFill/>
        </p:spPr>
        <p:txBody>
          <a:bodyPr wrap="square">
            <a:spAutoFit/>
          </a:bodyPr>
          <a:lstStyle/>
          <a:p>
            <a:r>
              <a:rPr lang="en-GB" dirty="0"/>
              <a:t>Data collection and Data Analysis</a:t>
            </a:r>
          </a:p>
        </p:txBody>
      </p:sp>
    </p:spTree>
    <p:extLst>
      <p:ext uri="{BB962C8B-B14F-4D97-AF65-F5344CB8AC3E}">
        <p14:creationId xmlns:p14="http://schemas.microsoft.com/office/powerpoint/2010/main" val="20882106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0AD5BB-737E-7782-7536-B21B5BC3E50E}"/>
              </a:ext>
            </a:extLst>
          </p:cNvPr>
          <p:cNvSpPr>
            <a:spLocks noGrp="1"/>
          </p:cNvSpPr>
          <p:nvPr>
            <p:ph type="title"/>
          </p:nvPr>
        </p:nvSpPr>
        <p:spPr>
          <a:xfrm>
            <a:off x="688297" y="0"/>
            <a:ext cx="6695913" cy="1325563"/>
          </a:xfrm>
        </p:spPr>
        <p:txBody>
          <a:bodyPr/>
          <a:lstStyle/>
          <a:p>
            <a:r>
              <a:rPr lang="en-GB" dirty="0">
                <a:solidFill>
                  <a:schemeClr val="tx1"/>
                </a:solidFill>
              </a:rPr>
              <a:t>Step 1. Build the Datasets</a:t>
            </a:r>
          </a:p>
        </p:txBody>
      </p:sp>
      <p:sp>
        <p:nvSpPr>
          <p:cNvPr id="3" name="Content Placeholder 2">
            <a:extLst>
              <a:ext uri="{FF2B5EF4-FFF2-40B4-BE49-F238E27FC236}">
                <a16:creationId xmlns:a16="http://schemas.microsoft.com/office/drawing/2014/main" id="{D39C5B43-0343-3840-2ECF-8B292FBCD2E1}"/>
              </a:ext>
            </a:extLst>
          </p:cNvPr>
          <p:cNvSpPr>
            <a:spLocks noGrp="1"/>
          </p:cNvSpPr>
          <p:nvPr>
            <p:ph idx="1"/>
          </p:nvPr>
        </p:nvSpPr>
        <p:spPr>
          <a:xfrm>
            <a:off x="144379" y="842211"/>
            <a:ext cx="11359324" cy="5834634"/>
          </a:xfrm>
        </p:spPr>
        <p:txBody>
          <a:bodyPr>
            <a:normAutofit lnSpcReduction="10000"/>
          </a:bodyPr>
          <a:lstStyle/>
          <a:p>
            <a:r>
              <a:rPr lang="en-GB" dirty="0"/>
              <a:t>1. Build Dataset</a:t>
            </a:r>
          </a:p>
          <a:p>
            <a:pPr lvl="1"/>
            <a:r>
              <a:rPr lang="en-GB" dirty="0"/>
              <a:t>1.1 ESG ratings dataset creation</a:t>
            </a:r>
          </a:p>
          <a:p>
            <a:pPr lvl="2"/>
            <a:r>
              <a:rPr lang="en-GB" dirty="0"/>
              <a:t>Used &gt; Asset4 ESG ratings from Refinitiv1, - collected yearly ratings for 3,343 U.S. companies rated by Refinitiv from 2018 to 2020</a:t>
            </a:r>
          </a:p>
          <a:p>
            <a:pPr lvl="2"/>
            <a:r>
              <a:rPr lang="en-GB" dirty="0"/>
              <a:t>Refinitiv scores based around E, S and G + 3 ratings, each 0-100) &gt; higher = better</a:t>
            </a:r>
          </a:p>
          <a:p>
            <a:pPr lvl="3"/>
            <a:r>
              <a:rPr lang="en-GB" dirty="0"/>
              <a:t>1 basic ESG score (based around company reports)</a:t>
            </a:r>
          </a:p>
          <a:p>
            <a:pPr lvl="3"/>
            <a:r>
              <a:rPr lang="en-GB" dirty="0"/>
              <a:t>2. Controversy Score (based off external coverage, media etc)</a:t>
            </a:r>
          </a:p>
          <a:p>
            <a:pPr lvl="3"/>
            <a:r>
              <a:rPr lang="en-GB" dirty="0"/>
              <a:t>3. combined score (controversy adjusted) (paper used this score for prediction)</a:t>
            </a:r>
          </a:p>
          <a:p>
            <a:pPr lvl="3"/>
            <a:r>
              <a:rPr lang="en-GB" dirty="0"/>
              <a:t>Included some financials &gt; test for company size (market cap influence on ESG)</a:t>
            </a:r>
          </a:p>
          <a:p>
            <a:pPr lvl="3"/>
            <a:r>
              <a:rPr lang="en-GB" dirty="0"/>
              <a:t>NOTE &gt; Refinitiv no longer exists was bought and no private company &gt; </a:t>
            </a:r>
            <a:r>
              <a:rPr lang="en-GB" dirty="0">
                <a:hlinkClick r:id="rId2"/>
              </a:rPr>
              <a:t>https://www.lseg.com/en/data-analytics</a:t>
            </a:r>
            <a:r>
              <a:rPr lang="en-GB" dirty="0"/>
              <a:t> </a:t>
            </a:r>
          </a:p>
          <a:p>
            <a:pPr lvl="1"/>
            <a:r>
              <a:rPr lang="en-GB" dirty="0"/>
              <a:t>1.2 News Dataset creation</a:t>
            </a:r>
          </a:p>
          <a:p>
            <a:pPr lvl="2"/>
            <a:r>
              <a:rPr lang="en-GB" b="1" dirty="0"/>
              <a:t>GDELT</a:t>
            </a:r>
            <a:r>
              <a:rPr lang="en-GB" dirty="0"/>
              <a:t> project database &gt; </a:t>
            </a:r>
            <a:r>
              <a:rPr lang="en-GB" dirty="0">
                <a:hlinkClick r:id="rId3"/>
              </a:rPr>
              <a:t>https://www.gdeltproject.org/</a:t>
            </a:r>
            <a:endParaRPr lang="en-GB" dirty="0"/>
          </a:p>
          <a:p>
            <a:pPr lvl="3"/>
            <a:r>
              <a:rPr lang="en-GB" dirty="0"/>
              <a:t>extensive database of news covering print, web, broadcast, and television sources from most countries around the world in over 100 languages, with updates every 15 minutes.</a:t>
            </a:r>
          </a:p>
          <a:p>
            <a:pPr lvl="3"/>
            <a:r>
              <a:rPr lang="en-GB" b="1" dirty="0"/>
              <a:t>GDELT Doc API Client</a:t>
            </a:r>
          </a:p>
          <a:p>
            <a:pPr lvl="4"/>
            <a:r>
              <a:rPr lang="en-GB" b="1" dirty="0"/>
              <a:t>‘from </a:t>
            </a:r>
            <a:r>
              <a:rPr lang="en-GB" b="1" dirty="0" err="1"/>
              <a:t>gdeltdoc</a:t>
            </a:r>
            <a:r>
              <a:rPr lang="en-GB" b="1" dirty="0"/>
              <a:t> import </a:t>
            </a:r>
            <a:r>
              <a:rPr lang="en-GB" b="1" dirty="0" err="1"/>
              <a:t>GdeltDoc</a:t>
            </a:r>
            <a:r>
              <a:rPr lang="en-GB" b="1" dirty="0"/>
              <a:t>, Filters’</a:t>
            </a:r>
          </a:p>
          <a:p>
            <a:pPr lvl="4"/>
            <a:r>
              <a:rPr lang="en-GB" dirty="0">
                <a:hlinkClick r:id="rId4"/>
              </a:rPr>
              <a:t>https://pypi.org/project/gdeltdoc/</a:t>
            </a:r>
            <a:endParaRPr lang="en-GB" b="1" dirty="0"/>
          </a:p>
          <a:p>
            <a:pPr lvl="2"/>
            <a:r>
              <a:rPr lang="en-GB" dirty="0"/>
              <a:t>Performed a keyword search to include the 10 primary themes within the three ESG dimensions and company names (variations) each company name to appear twice to ensure focussed content and exclude incidental mentions</a:t>
            </a:r>
          </a:p>
        </p:txBody>
      </p:sp>
    </p:spTree>
    <p:extLst>
      <p:ext uri="{BB962C8B-B14F-4D97-AF65-F5344CB8AC3E}">
        <p14:creationId xmlns:p14="http://schemas.microsoft.com/office/powerpoint/2010/main" val="51146090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70B89F-E9A5-2476-D486-874FCC85683C}"/>
              </a:ext>
            </a:extLst>
          </p:cNvPr>
          <p:cNvSpPr>
            <a:spLocks noGrp="1"/>
          </p:cNvSpPr>
          <p:nvPr>
            <p:ph type="title"/>
          </p:nvPr>
        </p:nvSpPr>
        <p:spPr>
          <a:xfrm>
            <a:off x="478772" y="0"/>
            <a:ext cx="10515600" cy="1325563"/>
          </a:xfrm>
        </p:spPr>
        <p:txBody>
          <a:bodyPr/>
          <a:lstStyle/>
          <a:p>
            <a:pPr algn="ctr"/>
            <a:r>
              <a:rPr lang="en-GB" dirty="0">
                <a:solidFill>
                  <a:schemeClr val="tx1"/>
                </a:solidFill>
              </a:rPr>
              <a:t>Overview of the News Article Dataset</a:t>
            </a:r>
          </a:p>
        </p:txBody>
      </p:sp>
      <p:graphicFrame>
        <p:nvGraphicFramePr>
          <p:cNvPr id="4" name="Content Placeholder 3">
            <a:extLst>
              <a:ext uri="{FF2B5EF4-FFF2-40B4-BE49-F238E27FC236}">
                <a16:creationId xmlns:a16="http://schemas.microsoft.com/office/drawing/2014/main" id="{565B64EA-84E2-E9FB-9D9D-7EFB4E387095}"/>
              </a:ext>
            </a:extLst>
          </p:cNvPr>
          <p:cNvGraphicFramePr>
            <a:graphicFrameLocks noGrp="1"/>
          </p:cNvGraphicFramePr>
          <p:nvPr>
            <p:ph idx="1"/>
            <p:extLst>
              <p:ext uri="{D42A27DB-BD31-4B8C-83A1-F6EECF244321}">
                <p14:modId xmlns:p14="http://schemas.microsoft.com/office/powerpoint/2010/main" val="181744425"/>
              </p:ext>
            </p:extLst>
          </p:nvPr>
        </p:nvGraphicFramePr>
        <p:xfrm>
          <a:off x="1039992" y="999457"/>
          <a:ext cx="9393159" cy="3088830"/>
        </p:xfrm>
        <a:graphic>
          <a:graphicData uri="http://schemas.openxmlformats.org/drawingml/2006/table">
            <a:tbl>
              <a:tblPr>
                <a:tableStyleId>{5C22544A-7EE6-4342-B048-85BDC9FD1C3A}</a:tableStyleId>
              </a:tblPr>
              <a:tblGrid>
                <a:gridCol w="4287895">
                  <a:extLst>
                    <a:ext uri="{9D8B030D-6E8A-4147-A177-3AD203B41FA5}">
                      <a16:colId xmlns:a16="http://schemas.microsoft.com/office/drawing/2014/main" val="2309226637"/>
                    </a:ext>
                  </a:extLst>
                </a:gridCol>
                <a:gridCol w="1276316">
                  <a:extLst>
                    <a:ext uri="{9D8B030D-6E8A-4147-A177-3AD203B41FA5}">
                      <a16:colId xmlns:a16="http://schemas.microsoft.com/office/drawing/2014/main" val="38900310"/>
                    </a:ext>
                  </a:extLst>
                </a:gridCol>
                <a:gridCol w="1276316">
                  <a:extLst>
                    <a:ext uri="{9D8B030D-6E8A-4147-A177-3AD203B41FA5}">
                      <a16:colId xmlns:a16="http://schemas.microsoft.com/office/drawing/2014/main" val="2255698935"/>
                    </a:ext>
                  </a:extLst>
                </a:gridCol>
                <a:gridCol w="1276316">
                  <a:extLst>
                    <a:ext uri="{9D8B030D-6E8A-4147-A177-3AD203B41FA5}">
                      <a16:colId xmlns:a16="http://schemas.microsoft.com/office/drawing/2014/main" val="4121032835"/>
                    </a:ext>
                  </a:extLst>
                </a:gridCol>
                <a:gridCol w="1276316">
                  <a:extLst>
                    <a:ext uri="{9D8B030D-6E8A-4147-A177-3AD203B41FA5}">
                      <a16:colId xmlns:a16="http://schemas.microsoft.com/office/drawing/2014/main" val="1177465436"/>
                    </a:ext>
                  </a:extLst>
                </a:gridCol>
              </a:tblGrid>
              <a:tr h="469557">
                <a:tc>
                  <a:txBody>
                    <a:bodyPr/>
                    <a:lstStyle/>
                    <a:p>
                      <a:pPr algn="l" fontAlgn="b">
                        <a:buNone/>
                      </a:pPr>
                      <a:endParaRPr lang="en-GB" sz="2400" b="0" i="0" u="none" strike="noStrike" dirty="0">
                        <a:solidFill>
                          <a:srgbClr val="000000"/>
                        </a:solidFill>
                        <a:effectLst/>
                        <a:latin typeface="+mn-lt"/>
                      </a:endParaRPr>
                    </a:p>
                  </a:txBody>
                  <a:tcPr marL="9525" marR="9525" marT="9525" marB="0" anchor="b"/>
                </a:tc>
                <a:tc>
                  <a:txBody>
                    <a:bodyPr/>
                    <a:lstStyle/>
                    <a:p>
                      <a:pPr algn="r" fontAlgn="b">
                        <a:buNone/>
                      </a:pPr>
                      <a:r>
                        <a:rPr lang="en-GB" sz="2400" u="none" strike="noStrike">
                          <a:effectLst/>
                          <a:latin typeface="+mn-lt"/>
                        </a:rPr>
                        <a:t>2018</a:t>
                      </a:r>
                      <a:endParaRPr lang="en-GB" sz="2400" b="0" i="0" u="none" strike="noStrike">
                        <a:solidFill>
                          <a:srgbClr val="FFFFFF"/>
                        </a:solidFill>
                        <a:effectLst/>
                        <a:latin typeface="+mn-lt"/>
                      </a:endParaRPr>
                    </a:p>
                  </a:txBody>
                  <a:tcPr marL="9525" marR="9525" marT="9525" marB="0" anchor="b"/>
                </a:tc>
                <a:tc>
                  <a:txBody>
                    <a:bodyPr/>
                    <a:lstStyle/>
                    <a:p>
                      <a:pPr algn="r" fontAlgn="b">
                        <a:buNone/>
                      </a:pPr>
                      <a:r>
                        <a:rPr lang="en-GB" sz="2400" u="none" strike="noStrike">
                          <a:effectLst/>
                          <a:latin typeface="+mn-lt"/>
                        </a:rPr>
                        <a:t>2019</a:t>
                      </a:r>
                      <a:endParaRPr lang="en-GB" sz="2400" b="0" i="0" u="none" strike="noStrike">
                        <a:solidFill>
                          <a:srgbClr val="FFFFFF"/>
                        </a:solidFill>
                        <a:effectLst/>
                        <a:latin typeface="+mn-lt"/>
                      </a:endParaRPr>
                    </a:p>
                  </a:txBody>
                  <a:tcPr marL="9525" marR="9525" marT="9525" marB="0" anchor="b"/>
                </a:tc>
                <a:tc>
                  <a:txBody>
                    <a:bodyPr/>
                    <a:lstStyle/>
                    <a:p>
                      <a:pPr algn="r" fontAlgn="b">
                        <a:buNone/>
                      </a:pPr>
                      <a:r>
                        <a:rPr lang="en-GB" sz="2400" u="none" strike="noStrike">
                          <a:effectLst/>
                          <a:latin typeface="+mn-lt"/>
                        </a:rPr>
                        <a:t>2020</a:t>
                      </a:r>
                      <a:endParaRPr lang="en-GB" sz="2400" b="0" i="0" u="none" strike="noStrike">
                        <a:solidFill>
                          <a:srgbClr val="FFFFFF"/>
                        </a:solidFill>
                        <a:effectLst/>
                        <a:latin typeface="+mn-lt"/>
                      </a:endParaRPr>
                    </a:p>
                  </a:txBody>
                  <a:tcPr marL="9525" marR="9525" marT="9525" marB="0" anchor="b"/>
                </a:tc>
                <a:tc>
                  <a:txBody>
                    <a:bodyPr/>
                    <a:lstStyle/>
                    <a:p>
                      <a:pPr algn="ctr" fontAlgn="b">
                        <a:buNone/>
                      </a:pPr>
                      <a:r>
                        <a:rPr lang="en-GB" sz="2400" u="none" strike="noStrike">
                          <a:effectLst/>
                          <a:latin typeface="+mn-lt"/>
                        </a:rPr>
                        <a:t>In Total</a:t>
                      </a:r>
                      <a:endParaRPr lang="en-GB" sz="2400" b="0" i="0" u="none" strike="noStrike">
                        <a:solidFill>
                          <a:srgbClr val="FFFFFF"/>
                        </a:solidFill>
                        <a:effectLst/>
                        <a:latin typeface="+mn-lt"/>
                      </a:endParaRPr>
                    </a:p>
                  </a:txBody>
                  <a:tcPr marL="9525" marR="9525" marT="9525" marB="0" anchor="b"/>
                </a:tc>
                <a:extLst>
                  <a:ext uri="{0D108BD9-81ED-4DB2-BD59-A6C34878D82A}">
                    <a16:rowId xmlns:a16="http://schemas.microsoft.com/office/drawing/2014/main" val="79986689"/>
                  </a:ext>
                </a:extLst>
              </a:tr>
              <a:tr h="469557">
                <a:tc>
                  <a:txBody>
                    <a:bodyPr/>
                    <a:lstStyle/>
                    <a:p>
                      <a:pPr algn="l" fontAlgn="b">
                        <a:buNone/>
                      </a:pPr>
                      <a:r>
                        <a:rPr lang="en-GB" sz="2400" u="none" strike="noStrike" dirty="0">
                          <a:effectLst/>
                          <a:latin typeface="+mn-lt"/>
                        </a:rPr>
                        <a:t># of companies </a:t>
                      </a:r>
                      <a:endParaRPr lang="en-GB" sz="2400" b="1" i="0" u="none" strike="noStrike" dirty="0">
                        <a:solidFill>
                          <a:srgbClr val="000000"/>
                        </a:solidFill>
                        <a:effectLst/>
                        <a:latin typeface="+mn-lt"/>
                      </a:endParaRPr>
                    </a:p>
                  </a:txBody>
                  <a:tcPr marL="9525" marR="9525" marT="9525" marB="0" anchor="b"/>
                </a:tc>
                <a:tc>
                  <a:txBody>
                    <a:bodyPr/>
                    <a:lstStyle/>
                    <a:p>
                      <a:pPr algn="r" fontAlgn="b">
                        <a:buNone/>
                      </a:pPr>
                      <a:r>
                        <a:rPr lang="en-GB" sz="2400" u="none" strike="noStrike" dirty="0">
                          <a:effectLst/>
                          <a:latin typeface="+mn-lt"/>
                        </a:rPr>
                        <a:t>2665</a:t>
                      </a:r>
                      <a:endParaRPr lang="en-GB" sz="2400" b="0" i="0" u="none" strike="noStrike" dirty="0">
                        <a:solidFill>
                          <a:srgbClr val="000000"/>
                        </a:solidFill>
                        <a:effectLst/>
                        <a:latin typeface="+mn-lt"/>
                      </a:endParaRPr>
                    </a:p>
                  </a:txBody>
                  <a:tcPr marL="9525" marR="9525" marT="9525" marB="0" anchor="b"/>
                </a:tc>
                <a:tc>
                  <a:txBody>
                    <a:bodyPr/>
                    <a:lstStyle/>
                    <a:p>
                      <a:pPr algn="r" fontAlgn="b">
                        <a:buNone/>
                      </a:pPr>
                      <a:r>
                        <a:rPr lang="en-GB" sz="2400" u="none" strike="noStrike" dirty="0">
                          <a:effectLst/>
                          <a:latin typeface="+mn-lt"/>
                        </a:rPr>
                        <a:t>2940</a:t>
                      </a:r>
                      <a:endParaRPr lang="en-GB" sz="2400" b="0" i="0" u="none" strike="noStrike" dirty="0">
                        <a:solidFill>
                          <a:srgbClr val="000000"/>
                        </a:solidFill>
                        <a:effectLst/>
                        <a:latin typeface="+mn-lt"/>
                      </a:endParaRPr>
                    </a:p>
                  </a:txBody>
                  <a:tcPr marL="9525" marR="9525" marT="9525" marB="0" anchor="b"/>
                </a:tc>
                <a:tc>
                  <a:txBody>
                    <a:bodyPr/>
                    <a:lstStyle/>
                    <a:p>
                      <a:pPr algn="r" fontAlgn="b">
                        <a:buNone/>
                      </a:pPr>
                      <a:r>
                        <a:rPr lang="en-GB" sz="2400" u="none" strike="noStrike">
                          <a:effectLst/>
                          <a:latin typeface="+mn-lt"/>
                        </a:rPr>
                        <a:t>2879</a:t>
                      </a:r>
                      <a:endParaRPr lang="en-GB" sz="2400" b="0" i="0" u="none" strike="noStrike">
                        <a:solidFill>
                          <a:srgbClr val="000000"/>
                        </a:solidFill>
                        <a:effectLst/>
                        <a:latin typeface="+mn-lt"/>
                      </a:endParaRPr>
                    </a:p>
                  </a:txBody>
                  <a:tcPr marL="9525" marR="9525" marT="9525" marB="0" anchor="b"/>
                </a:tc>
                <a:tc>
                  <a:txBody>
                    <a:bodyPr/>
                    <a:lstStyle/>
                    <a:p>
                      <a:pPr algn="r" fontAlgn="b">
                        <a:buNone/>
                      </a:pPr>
                      <a:r>
                        <a:rPr lang="en-GB" sz="2400" u="none" strike="noStrike">
                          <a:effectLst/>
                          <a:latin typeface="+mn-lt"/>
                        </a:rPr>
                        <a:t>8484</a:t>
                      </a:r>
                      <a:endParaRPr lang="en-GB" sz="2400" b="0" i="0" u="none" strike="noStrike">
                        <a:solidFill>
                          <a:srgbClr val="000000"/>
                        </a:solidFill>
                        <a:effectLst/>
                        <a:latin typeface="+mn-lt"/>
                      </a:endParaRPr>
                    </a:p>
                  </a:txBody>
                  <a:tcPr marL="9525" marR="9525" marT="9525" marB="0" anchor="b"/>
                </a:tc>
                <a:extLst>
                  <a:ext uri="{0D108BD9-81ED-4DB2-BD59-A6C34878D82A}">
                    <a16:rowId xmlns:a16="http://schemas.microsoft.com/office/drawing/2014/main" val="546111596"/>
                  </a:ext>
                </a:extLst>
              </a:tr>
              <a:tr h="469557">
                <a:tc>
                  <a:txBody>
                    <a:bodyPr/>
                    <a:lstStyle/>
                    <a:p>
                      <a:pPr algn="l" fontAlgn="b">
                        <a:buNone/>
                      </a:pPr>
                      <a:r>
                        <a:rPr lang="en-GB" sz="2400" u="none" strike="noStrike">
                          <a:effectLst/>
                          <a:latin typeface="+mn-lt"/>
                        </a:rPr>
                        <a:t># of articles</a:t>
                      </a:r>
                      <a:endParaRPr lang="en-GB" sz="2400" b="1" i="0" u="none" strike="noStrike">
                        <a:solidFill>
                          <a:srgbClr val="000000"/>
                        </a:solidFill>
                        <a:effectLst/>
                        <a:latin typeface="+mn-lt"/>
                      </a:endParaRPr>
                    </a:p>
                  </a:txBody>
                  <a:tcPr marL="9525" marR="9525" marT="9525" marB="0" anchor="b"/>
                </a:tc>
                <a:tc>
                  <a:txBody>
                    <a:bodyPr/>
                    <a:lstStyle/>
                    <a:p>
                      <a:pPr algn="r" fontAlgn="b">
                        <a:buNone/>
                      </a:pPr>
                      <a:r>
                        <a:rPr lang="en-GB" sz="2400" u="none" strike="noStrike">
                          <a:effectLst/>
                          <a:latin typeface="+mn-lt"/>
                        </a:rPr>
                        <a:t>1,165,840</a:t>
                      </a:r>
                      <a:endParaRPr lang="en-GB" sz="2400" b="0" i="0" u="none" strike="noStrike">
                        <a:solidFill>
                          <a:srgbClr val="000000"/>
                        </a:solidFill>
                        <a:effectLst/>
                        <a:latin typeface="+mn-lt"/>
                      </a:endParaRPr>
                    </a:p>
                  </a:txBody>
                  <a:tcPr marL="9525" marR="9525" marT="9525" marB="0" anchor="b"/>
                </a:tc>
                <a:tc>
                  <a:txBody>
                    <a:bodyPr/>
                    <a:lstStyle/>
                    <a:p>
                      <a:pPr algn="r" fontAlgn="b">
                        <a:buNone/>
                      </a:pPr>
                      <a:r>
                        <a:rPr lang="en-GB" sz="2400" u="none" strike="noStrike">
                          <a:effectLst/>
                          <a:latin typeface="+mn-lt"/>
                        </a:rPr>
                        <a:t>1,399,277</a:t>
                      </a:r>
                      <a:endParaRPr lang="en-GB" sz="2400" b="0" i="0" u="none" strike="noStrike">
                        <a:solidFill>
                          <a:srgbClr val="000000"/>
                        </a:solidFill>
                        <a:effectLst/>
                        <a:latin typeface="+mn-lt"/>
                      </a:endParaRPr>
                    </a:p>
                  </a:txBody>
                  <a:tcPr marL="9525" marR="9525" marT="9525" marB="0" anchor="b"/>
                </a:tc>
                <a:tc>
                  <a:txBody>
                    <a:bodyPr/>
                    <a:lstStyle/>
                    <a:p>
                      <a:pPr algn="r" fontAlgn="b">
                        <a:buNone/>
                      </a:pPr>
                      <a:r>
                        <a:rPr lang="en-GB" sz="2400" u="none" strike="noStrike" dirty="0">
                          <a:effectLst/>
                          <a:latin typeface="+mn-lt"/>
                        </a:rPr>
                        <a:t>1,174,754</a:t>
                      </a:r>
                      <a:endParaRPr lang="en-GB" sz="2400" b="0" i="0" u="none" strike="noStrike" dirty="0">
                        <a:solidFill>
                          <a:srgbClr val="000000"/>
                        </a:solidFill>
                        <a:effectLst/>
                        <a:latin typeface="+mn-lt"/>
                      </a:endParaRPr>
                    </a:p>
                  </a:txBody>
                  <a:tcPr marL="9525" marR="9525" marT="9525" marB="0" anchor="b"/>
                </a:tc>
                <a:tc>
                  <a:txBody>
                    <a:bodyPr/>
                    <a:lstStyle/>
                    <a:p>
                      <a:pPr algn="r" fontAlgn="b">
                        <a:buNone/>
                      </a:pPr>
                      <a:r>
                        <a:rPr lang="en-GB" sz="2400" u="none" strike="noStrike">
                          <a:effectLst/>
                          <a:latin typeface="+mn-lt"/>
                        </a:rPr>
                        <a:t>3,739,871</a:t>
                      </a:r>
                      <a:endParaRPr lang="en-GB" sz="2400" b="0" i="0" u="none" strike="noStrike">
                        <a:solidFill>
                          <a:srgbClr val="000000"/>
                        </a:solidFill>
                        <a:effectLst/>
                        <a:latin typeface="+mn-lt"/>
                      </a:endParaRPr>
                    </a:p>
                  </a:txBody>
                  <a:tcPr marL="9525" marR="9525" marT="9525" marB="0" anchor="b"/>
                </a:tc>
                <a:extLst>
                  <a:ext uri="{0D108BD9-81ED-4DB2-BD59-A6C34878D82A}">
                    <a16:rowId xmlns:a16="http://schemas.microsoft.com/office/drawing/2014/main" val="3381858849"/>
                  </a:ext>
                </a:extLst>
              </a:tr>
              <a:tr h="469557">
                <a:tc>
                  <a:txBody>
                    <a:bodyPr/>
                    <a:lstStyle/>
                    <a:p>
                      <a:pPr algn="l" fontAlgn="b">
                        <a:buNone/>
                      </a:pPr>
                      <a:r>
                        <a:rPr lang="en-GB" sz="2400" u="none" strike="noStrike" dirty="0">
                          <a:effectLst/>
                          <a:latin typeface="+mn-lt"/>
                        </a:rPr>
                        <a:t># of articles per company</a:t>
                      </a:r>
                      <a:endParaRPr lang="en-GB" sz="2400" b="1" i="0" u="none" strike="noStrike" dirty="0">
                        <a:solidFill>
                          <a:srgbClr val="000000"/>
                        </a:solidFill>
                        <a:effectLst/>
                        <a:latin typeface="+mn-lt"/>
                      </a:endParaRPr>
                    </a:p>
                  </a:txBody>
                  <a:tcPr marL="9525" marR="9525" marT="9525" marB="0" anchor="b"/>
                </a:tc>
                <a:tc>
                  <a:txBody>
                    <a:bodyPr/>
                    <a:lstStyle/>
                    <a:p>
                      <a:pPr algn="l" fontAlgn="b">
                        <a:buNone/>
                      </a:pPr>
                      <a:r>
                        <a:rPr lang="en-GB" sz="2400" u="none" strike="noStrike" dirty="0">
                          <a:effectLst/>
                          <a:latin typeface="+mn-lt"/>
                        </a:rPr>
                        <a:t> </a:t>
                      </a:r>
                      <a:endParaRPr lang="en-GB" sz="2400" b="0" i="0" u="none" strike="noStrike" dirty="0">
                        <a:solidFill>
                          <a:srgbClr val="000000"/>
                        </a:solidFill>
                        <a:effectLst/>
                        <a:latin typeface="+mn-lt"/>
                      </a:endParaRPr>
                    </a:p>
                  </a:txBody>
                  <a:tcPr marL="9525" marR="9525" marT="9525" marB="0" anchor="b"/>
                </a:tc>
                <a:tc>
                  <a:txBody>
                    <a:bodyPr/>
                    <a:lstStyle/>
                    <a:p>
                      <a:pPr algn="l" fontAlgn="b">
                        <a:buNone/>
                      </a:pPr>
                      <a:r>
                        <a:rPr lang="en-GB" sz="2400" u="none" strike="noStrike" dirty="0">
                          <a:effectLst/>
                          <a:latin typeface="+mn-lt"/>
                        </a:rPr>
                        <a:t> </a:t>
                      </a:r>
                      <a:endParaRPr lang="en-GB" sz="2400" b="0" i="0" u="none" strike="noStrike" dirty="0">
                        <a:solidFill>
                          <a:srgbClr val="000000"/>
                        </a:solidFill>
                        <a:effectLst/>
                        <a:latin typeface="+mn-lt"/>
                      </a:endParaRPr>
                    </a:p>
                  </a:txBody>
                  <a:tcPr marL="9525" marR="9525" marT="9525" marB="0" anchor="b"/>
                </a:tc>
                <a:tc>
                  <a:txBody>
                    <a:bodyPr/>
                    <a:lstStyle/>
                    <a:p>
                      <a:pPr algn="l" fontAlgn="b">
                        <a:buNone/>
                      </a:pPr>
                      <a:r>
                        <a:rPr lang="en-GB" sz="2400" u="none" strike="noStrike" dirty="0">
                          <a:effectLst/>
                          <a:latin typeface="+mn-lt"/>
                        </a:rPr>
                        <a:t> </a:t>
                      </a:r>
                      <a:endParaRPr lang="en-GB" sz="2400" b="0" i="0" u="none" strike="noStrike" dirty="0">
                        <a:solidFill>
                          <a:srgbClr val="000000"/>
                        </a:solidFill>
                        <a:effectLst/>
                        <a:latin typeface="+mn-lt"/>
                      </a:endParaRPr>
                    </a:p>
                  </a:txBody>
                  <a:tcPr marL="9525" marR="9525" marT="9525" marB="0" anchor="b"/>
                </a:tc>
                <a:tc>
                  <a:txBody>
                    <a:bodyPr/>
                    <a:lstStyle/>
                    <a:p>
                      <a:pPr algn="l" fontAlgn="b">
                        <a:buNone/>
                      </a:pPr>
                      <a:r>
                        <a:rPr lang="en-GB" sz="2400" u="none" strike="noStrike" dirty="0">
                          <a:effectLst/>
                          <a:latin typeface="+mn-lt"/>
                        </a:rPr>
                        <a:t> </a:t>
                      </a:r>
                      <a:endParaRPr lang="en-GB" sz="2400" b="0" i="0" u="none" strike="noStrike" dirty="0">
                        <a:solidFill>
                          <a:srgbClr val="000000"/>
                        </a:solidFill>
                        <a:effectLst/>
                        <a:latin typeface="+mn-lt"/>
                      </a:endParaRPr>
                    </a:p>
                  </a:txBody>
                  <a:tcPr marL="9525" marR="9525" marT="9525" marB="0" anchor="b"/>
                </a:tc>
                <a:extLst>
                  <a:ext uri="{0D108BD9-81ED-4DB2-BD59-A6C34878D82A}">
                    <a16:rowId xmlns:a16="http://schemas.microsoft.com/office/drawing/2014/main" val="139262158"/>
                  </a:ext>
                </a:extLst>
              </a:tr>
              <a:tr h="469557">
                <a:tc>
                  <a:txBody>
                    <a:bodyPr/>
                    <a:lstStyle/>
                    <a:p>
                      <a:pPr algn="l" fontAlgn="b">
                        <a:buNone/>
                      </a:pPr>
                      <a:r>
                        <a:rPr lang="en-GB" sz="2400" u="none" strike="noStrike">
                          <a:effectLst/>
                          <a:latin typeface="+mn-lt"/>
                        </a:rPr>
                        <a:t>average</a:t>
                      </a:r>
                      <a:endParaRPr lang="en-GB" sz="2400" b="1" i="0" u="none" strike="noStrike">
                        <a:solidFill>
                          <a:srgbClr val="000000"/>
                        </a:solidFill>
                        <a:effectLst/>
                        <a:latin typeface="+mn-lt"/>
                      </a:endParaRPr>
                    </a:p>
                  </a:txBody>
                  <a:tcPr marL="9525" marR="9525" marT="9525" marB="0" anchor="b"/>
                </a:tc>
                <a:tc>
                  <a:txBody>
                    <a:bodyPr/>
                    <a:lstStyle/>
                    <a:p>
                      <a:pPr algn="r" fontAlgn="b">
                        <a:buNone/>
                      </a:pPr>
                      <a:r>
                        <a:rPr lang="en-GB" sz="2400" u="none" strike="noStrike">
                          <a:effectLst/>
                          <a:latin typeface="+mn-lt"/>
                        </a:rPr>
                        <a:t>435</a:t>
                      </a:r>
                      <a:endParaRPr lang="en-GB" sz="2400" b="0" i="0" u="none" strike="noStrike">
                        <a:solidFill>
                          <a:srgbClr val="000000"/>
                        </a:solidFill>
                        <a:effectLst/>
                        <a:latin typeface="+mn-lt"/>
                      </a:endParaRPr>
                    </a:p>
                  </a:txBody>
                  <a:tcPr marL="9525" marR="9525" marT="9525" marB="0" anchor="b"/>
                </a:tc>
                <a:tc>
                  <a:txBody>
                    <a:bodyPr/>
                    <a:lstStyle/>
                    <a:p>
                      <a:pPr algn="r" fontAlgn="b">
                        <a:buNone/>
                      </a:pPr>
                      <a:r>
                        <a:rPr lang="en-GB" sz="2400" u="none" strike="noStrike">
                          <a:effectLst/>
                          <a:latin typeface="+mn-lt"/>
                        </a:rPr>
                        <a:t>473</a:t>
                      </a:r>
                      <a:endParaRPr lang="en-GB" sz="2400" b="0" i="0" u="none" strike="noStrike">
                        <a:solidFill>
                          <a:srgbClr val="000000"/>
                        </a:solidFill>
                        <a:effectLst/>
                        <a:latin typeface="+mn-lt"/>
                      </a:endParaRPr>
                    </a:p>
                  </a:txBody>
                  <a:tcPr marL="9525" marR="9525" marT="9525" marB="0" anchor="b"/>
                </a:tc>
                <a:tc>
                  <a:txBody>
                    <a:bodyPr/>
                    <a:lstStyle/>
                    <a:p>
                      <a:pPr algn="r" fontAlgn="b">
                        <a:buNone/>
                      </a:pPr>
                      <a:r>
                        <a:rPr lang="en-GB" sz="2400" u="none" strike="noStrike">
                          <a:effectLst/>
                          <a:latin typeface="+mn-lt"/>
                        </a:rPr>
                        <a:t>406</a:t>
                      </a:r>
                      <a:endParaRPr lang="en-GB" sz="2400" b="0" i="0" u="none" strike="noStrike">
                        <a:solidFill>
                          <a:srgbClr val="000000"/>
                        </a:solidFill>
                        <a:effectLst/>
                        <a:latin typeface="+mn-lt"/>
                      </a:endParaRPr>
                    </a:p>
                  </a:txBody>
                  <a:tcPr marL="9525" marR="9525" marT="9525" marB="0" anchor="b"/>
                </a:tc>
                <a:tc>
                  <a:txBody>
                    <a:bodyPr/>
                    <a:lstStyle/>
                    <a:p>
                      <a:pPr algn="r" fontAlgn="b">
                        <a:buNone/>
                      </a:pPr>
                      <a:r>
                        <a:rPr lang="en-GB" sz="2400" u="none" strike="noStrike" dirty="0">
                          <a:effectLst/>
                          <a:latin typeface="+mn-lt"/>
                        </a:rPr>
                        <a:t>440</a:t>
                      </a:r>
                      <a:endParaRPr lang="en-GB" sz="2400" b="0" i="0" u="none" strike="noStrike" dirty="0">
                        <a:solidFill>
                          <a:srgbClr val="000000"/>
                        </a:solidFill>
                        <a:effectLst/>
                        <a:latin typeface="+mn-lt"/>
                      </a:endParaRPr>
                    </a:p>
                  </a:txBody>
                  <a:tcPr marL="9525" marR="9525" marT="9525" marB="0" anchor="b"/>
                </a:tc>
                <a:extLst>
                  <a:ext uri="{0D108BD9-81ED-4DB2-BD59-A6C34878D82A}">
                    <a16:rowId xmlns:a16="http://schemas.microsoft.com/office/drawing/2014/main" val="128726761"/>
                  </a:ext>
                </a:extLst>
              </a:tr>
              <a:tr h="469557">
                <a:tc>
                  <a:txBody>
                    <a:bodyPr/>
                    <a:lstStyle/>
                    <a:p>
                      <a:pPr algn="l" fontAlgn="b">
                        <a:buNone/>
                      </a:pPr>
                      <a:r>
                        <a:rPr lang="en-GB" sz="2400" u="none" strike="noStrike">
                          <a:effectLst/>
                          <a:latin typeface="+mn-lt"/>
                        </a:rPr>
                        <a:t>max</a:t>
                      </a:r>
                      <a:endParaRPr lang="en-GB" sz="2400" b="1" i="0" u="none" strike="noStrike">
                        <a:solidFill>
                          <a:srgbClr val="000000"/>
                        </a:solidFill>
                        <a:effectLst/>
                        <a:latin typeface="+mn-lt"/>
                      </a:endParaRPr>
                    </a:p>
                  </a:txBody>
                  <a:tcPr marL="9525" marR="9525" marT="9525" marB="0" anchor="b"/>
                </a:tc>
                <a:tc>
                  <a:txBody>
                    <a:bodyPr/>
                    <a:lstStyle/>
                    <a:p>
                      <a:pPr algn="r" fontAlgn="b">
                        <a:buNone/>
                      </a:pPr>
                      <a:r>
                        <a:rPr lang="en-GB" sz="2400" u="none" strike="noStrike">
                          <a:effectLst/>
                          <a:latin typeface="+mn-lt"/>
                        </a:rPr>
                        <a:t>1984</a:t>
                      </a:r>
                      <a:endParaRPr lang="en-GB" sz="2400" b="0" i="0" u="none" strike="noStrike">
                        <a:solidFill>
                          <a:srgbClr val="000000"/>
                        </a:solidFill>
                        <a:effectLst/>
                        <a:latin typeface="+mn-lt"/>
                      </a:endParaRPr>
                    </a:p>
                  </a:txBody>
                  <a:tcPr marL="9525" marR="9525" marT="9525" marB="0" anchor="b"/>
                </a:tc>
                <a:tc>
                  <a:txBody>
                    <a:bodyPr/>
                    <a:lstStyle/>
                    <a:p>
                      <a:pPr algn="r" fontAlgn="b">
                        <a:buNone/>
                      </a:pPr>
                      <a:r>
                        <a:rPr lang="en-GB" sz="2400" u="none" strike="noStrike">
                          <a:effectLst/>
                          <a:latin typeface="+mn-lt"/>
                        </a:rPr>
                        <a:t>2154</a:t>
                      </a:r>
                      <a:endParaRPr lang="en-GB" sz="2400" b="0" i="0" u="none" strike="noStrike">
                        <a:solidFill>
                          <a:srgbClr val="000000"/>
                        </a:solidFill>
                        <a:effectLst/>
                        <a:latin typeface="+mn-lt"/>
                      </a:endParaRPr>
                    </a:p>
                  </a:txBody>
                  <a:tcPr marL="9525" marR="9525" marT="9525" marB="0" anchor="b"/>
                </a:tc>
                <a:tc>
                  <a:txBody>
                    <a:bodyPr/>
                    <a:lstStyle/>
                    <a:p>
                      <a:pPr algn="r" fontAlgn="b">
                        <a:buNone/>
                      </a:pPr>
                      <a:r>
                        <a:rPr lang="en-GB" sz="2400" u="none" strike="noStrike">
                          <a:effectLst/>
                          <a:latin typeface="+mn-lt"/>
                        </a:rPr>
                        <a:t>2005</a:t>
                      </a:r>
                      <a:endParaRPr lang="en-GB" sz="2400" b="0" i="0" u="none" strike="noStrike">
                        <a:solidFill>
                          <a:srgbClr val="000000"/>
                        </a:solidFill>
                        <a:effectLst/>
                        <a:latin typeface="+mn-lt"/>
                      </a:endParaRPr>
                    </a:p>
                  </a:txBody>
                  <a:tcPr marL="9525" marR="9525" marT="9525" marB="0" anchor="b"/>
                </a:tc>
                <a:tc>
                  <a:txBody>
                    <a:bodyPr/>
                    <a:lstStyle/>
                    <a:p>
                      <a:pPr algn="r" fontAlgn="b">
                        <a:buNone/>
                      </a:pPr>
                      <a:r>
                        <a:rPr lang="en-GB" sz="2400" u="none" strike="noStrike" dirty="0">
                          <a:effectLst/>
                          <a:latin typeface="+mn-lt"/>
                        </a:rPr>
                        <a:t>2154</a:t>
                      </a:r>
                      <a:endParaRPr lang="en-GB" sz="2400" b="0" i="0" u="none" strike="noStrike" dirty="0">
                        <a:solidFill>
                          <a:srgbClr val="000000"/>
                        </a:solidFill>
                        <a:effectLst/>
                        <a:latin typeface="+mn-lt"/>
                      </a:endParaRPr>
                    </a:p>
                  </a:txBody>
                  <a:tcPr marL="9525" marR="9525" marT="9525" marB="0" anchor="b"/>
                </a:tc>
                <a:extLst>
                  <a:ext uri="{0D108BD9-81ED-4DB2-BD59-A6C34878D82A}">
                    <a16:rowId xmlns:a16="http://schemas.microsoft.com/office/drawing/2014/main" val="3093617978"/>
                  </a:ext>
                </a:extLst>
              </a:tr>
            </a:tbl>
          </a:graphicData>
        </a:graphic>
      </p:graphicFrame>
      <p:sp>
        <p:nvSpPr>
          <p:cNvPr id="6" name="TextBox 5">
            <a:extLst>
              <a:ext uri="{FF2B5EF4-FFF2-40B4-BE49-F238E27FC236}">
                <a16:creationId xmlns:a16="http://schemas.microsoft.com/office/drawing/2014/main" id="{E971A523-777E-101A-B2C1-3EC2493A8173}"/>
              </a:ext>
            </a:extLst>
          </p:cNvPr>
          <p:cNvSpPr txBox="1"/>
          <p:nvPr/>
        </p:nvSpPr>
        <p:spPr>
          <a:xfrm>
            <a:off x="478772" y="4126700"/>
            <a:ext cx="11062741" cy="2585323"/>
          </a:xfrm>
          <a:prstGeom prst="rect">
            <a:avLst/>
          </a:prstGeom>
          <a:noFill/>
        </p:spPr>
        <p:txBody>
          <a:bodyPr wrap="square">
            <a:spAutoFit/>
          </a:bodyPr>
          <a:lstStyle/>
          <a:p>
            <a:pPr marL="285750" indent="-285750" algn="l">
              <a:buFont typeface="Arial" panose="020B0604020202020204" pitchFamily="34" charset="0"/>
              <a:buChar char="•"/>
            </a:pPr>
            <a:r>
              <a:rPr lang="en-GB" dirty="0"/>
              <a:t>R</a:t>
            </a:r>
            <a:r>
              <a:rPr lang="en-GB" b="0" i="0" u="none" strike="noStrike" baseline="0" dirty="0"/>
              <a:t>emoved articles shorter than 200 characters and those with HTML errors, then extracted text content using the Beautiful Soup library3#</a:t>
            </a:r>
          </a:p>
          <a:p>
            <a:pPr marL="285750" indent="-285750">
              <a:buFont typeface="Arial" panose="020B0604020202020204" pitchFamily="34" charset="0"/>
              <a:buChar char="•"/>
            </a:pPr>
            <a:r>
              <a:rPr lang="en-GB" dirty="0"/>
              <a:t>excluded companies with fewer than five collected articles to maintain a robust sample for each entity</a:t>
            </a:r>
          </a:p>
          <a:p>
            <a:pPr marL="285750" indent="-285750">
              <a:buFont typeface="Arial" panose="020B0604020202020204" pitchFamily="34" charset="0"/>
              <a:buChar char="•"/>
            </a:pPr>
            <a:r>
              <a:rPr lang="en-GB" dirty="0"/>
              <a:t>removed extraneous noise, such as links, email addresses, dates, Unicode characters, and newline representations, which are common byproducts of scraping. </a:t>
            </a:r>
          </a:p>
          <a:p>
            <a:pPr marL="285750" indent="-285750">
              <a:buFont typeface="Arial" panose="020B0604020202020204" pitchFamily="34" charset="0"/>
              <a:buChar char="•"/>
            </a:pPr>
            <a:r>
              <a:rPr lang="en-GB" dirty="0"/>
              <a:t>Due to the length limitations of the BERT models we employ, each article was reduced to its title and the first five sentences, ensuring manageable input size while retaining core content</a:t>
            </a:r>
            <a:r>
              <a:rPr lang="en-GB" sz="1100" dirty="0"/>
              <a:t>.</a:t>
            </a:r>
          </a:p>
          <a:p>
            <a:pPr marL="285750" indent="-285750">
              <a:buFont typeface="Arial" panose="020B0604020202020204" pitchFamily="34" charset="0"/>
              <a:buChar char="•"/>
            </a:pPr>
            <a:r>
              <a:rPr lang="en-GB" dirty="0"/>
              <a:t>72% of articles were US sourced</a:t>
            </a:r>
          </a:p>
        </p:txBody>
      </p:sp>
    </p:spTree>
    <p:extLst>
      <p:ext uri="{BB962C8B-B14F-4D97-AF65-F5344CB8AC3E}">
        <p14:creationId xmlns:p14="http://schemas.microsoft.com/office/powerpoint/2010/main" val="386735668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C36B1C-99E5-3831-5B9A-EFE6A5FCF961}"/>
              </a:ext>
            </a:extLst>
          </p:cNvPr>
          <p:cNvSpPr>
            <a:spLocks noGrp="1"/>
          </p:cNvSpPr>
          <p:nvPr>
            <p:ph type="title"/>
          </p:nvPr>
        </p:nvSpPr>
        <p:spPr/>
        <p:txBody>
          <a:bodyPr/>
          <a:lstStyle/>
          <a:p>
            <a:r>
              <a:rPr lang="en-GB" dirty="0">
                <a:solidFill>
                  <a:schemeClr val="tx1"/>
                </a:solidFill>
              </a:rPr>
              <a:t>Step 2. Create labelled ESG training data</a:t>
            </a:r>
          </a:p>
        </p:txBody>
      </p:sp>
      <p:sp>
        <p:nvSpPr>
          <p:cNvPr id="3" name="Content Placeholder 2">
            <a:extLst>
              <a:ext uri="{FF2B5EF4-FFF2-40B4-BE49-F238E27FC236}">
                <a16:creationId xmlns:a16="http://schemas.microsoft.com/office/drawing/2014/main" id="{41E8CCA7-4F6B-9C79-50FA-EFA79FD9F96E}"/>
              </a:ext>
            </a:extLst>
          </p:cNvPr>
          <p:cNvSpPr>
            <a:spLocks noGrp="1"/>
          </p:cNvSpPr>
          <p:nvPr>
            <p:ph idx="1"/>
          </p:nvPr>
        </p:nvSpPr>
        <p:spPr/>
        <p:txBody>
          <a:bodyPr>
            <a:normAutofit/>
          </a:bodyPr>
          <a:lstStyle/>
          <a:p>
            <a:r>
              <a:rPr lang="en-GB" dirty="0"/>
              <a:t>1. Pre-label subset of articles by assessing semantic similarities to standard definitions of 3 ESG dimensions, ESG definitions from Corporate Finance Institute (CFI),to guide the labelling. </a:t>
            </a:r>
            <a:r>
              <a:rPr lang="en-GB" dirty="0">
                <a:hlinkClick r:id="rId2"/>
              </a:rPr>
              <a:t>https://corporatefinanceinstitute.com/</a:t>
            </a:r>
            <a:endParaRPr lang="en-GB" dirty="0"/>
          </a:p>
          <a:p>
            <a:pPr lvl="1"/>
            <a:r>
              <a:rPr lang="en-GB" dirty="0"/>
              <a:t>Note : This site no longer exists in this form. No specific definitions available any longer here.</a:t>
            </a:r>
          </a:p>
          <a:p>
            <a:r>
              <a:rPr lang="en-GB" dirty="0"/>
              <a:t>100 companies randomly selected from the GDELT article dataset served as training, validation and testing base for classifier.</a:t>
            </a:r>
          </a:p>
          <a:p>
            <a:r>
              <a:rPr lang="en-GB" dirty="0"/>
              <a:t>create pre-trained text embeddings for these ESG definitions and the news articles using the sentence transformer model </a:t>
            </a:r>
            <a:r>
              <a:rPr lang="en-GB" b="1" dirty="0"/>
              <a:t>’all-distilroberta-v1’ (SBERT</a:t>
            </a:r>
            <a:r>
              <a:rPr lang="en-GB" dirty="0"/>
              <a:t>) from </a:t>
            </a:r>
            <a:r>
              <a:rPr lang="en-GB" b="1" dirty="0" err="1"/>
              <a:t>Huggingface</a:t>
            </a:r>
            <a:r>
              <a:rPr lang="en-GB" b="1" dirty="0"/>
              <a:t> </a:t>
            </a:r>
            <a:r>
              <a:rPr lang="en-GB" dirty="0"/>
              <a:t>(</a:t>
            </a:r>
            <a:r>
              <a:rPr lang="en-GB" dirty="0">
                <a:hlinkClick r:id="rId3"/>
              </a:rPr>
              <a:t>https://huggingface.co/</a:t>
            </a:r>
            <a:endParaRPr lang="en-GB" dirty="0"/>
          </a:p>
          <a:p>
            <a:r>
              <a:rPr lang="en-GB" dirty="0"/>
              <a:t>Pairwise cosine similarity with &gt; 0.1  labelled as ‘relevant’, else = ‘noise’</a:t>
            </a:r>
          </a:p>
        </p:txBody>
      </p:sp>
    </p:spTree>
    <p:extLst>
      <p:ext uri="{BB962C8B-B14F-4D97-AF65-F5344CB8AC3E}">
        <p14:creationId xmlns:p14="http://schemas.microsoft.com/office/powerpoint/2010/main" val="54190127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710CB8A-B3C5-364D-AABF-678BF04A5FB6}"/>
              </a:ext>
            </a:extLst>
          </p:cNvPr>
          <p:cNvSpPr>
            <a:spLocks noGrp="1"/>
          </p:cNvSpPr>
          <p:nvPr>
            <p:ph type="title"/>
          </p:nvPr>
        </p:nvSpPr>
        <p:spPr/>
        <p:txBody>
          <a:bodyPr>
            <a:normAutofit/>
          </a:bodyPr>
          <a:lstStyle/>
          <a:p>
            <a:r>
              <a:rPr lang="en-GB" dirty="0">
                <a:solidFill>
                  <a:schemeClr val="tx1"/>
                </a:solidFill>
              </a:rPr>
              <a:t>Step 3. Train ESG classifier to predict relevant and non relevant ESG articles </a:t>
            </a:r>
          </a:p>
        </p:txBody>
      </p:sp>
      <p:sp>
        <p:nvSpPr>
          <p:cNvPr id="3" name="Content Placeholder 2">
            <a:extLst>
              <a:ext uri="{FF2B5EF4-FFF2-40B4-BE49-F238E27FC236}">
                <a16:creationId xmlns:a16="http://schemas.microsoft.com/office/drawing/2014/main" id="{1DC5BF10-2BCA-CE8D-7B23-1F0E1C3D0CE4}"/>
              </a:ext>
            </a:extLst>
          </p:cNvPr>
          <p:cNvSpPr>
            <a:spLocks noGrp="1"/>
          </p:cNvSpPr>
          <p:nvPr>
            <p:ph idx="1"/>
          </p:nvPr>
        </p:nvSpPr>
        <p:spPr/>
        <p:txBody>
          <a:bodyPr>
            <a:normAutofit fontScale="85000" lnSpcReduction="20000"/>
          </a:bodyPr>
          <a:lstStyle/>
          <a:p>
            <a:r>
              <a:rPr lang="en-GB" dirty="0"/>
              <a:t>fine-tune a pre-trained </a:t>
            </a:r>
            <a:r>
              <a:rPr lang="en-GB" b="1" dirty="0" err="1"/>
              <a:t>DistilBERT</a:t>
            </a:r>
            <a:r>
              <a:rPr lang="en-GB" dirty="0"/>
              <a:t> model on this pre-</a:t>
            </a:r>
            <a:r>
              <a:rPr lang="en-GB" dirty="0" err="1"/>
              <a:t>labeled</a:t>
            </a:r>
            <a:r>
              <a:rPr lang="en-GB" dirty="0"/>
              <a:t> dataset to predict labels for the entire corpus</a:t>
            </a:r>
          </a:p>
          <a:p>
            <a:pPr lvl="1"/>
            <a:r>
              <a:rPr lang="en-GB" dirty="0"/>
              <a:t>10,500 = training set</a:t>
            </a:r>
          </a:p>
          <a:p>
            <a:pPr lvl="1"/>
            <a:r>
              <a:rPr lang="en-GB" dirty="0"/>
              <a:t>2,100 = validation</a:t>
            </a:r>
          </a:p>
          <a:p>
            <a:pPr lvl="1"/>
            <a:r>
              <a:rPr lang="en-GB" dirty="0"/>
              <a:t>57,088 = testing</a:t>
            </a:r>
          </a:p>
          <a:p>
            <a:r>
              <a:rPr lang="en-GB" dirty="0"/>
              <a:t>Articles are tokenized with the </a:t>
            </a:r>
            <a:r>
              <a:rPr lang="en-GB" b="1" dirty="0" err="1"/>
              <a:t>DistilBertTokenizer</a:t>
            </a:r>
            <a:r>
              <a:rPr lang="en-GB" b="1" dirty="0"/>
              <a:t> </a:t>
            </a:r>
            <a:r>
              <a:rPr lang="en-GB" dirty="0"/>
              <a:t>from </a:t>
            </a:r>
            <a:r>
              <a:rPr lang="en-GB" b="1" dirty="0" err="1"/>
              <a:t>Huggingface</a:t>
            </a:r>
            <a:r>
              <a:rPr lang="en-GB" dirty="0"/>
              <a:t>, and the tokenized inputs are then fed into </a:t>
            </a:r>
            <a:r>
              <a:rPr lang="en-GB" b="1" dirty="0" err="1"/>
              <a:t>DistilBERT</a:t>
            </a:r>
            <a:r>
              <a:rPr lang="en-GB" b="1" dirty="0"/>
              <a:t>.</a:t>
            </a:r>
          </a:p>
          <a:p>
            <a:r>
              <a:rPr lang="en-GB" dirty="0" err="1"/>
              <a:t>DistilBERT</a:t>
            </a:r>
            <a:r>
              <a:rPr lang="en-GB" dirty="0"/>
              <a:t> classifier is fine-tuned in two stages</a:t>
            </a:r>
          </a:p>
          <a:p>
            <a:pPr lvl="1"/>
            <a:r>
              <a:rPr lang="en-GB" dirty="0"/>
              <a:t>1. customized classification layers are optimized</a:t>
            </a:r>
          </a:p>
          <a:p>
            <a:pPr lvl="1"/>
            <a:r>
              <a:rPr lang="en-GB" dirty="0"/>
              <a:t>2. entire network is fine-tuned using a lower learning rate to ensure stability</a:t>
            </a:r>
          </a:p>
          <a:p>
            <a:r>
              <a:rPr lang="en-GB" dirty="0"/>
              <a:t>Using the trained classifier, we then predict the relevance label for each article</a:t>
            </a:r>
          </a:p>
          <a:p>
            <a:r>
              <a:rPr lang="en-GB" dirty="0"/>
              <a:t>Had 83% accuracy and labelled all 3.7 million articles either ‘relevant  or ’noise”</a:t>
            </a:r>
          </a:p>
          <a:p>
            <a:r>
              <a:rPr lang="en-GB" dirty="0"/>
              <a:t>Not bag-of-words/</a:t>
            </a:r>
            <a:r>
              <a:rPr lang="en-GB" dirty="0" err="1"/>
              <a:t>tf</a:t>
            </a:r>
            <a:r>
              <a:rPr lang="en-GB" dirty="0"/>
              <a:t>-IDF/One-Hot/Word2vec… but BERT</a:t>
            </a:r>
          </a:p>
        </p:txBody>
      </p:sp>
    </p:spTree>
    <p:extLst>
      <p:ext uri="{BB962C8B-B14F-4D97-AF65-F5344CB8AC3E}">
        <p14:creationId xmlns:p14="http://schemas.microsoft.com/office/powerpoint/2010/main" val="115283435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B6AF63-662E-F005-7E63-1F1949BA7002}"/>
              </a:ext>
            </a:extLst>
          </p:cNvPr>
          <p:cNvSpPr>
            <a:spLocks noGrp="1"/>
          </p:cNvSpPr>
          <p:nvPr>
            <p:ph type="title"/>
          </p:nvPr>
        </p:nvSpPr>
        <p:spPr>
          <a:xfrm>
            <a:off x="268261" y="308811"/>
            <a:ext cx="9934518" cy="1320800"/>
          </a:xfrm>
        </p:spPr>
        <p:txBody>
          <a:bodyPr>
            <a:normAutofit fontScale="90000"/>
          </a:bodyPr>
          <a:lstStyle/>
          <a:p>
            <a:r>
              <a:rPr lang="en-GB" dirty="0">
                <a:solidFill>
                  <a:schemeClr val="tx1"/>
                </a:solidFill>
              </a:rPr>
              <a:t>Step 4. generate the “</a:t>
            </a:r>
            <a:r>
              <a:rPr lang="en-GB" b="1" dirty="0">
                <a:solidFill>
                  <a:schemeClr val="tx1"/>
                </a:solidFill>
              </a:rPr>
              <a:t>Article2ESG</a:t>
            </a:r>
            <a:r>
              <a:rPr lang="en-GB" dirty="0">
                <a:solidFill>
                  <a:schemeClr val="tx1"/>
                </a:solidFill>
              </a:rPr>
              <a:t> </a:t>
            </a:r>
            <a:r>
              <a:rPr lang="en-GB" b="1" dirty="0">
                <a:solidFill>
                  <a:schemeClr val="tx1"/>
                </a:solidFill>
              </a:rPr>
              <a:t>Relevance</a:t>
            </a:r>
            <a:r>
              <a:rPr lang="en-GB" dirty="0">
                <a:solidFill>
                  <a:schemeClr val="tx1"/>
                </a:solidFill>
              </a:rPr>
              <a:t>” time series – filter all articles in the news articles corpus</a:t>
            </a:r>
          </a:p>
        </p:txBody>
      </p:sp>
      <p:sp>
        <p:nvSpPr>
          <p:cNvPr id="3" name="Content Placeholder 2">
            <a:extLst>
              <a:ext uri="{FF2B5EF4-FFF2-40B4-BE49-F238E27FC236}">
                <a16:creationId xmlns:a16="http://schemas.microsoft.com/office/drawing/2014/main" id="{B3756F40-A0A4-F2B9-1683-6A24E54AA18B}"/>
              </a:ext>
            </a:extLst>
          </p:cNvPr>
          <p:cNvSpPr>
            <a:spLocks noGrp="1"/>
          </p:cNvSpPr>
          <p:nvPr>
            <p:ph idx="1"/>
          </p:nvPr>
        </p:nvSpPr>
        <p:spPr/>
        <p:txBody>
          <a:bodyPr>
            <a:normAutofit/>
          </a:bodyPr>
          <a:lstStyle/>
          <a:p>
            <a:r>
              <a:rPr lang="en-GB" dirty="0"/>
              <a:t>Reflects the monthly relevance of articles to ESG topics</a:t>
            </a:r>
          </a:p>
          <a:p>
            <a:r>
              <a:rPr lang="en-GB" dirty="0"/>
              <a:t>group the articles by month and by company</a:t>
            </a:r>
          </a:p>
          <a:p>
            <a:r>
              <a:rPr lang="en-GB" dirty="0"/>
              <a:t>The monthly relevance value, 𝑟𝑒𝑙 −𝑛𝑜𝑖𝑠𝑒𝑚, is calculated according to the following formula:</a:t>
            </a:r>
          </a:p>
          <a:p>
            <a:pPr marL="0" indent="0">
              <a:buNone/>
            </a:pPr>
            <a:r>
              <a:rPr lang="en-GB" dirty="0"/>
              <a:t>	𝑟𝑒𝑙 − 𝑛𝑜𝑖𝑠𝑒𝑚 = (𝑅𝑒𝑙𝑒𝑣𝑎𝑛𝑡𝑚/𝑁𝑚) − (𝑁𝑜𝑖𝑠𝑒𝑚/𝑁𝑚)</a:t>
            </a:r>
          </a:p>
          <a:p>
            <a:r>
              <a:rPr lang="en-GB" dirty="0"/>
              <a:t>The resulting values range between -1 (indicating only noise articles) and 1 (indicating only relevant articles). Thus, for each company,</a:t>
            </a:r>
          </a:p>
          <a:p>
            <a:r>
              <a:rPr lang="en-GB" dirty="0"/>
              <a:t>the </a:t>
            </a:r>
            <a:r>
              <a:rPr lang="en-GB" b="1" dirty="0"/>
              <a:t>Article2ESG</a:t>
            </a:r>
            <a:r>
              <a:rPr lang="en-GB" dirty="0"/>
              <a:t> Relevance time series comprises 12 𝑟𝑒𝑙−𝑛𝑜𝑖𝑠𝑒𝑚 values, one for each month of the </a:t>
            </a:r>
            <a:r>
              <a:rPr lang="en-GB" dirty="0" err="1"/>
              <a:t>analyzed</a:t>
            </a:r>
            <a:r>
              <a:rPr lang="en-GB" dirty="0"/>
              <a:t> year.</a:t>
            </a:r>
          </a:p>
        </p:txBody>
      </p:sp>
    </p:spTree>
    <p:extLst>
      <p:ext uri="{BB962C8B-B14F-4D97-AF65-F5344CB8AC3E}">
        <p14:creationId xmlns:p14="http://schemas.microsoft.com/office/powerpoint/2010/main" val="383681030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697A55-3A06-44DB-52E6-0C8672061035}"/>
              </a:ext>
            </a:extLst>
          </p:cNvPr>
          <p:cNvSpPr>
            <a:spLocks noGrp="1"/>
          </p:cNvSpPr>
          <p:nvPr>
            <p:ph type="title"/>
          </p:nvPr>
        </p:nvSpPr>
        <p:spPr/>
        <p:txBody>
          <a:bodyPr>
            <a:normAutofit fontScale="90000"/>
          </a:bodyPr>
          <a:lstStyle/>
          <a:p>
            <a:r>
              <a:rPr lang="en-GB" dirty="0">
                <a:solidFill>
                  <a:schemeClr val="tx1"/>
                </a:solidFill>
              </a:rPr>
              <a:t>Step 5 . Perform </a:t>
            </a:r>
            <a:r>
              <a:rPr lang="en-GB" b="1" dirty="0">
                <a:solidFill>
                  <a:schemeClr val="tx1"/>
                </a:solidFill>
              </a:rPr>
              <a:t>Sentiment Analysis </a:t>
            </a:r>
            <a:r>
              <a:rPr lang="en-GB" dirty="0">
                <a:solidFill>
                  <a:schemeClr val="tx1"/>
                </a:solidFill>
              </a:rPr>
              <a:t>to relevant articles to crate </a:t>
            </a:r>
            <a:r>
              <a:rPr lang="en-GB" b="1" dirty="0">
                <a:solidFill>
                  <a:schemeClr val="tx1"/>
                </a:solidFill>
              </a:rPr>
              <a:t>sentiment scores</a:t>
            </a:r>
            <a:r>
              <a:rPr lang="en-GB" dirty="0">
                <a:solidFill>
                  <a:schemeClr val="tx1"/>
                </a:solidFill>
              </a:rPr>
              <a:t>.</a:t>
            </a:r>
          </a:p>
        </p:txBody>
      </p:sp>
      <p:sp>
        <p:nvSpPr>
          <p:cNvPr id="3" name="Content Placeholder 2">
            <a:extLst>
              <a:ext uri="{FF2B5EF4-FFF2-40B4-BE49-F238E27FC236}">
                <a16:creationId xmlns:a16="http://schemas.microsoft.com/office/drawing/2014/main" id="{5EB442C2-BFD7-63A0-D5F6-D282B2BCC2F1}"/>
              </a:ext>
            </a:extLst>
          </p:cNvPr>
          <p:cNvSpPr>
            <a:spLocks noGrp="1"/>
          </p:cNvSpPr>
          <p:nvPr>
            <p:ph idx="1"/>
          </p:nvPr>
        </p:nvSpPr>
        <p:spPr/>
        <p:txBody>
          <a:bodyPr>
            <a:normAutofit/>
          </a:bodyPr>
          <a:lstStyle/>
          <a:p>
            <a:r>
              <a:rPr lang="en-GB" dirty="0"/>
              <a:t>To compute the sentiment time </a:t>
            </a:r>
            <a:r>
              <a:rPr lang="en-GB" dirty="0" err="1"/>
              <a:t>series,grouped</a:t>
            </a:r>
            <a:r>
              <a:rPr lang="en-GB" dirty="0"/>
              <a:t> articles by company and month and calculate a monthly sentiment ratio using the employ the </a:t>
            </a:r>
            <a:r>
              <a:rPr lang="en-GB" b="1" dirty="0" err="1"/>
              <a:t>SieBERT</a:t>
            </a:r>
            <a:r>
              <a:rPr lang="en-GB" dirty="0"/>
              <a:t> model</a:t>
            </a:r>
          </a:p>
          <a:p>
            <a:r>
              <a:rPr lang="en-GB" dirty="0"/>
              <a:t>model’s output labels are used to generate a monthly article sentiment time-series for each company, calculated separately for ESG-relevant and irrelevant articles.</a:t>
            </a:r>
          </a:p>
          <a:p>
            <a:pPr marL="0" indent="0">
              <a:buNone/>
            </a:pPr>
            <a:r>
              <a:rPr lang="en-GB" dirty="0"/>
              <a:t>𝑝𝑜𝑠 − 𝑛𝑒𝑔𝑚 = (𝑃𝑜𝑠𝑖𝑡𝑖𝑣𝑒𝑚/𝑁𝑚) − (𝑁𝑒𝑔𝑎𝑡𝑖𝑣𝑒𝑚/𝑁𝑚)</a:t>
            </a:r>
          </a:p>
          <a:p>
            <a:r>
              <a:rPr lang="en-GB" dirty="0"/>
              <a:t>The final Article Sentiment time series is constructed by concatenating these monthly values, resulting in a time series of 12 sentiment values per company for the </a:t>
            </a:r>
            <a:r>
              <a:rPr lang="en-GB" dirty="0" err="1"/>
              <a:t>analyzed</a:t>
            </a:r>
            <a:r>
              <a:rPr lang="en-GB" dirty="0"/>
              <a:t> year.</a:t>
            </a:r>
          </a:p>
        </p:txBody>
      </p:sp>
    </p:spTree>
    <p:extLst>
      <p:ext uri="{BB962C8B-B14F-4D97-AF65-F5344CB8AC3E}">
        <p14:creationId xmlns:p14="http://schemas.microsoft.com/office/powerpoint/2010/main" val="213359521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7ED479-708E-6B2B-8CC9-2C8741D37558}"/>
              </a:ext>
            </a:extLst>
          </p:cNvPr>
          <p:cNvSpPr>
            <a:spLocks noGrp="1"/>
          </p:cNvSpPr>
          <p:nvPr>
            <p:ph type="title"/>
          </p:nvPr>
        </p:nvSpPr>
        <p:spPr>
          <a:xfrm>
            <a:off x="406400" y="541866"/>
            <a:ext cx="10947400" cy="1325563"/>
          </a:xfrm>
        </p:spPr>
        <p:txBody>
          <a:bodyPr>
            <a:normAutofit fontScale="90000"/>
          </a:bodyPr>
          <a:lstStyle/>
          <a:p>
            <a:r>
              <a:rPr lang="en-GB" dirty="0">
                <a:solidFill>
                  <a:schemeClr val="tx1"/>
                </a:solidFill>
              </a:rPr>
              <a:t>Step 6. </a:t>
            </a:r>
            <a:r>
              <a:rPr lang="en-GB" b="1" dirty="0">
                <a:solidFill>
                  <a:schemeClr val="tx1"/>
                </a:solidFill>
              </a:rPr>
              <a:t>Semantic Analysis </a:t>
            </a:r>
            <a:r>
              <a:rPr lang="en-GB" dirty="0">
                <a:solidFill>
                  <a:schemeClr val="tx1"/>
                </a:solidFill>
              </a:rPr>
              <a:t>(what the articles are about) – each article becomes a semantic vector representations</a:t>
            </a:r>
          </a:p>
        </p:txBody>
      </p:sp>
      <p:sp>
        <p:nvSpPr>
          <p:cNvPr id="3" name="Content Placeholder 2">
            <a:extLst>
              <a:ext uri="{FF2B5EF4-FFF2-40B4-BE49-F238E27FC236}">
                <a16:creationId xmlns:a16="http://schemas.microsoft.com/office/drawing/2014/main" id="{095CC4E2-234F-500B-A2D2-4A4B1E6306DF}"/>
              </a:ext>
            </a:extLst>
          </p:cNvPr>
          <p:cNvSpPr>
            <a:spLocks noGrp="1"/>
          </p:cNvSpPr>
          <p:nvPr>
            <p:ph idx="1"/>
          </p:nvPr>
        </p:nvSpPr>
        <p:spPr>
          <a:xfrm>
            <a:off x="622300" y="2475970"/>
            <a:ext cx="10947400" cy="2756430"/>
          </a:xfrm>
        </p:spPr>
        <p:txBody>
          <a:bodyPr>
            <a:noAutofit/>
          </a:bodyPr>
          <a:lstStyle/>
          <a:p>
            <a:r>
              <a:rPr lang="en-GB" sz="2400" dirty="0"/>
              <a:t>Vectorise each article using </a:t>
            </a:r>
            <a:r>
              <a:rPr lang="en-GB" sz="2400" b="1" dirty="0" err="1"/>
              <a:t>DistilBERT</a:t>
            </a:r>
            <a:r>
              <a:rPr lang="en-GB" sz="2400" b="1" dirty="0"/>
              <a:t>  &gt;</a:t>
            </a:r>
            <a:r>
              <a:rPr lang="en-GB" sz="2400" dirty="0"/>
              <a:t>These embeddings serve as input for the k-means clustering algorithm</a:t>
            </a:r>
            <a:endParaRPr lang="en-GB" sz="2400" b="1" dirty="0"/>
          </a:p>
          <a:p>
            <a:r>
              <a:rPr lang="en-GB" sz="2400" dirty="0"/>
              <a:t>Cluster the articles by content, using k-means </a:t>
            </a:r>
          </a:p>
          <a:p>
            <a:r>
              <a:rPr lang="en-GB" sz="2400" dirty="0"/>
              <a:t>enabling us to track the evolution of key ESG-related topics discussed in the news over time</a:t>
            </a:r>
          </a:p>
          <a:p>
            <a:r>
              <a:rPr lang="en-GB" sz="2400" dirty="0"/>
              <a:t>fine-tuning the </a:t>
            </a:r>
            <a:r>
              <a:rPr lang="en-GB" sz="2400" dirty="0" err="1"/>
              <a:t>DistilBERT</a:t>
            </a:r>
            <a:r>
              <a:rPr lang="en-GB" sz="2400" dirty="0"/>
              <a:t> model for the task of ESG classification to create task-specific embeddings for the articles. </a:t>
            </a:r>
          </a:p>
        </p:txBody>
      </p:sp>
    </p:spTree>
    <p:extLst>
      <p:ext uri="{BB962C8B-B14F-4D97-AF65-F5344CB8AC3E}">
        <p14:creationId xmlns:p14="http://schemas.microsoft.com/office/powerpoint/2010/main" val="216872559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5F866E-0F0D-A82D-145B-14048CFD05A5}"/>
              </a:ext>
            </a:extLst>
          </p:cNvPr>
          <p:cNvSpPr>
            <a:spLocks noGrp="1"/>
          </p:cNvSpPr>
          <p:nvPr>
            <p:ph type="title"/>
          </p:nvPr>
        </p:nvSpPr>
        <p:spPr/>
        <p:txBody>
          <a:bodyPr/>
          <a:lstStyle/>
          <a:p>
            <a:r>
              <a:rPr lang="en-GB" dirty="0">
                <a:solidFill>
                  <a:schemeClr val="tx1"/>
                </a:solidFill>
              </a:rPr>
              <a:t>Step 7 . Cluster articles into ESG topics</a:t>
            </a:r>
          </a:p>
        </p:txBody>
      </p:sp>
      <p:sp>
        <p:nvSpPr>
          <p:cNvPr id="3" name="Content Placeholder 2">
            <a:extLst>
              <a:ext uri="{FF2B5EF4-FFF2-40B4-BE49-F238E27FC236}">
                <a16:creationId xmlns:a16="http://schemas.microsoft.com/office/drawing/2014/main" id="{B6B2CD69-0F86-AEB8-38CB-8F10D5BC1342}"/>
              </a:ext>
            </a:extLst>
          </p:cNvPr>
          <p:cNvSpPr>
            <a:spLocks noGrp="1"/>
          </p:cNvSpPr>
          <p:nvPr>
            <p:ph idx="1"/>
          </p:nvPr>
        </p:nvSpPr>
        <p:spPr/>
        <p:txBody>
          <a:bodyPr>
            <a:normAutofit/>
          </a:bodyPr>
          <a:lstStyle/>
          <a:p>
            <a:r>
              <a:rPr lang="en-GB" dirty="0"/>
              <a:t>The results of this semantic analysis are integrated into the final ESG rating prediction model as time series data, with each time series corresponding to one of the six clusters. (k=6 –used elbow method)</a:t>
            </a:r>
          </a:p>
          <a:p>
            <a:r>
              <a:rPr lang="en-GB" dirty="0"/>
              <a:t>articles are grouped by cluster to identify the total set of articles within each cluster. Then, within each cluster, articles are grouped by company to quantify the overall topic representation for each company.</a:t>
            </a:r>
          </a:p>
          <a:p>
            <a:r>
              <a:rPr lang="en-GB" dirty="0"/>
              <a:t>The resulting 12 monthly values per company and cluster are concatenated, producing 6 semantic time series for each company. These time series capture the monthly prominence of each topic cluster, showing how dominant specific ESG topics are for each company over time.</a:t>
            </a:r>
          </a:p>
          <a:p>
            <a:endParaRPr lang="en-GB" dirty="0"/>
          </a:p>
        </p:txBody>
      </p:sp>
    </p:spTree>
    <p:extLst>
      <p:ext uri="{BB962C8B-B14F-4D97-AF65-F5344CB8AC3E}">
        <p14:creationId xmlns:p14="http://schemas.microsoft.com/office/powerpoint/2010/main" val="59185233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18E0D9-E62F-8A24-2EDC-03EF53483007}"/>
              </a:ext>
            </a:extLst>
          </p:cNvPr>
          <p:cNvSpPr>
            <a:spLocks noGrp="1"/>
          </p:cNvSpPr>
          <p:nvPr>
            <p:ph type="title"/>
          </p:nvPr>
        </p:nvSpPr>
        <p:spPr/>
        <p:txBody>
          <a:bodyPr>
            <a:normAutofit/>
          </a:bodyPr>
          <a:lstStyle/>
          <a:p>
            <a:r>
              <a:rPr lang="en-GB" dirty="0">
                <a:solidFill>
                  <a:schemeClr val="tx1"/>
                </a:solidFill>
              </a:rPr>
              <a:t>Step 8. Create the multi variate time series feature sets</a:t>
            </a:r>
          </a:p>
        </p:txBody>
      </p:sp>
      <p:sp>
        <p:nvSpPr>
          <p:cNvPr id="3" name="Content Placeholder 2">
            <a:extLst>
              <a:ext uri="{FF2B5EF4-FFF2-40B4-BE49-F238E27FC236}">
                <a16:creationId xmlns:a16="http://schemas.microsoft.com/office/drawing/2014/main" id="{62A7F908-8A20-D150-7E6D-C83930E9480D}"/>
              </a:ext>
            </a:extLst>
          </p:cNvPr>
          <p:cNvSpPr>
            <a:spLocks noGrp="1"/>
          </p:cNvSpPr>
          <p:nvPr>
            <p:ph idx="1"/>
          </p:nvPr>
        </p:nvSpPr>
        <p:spPr/>
        <p:txBody>
          <a:bodyPr>
            <a:normAutofit/>
          </a:bodyPr>
          <a:lstStyle/>
          <a:p>
            <a:r>
              <a:rPr lang="en-GB" dirty="0"/>
              <a:t>Aggregate the article </a:t>
            </a:r>
            <a:r>
              <a:rPr lang="en-GB" dirty="0" err="1"/>
              <a:t>conts</a:t>
            </a:r>
            <a:r>
              <a:rPr lang="en-GB" dirty="0"/>
              <a:t> and sentiment per cluster, per company per month</a:t>
            </a:r>
          </a:p>
          <a:p>
            <a:r>
              <a:rPr lang="en-GB" dirty="0"/>
              <a:t>Creating multiple time series features for each firm</a:t>
            </a:r>
          </a:p>
          <a:p>
            <a:r>
              <a:rPr lang="en-GB" dirty="0"/>
              <a:t>Combined </a:t>
            </a:r>
          </a:p>
          <a:p>
            <a:pPr lvl="1"/>
            <a:r>
              <a:rPr lang="en-GB" dirty="0"/>
              <a:t>1 relevance time series</a:t>
            </a:r>
          </a:p>
          <a:p>
            <a:pPr lvl="1"/>
            <a:r>
              <a:rPr lang="en-GB" dirty="0"/>
              <a:t>2 sentiment time series (positive or negative)</a:t>
            </a:r>
          </a:p>
          <a:p>
            <a:pPr lvl="1"/>
            <a:r>
              <a:rPr lang="en-GB" dirty="0"/>
              <a:t>6 semantic time series from k-means clustering</a:t>
            </a:r>
          </a:p>
          <a:p>
            <a:pPr lvl="1"/>
            <a:r>
              <a:rPr lang="en-GB" dirty="0"/>
              <a:t>= 9x12 matrix</a:t>
            </a:r>
          </a:p>
          <a:p>
            <a:r>
              <a:rPr lang="en-GB" dirty="0"/>
              <a:t>Before feeding the data into the model, we standardize the time series using standard scaling (i.e. subtracting the mean and dividing by the standard deviation).</a:t>
            </a:r>
          </a:p>
          <a:p>
            <a:endParaRPr lang="en-GB" dirty="0"/>
          </a:p>
        </p:txBody>
      </p:sp>
    </p:spTree>
    <p:extLst>
      <p:ext uri="{BB962C8B-B14F-4D97-AF65-F5344CB8AC3E}">
        <p14:creationId xmlns:p14="http://schemas.microsoft.com/office/powerpoint/2010/main" val="74767182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55BB4D9-1CDA-9297-6746-5276C16DD77F}"/>
              </a:ext>
            </a:extLst>
          </p:cNvPr>
          <p:cNvSpPr>
            <a:spLocks noGrp="1"/>
          </p:cNvSpPr>
          <p:nvPr>
            <p:ph type="title"/>
          </p:nvPr>
        </p:nvSpPr>
        <p:spPr>
          <a:xfrm>
            <a:off x="592667" y="62970"/>
            <a:ext cx="10515600" cy="1325563"/>
          </a:xfrm>
        </p:spPr>
        <p:txBody>
          <a:bodyPr/>
          <a:lstStyle/>
          <a:p>
            <a:r>
              <a:rPr lang="en-GB" dirty="0">
                <a:solidFill>
                  <a:schemeClr val="tx1"/>
                </a:solidFill>
              </a:rPr>
              <a:t>Step 9. Train the deep learning models to generate ESG ratings on the time series data</a:t>
            </a:r>
          </a:p>
        </p:txBody>
      </p:sp>
      <p:sp>
        <p:nvSpPr>
          <p:cNvPr id="3" name="Content Placeholder 2">
            <a:extLst>
              <a:ext uri="{FF2B5EF4-FFF2-40B4-BE49-F238E27FC236}">
                <a16:creationId xmlns:a16="http://schemas.microsoft.com/office/drawing/2014/main" id="{113E3136-1EE8-0E51-6A25-D0565246BC37}"/>
              </a:ext>
            </a:extLst>
          </p:cNvPr>
          <p:cNvSpPr>
            <a:spLocks noGrp="1"/>
          </p:cNvSpPr>
          <p:nvPr>
            <p:ph idx="1"/>
          </p:nvPr>
        </p:nvSpPr>
        <p:spPr>
          <a:xfrm>
            <a:off x="192506" y="1275348"/>
            <a:ext cx="11742820" cy="5519682"/>
          </a:xfrm>
        </p:spPr>
        <p:txBody>
          <a:bodyPr>
            <a:normAutofit/>
          </a:bodyPr>
          <a:lstStyle/>
          <a:p>
            <a:r>
              <a:rPr lang="en-GB" dirty="0"/>
              <a:t>Used </a:t>
            </a:r>
            <a:r>
              <a:rPr lang="en-GB" b="1" dirty="0"/>
              <a:t>four </a:t>
            </a:r>
            <a:r>
              <a:rPr lang="en-GB" dirty="0"/>
              <a:t>models for generating ESG ratings based on the prepared time series data: </a:t>
            </a:r>
          </a:p>
          <a:p>
            <a:pPr lvl="1"/>
            <a:r>
              <a:rPr lang="en-GB" dirty="0"/>
              <a:t> CNN-based approaches x2 </a:t>
            </a:r>
          </a:p>
          <a:p>
            <a:pPr lvl="2"/>
            <a:r>
              <a:rPr lang="en-GB" dirty="0"/>
              <a:t>Basic CNN – </a:t>
            </a:r>
          </a:p>
          <a:p>
            <a:pPr lvl="3"/>
            <a:r>
              <a:rPr lang="en-GB" sz="1400" dirty="0"/>
              <a:t>The nine constructed input time series for each of the 12 months—specifically, the Article2ESG Relevance, Article Sentiment (2 time series), and Article Semantic time series (one for each of the 6 clusters)—form the model input as a (9 x 12) matrix.</a:t>
            </a:r>
          </a:p>
          <a:p>
            <a:pPr lvl="3"/>
            <a:r>
              <a:rPr lang="en-GB" sz="1400" dirty="0"/>
              <a:t>Uses 1D convolutional layer /  1D max pooling / </a:t>
            </a:r>
            <a:r>
              <a:rPr lang="en-GB" sz="1400" dirty="0" err="1"/>
              <a:t>ReLu</a:t>
            </a:r>
            <a:r>
              <a:rPr lang="en-GB" sz="1400" dirty="0"/>
              <a:t> and </a:t>
            </a:r>
            <a:r>
              <a:rPr lang="en-GB" sz="1400" dirty="0" err="1"/>
              <a:t>softmax</a:t>
            </a:r>
            <a:r>
              <a:rPr lang="en-GB" sz="1400" dirty="0"/>
              <a:t> function probability of each class  )</a:t>
            </a:r>
          </a:p>
          <a:p>
            <a:pPr lvl="2"/>
            <a:r>
              <a:rPr lang="en-GB" dirty="0"/>
              <a:t>Deeper model</a:t>
            </a:r>
          </a:p>
          <a:p>
            <a:pPr lvl="3"/>
            <a:r>
              <a:rPr lang="en-GB" sz="1400" dirty="0"/>
              <a:t>A convolution layer / batch normalization layer / a </a:t>
            </a:r>
            <a:r>
              <a:rPr lang="en-GB" sz="1400" dirty="0" err="1"/>
              <a:t>ReLU</a:t>
            </a:r>
            <a:r>
              <a:rPr lang="en-GB" sz="1400" dirty="0"/>
              <a:t> activation / global max pooling</a:t>
            </a:r>
          </a:p>
          <a:p>
            <a:pPr lvl="1"/>
            <a:r>
              <a:rPr lang="en-GB" dirty="0"/>
              <a:t>Transformer-based approaches x2 </a:t>
            </a:r>
          </a:p>
          <a:p>
            <a:pPr lvl="2"/>
            <a:r>
              <a:rPr lang="en-GB" dirty="0"/>
              <a:t>a basic model integrating CNN with </a:t>
            </a:r>
          </a:p>
          <a:p>
            <a:pPr lvl="3"/>
            <a:r>
              <a:rPr lang="en-GB" sz="1400" dirty="0"/>
              <a:t>a) </a:t>
            </a:r>
            <a:r>
              <a:rPr lang="en-GB" sz="1400" b="1" u="sng" dirty="0"/>
              <a:t>single Transformer layer, </a:t>
            </a:r>
            <a:r>
              <a:rPr lang="en-GB" sz="1400" dirty="0"/>
              <a:t>and </a:t>
            </a:r>
          </a:p>
          <a:p>
            <a:pPr lvl="3"/>
            <a:r>
              <a:rPr lang="en-GB" sz="1400" dirty="0"/>
              <a:t>b) a deeper model that combines CNN with a </a:t>
            </a:r>
            <a:r>
              <a:rPr lang="en-GB" sz="1400" b="1" u="sng" dirty="0"/>
              <a:t>multi-layer Transformer encoder.</a:t>
            </a:r>
          </a:p>
          <a:p>
            <a:r>
              <a:rPr lang="en-GB" dirty="0"/>
              <a:t>Regression and Classification configurations used</a:t>
            </a:r>
          </a:p>
          <a:p>
            <a:r>
              <a:rPr lang="en-GB" dirty="0"/>
              <a:t>Uses Deep Learning methodologies 1D convolution, time –series dimension, </a:t>
            </a:r>
            <a:r>
              <a:rPr lang="en-GB" dirty="0" err="1"/>
              <a:t>ReLU</a:t>
            </a:r>
            <a:r>
              <a:rPr lang="en-GB" dirty="0"/>
              <a:t> to introduce non-linearity and </a:t>
            </a:r>
            <a:r>
              <a:rPr lang="en-GB" dirty="0" err="1"/>
              <a:t>softmax</a:t>
            </a:r>
            <a:r>
              <a:rPr lang="en-GB" dirty="0"/>
              <a:t> to convert outputs into probabilities</a:t>
            </a:r>
          </a:p>
          <a:p>
            <a:endParaRPr lang="en-GB" dirty="0"/>
          </a:p>
          <a:p>
            <a:endParaRPr lang="en-GB" dirty="0"/>
          </a:p>
        </p:txBody>
      </p:sp>
    </p:spTree>
    <p:extLst>
      <p:ext uri="{BB962C8B-B14F-4D97-AF65-F5344CB8AC3E}">
        <p14:creationId xmlns:p14="http://schemas.microsoft.com/office/powerpoint/2010/main" val="331103669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8BD322-F179-BE5A-961A-0DDDD454E1E2}"/>
              </a:ext>
            </a:extLst>
          </p:cNvPr>
          <p:cNvSpPr>
            <a:spLocks noGrp="1"/>
          </p:cNvSpPr>
          <p:nvPr>
            <p:ph type="title"/>
          </p:nvPr>
        </p:nvSpPr>
        <p:spPr>
          <a:xfrm>
            <a:off x="495299" y="280459"/>
            <a:ext cx="11201401" cy="1325563"/>
          </a:xfrm>
        </p:spPr>
        <p:txBody>
          <a:bodyPr/>
          <a:lstStyle/>
          <a:p>
            <a:r>
              <a:rPr lang="en-GB" dirty="0">
                <a:solidFill>
                  <a:schemeClr val="tx1"/>
                </a:solidFill>
              </a:rPr>
              <a:t>Step 9. CNN - basic convolutional neural network (CNN)</a:t>
            </a:r>
          </a:p>
        </p:txBody>
      </p:sp>
      <p:pic>
        <p:nvPicPr>
          <p:cNvPr id="5" name="Content Placeholder 4">
            <a:extLst>
              <a:ext uri="{FF2B5EF4-FFF2-40B4-BE49-F238E27FC236}">
                <a16:creationId xmlns:a16="http://schemas.microsoft.com/office/drawing/2014/main" id="{FB70DFA3-6EEE-BFBD-6AE2-3ABA0C6A2283}"/>
              </a:ext>
            </a:extLst>
          </p:cNvPr>
          <p:cNvPicPr>
            <a:picLocks noGrp="1" noChangeAspect="1"/>
          </p:cNvPicPr>
          <p:nvPr>
            <p:ph idx="1"/>
          </p:nvPr>
        </p:nvPicPr>
        <p:blipFill>
          <a:blip r:embed="rId2"/>
          <a:stretch>
            <a:fillRect/>
          </a:stretch>
        </p:blipFill>
        <p:spPr>
          <a:xfrm>
            <a:off x="293584" y="1606022"/>
            <a:ext cx="9524185" cy="3879992"/>
          </a:xfrm>
          <a:prstGeom prst="rect">
            <a:avLst/>
          </a:prstGeom>
        </p:spPr>
      </p:pic>
    </p:spTree>
    <p:extLst>
      <p:ext uri="{BB962C8B-B14F-4D97-AF65-F5344CB8AC3E}">
        <p14:creationId xmlns:p14="http://schemas.microsoft.com/office/powerpoint/2010/main" val="329612469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32D534-AE11-B0A5-B704-1EDC5EB389F7}"/>
              </a:ext>
            </a:extLst>
          </p:cNvPr>
          <p:cNvSpPr>
            <a:spLocks noGrp="1"/>
          </p:cNvSpPr>
          <p:nvPr>
            <p:ph type="title"/>
          </p:nvPr>
        </p:nvSpPr>
        <p:spPr/>
        <p:txBody>
          <a:bodyPr/>
          <a:lstStyle/>
          <a:p>
            <a:r>
              <a:rPr lang="en-GB" dirty="0">
                <a:solidFill>
                  <a:schemeClr val="tx1"/>
                </a:solidFill>
              </a:rPr>
              <a:t>Step 9. CNN – Deeper Neural Network model</a:t>
            </a:r>
          </a:p>
        </p:txBody>
      </p:sp>
      <p:pic>
        <p:nvPicPr>
          <p:cNvPr id="5" name="Content Placeholder 4">
            <a:extLst>
              <a:ext uri="{FF2B5EF4-FFF2-40B4-BE49-F238E27FC236}">
                <a16:creationId xmlns:a16="http://schemas.microsoft.com/office/drawing/2014/main" id="{92CF5AA8-90E3-FAD9-D735-98311486796C}"/>
              </a:ext>
            </a:extLst>
          </p:cNvPr>
          <p:cNvPicPr>
            <a:picLocks noGrp="1" noChangeAspect="1"/>
          </p:cNvPicPr>
          <p:nvPr>
            <p:ph idx="1"/>
          </p:nvPr>
        </p:nvPicPr>
        <p:blipFill>
          <a:blip r:embed="rId2"/>
          <a:stretch>
            <a:fillRect/>
          </a:stretch>
        </p:blipFill>
        <p:spPr>
          <a:xfrm>
            <a:off x="221767" y="2298032"/>
            <a:ext cx="10361050" cy="3200400"/>
          </a:xfrm>
          <a:prstGeom prst="rect">
            <a:avLst/>
          </a:prstGeom>
        </p:spPr>
      </p:pic>
    </p:spTree>
    <p:extLst>
      <p:ext uri="{BB962C8B-B14F-4D97-AF65-F5344CB8AC3E}">
        <p14:creationId xmlns:p14="http://schemas.microsoft.com/office/powerpoint/2010/main" val="76662648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1FEB3C-86F8-B90C-D394-1D2CAE0F3726}"/>
              </a:ext>
            </a:extLst>
          </p:cNvPr>
          <p:cNvSpPr>
            <a:spLocks noGrp="1"/>
          </p:cNvSpPr>
          <p:nvPr>
            <p:ph type="title"/>
          </p:nvPr>
        </p:nvSpPr>
        <p:spPr/>
        <p:txBody>
          <a:bodyPr/>
          <a:lstStyle/>
          <a:p>
            <a:r>
              <a:rPr lang="en-GB" dirty="0">
                <a:solidFill>
                  <a:schemeClr val="tx1"/>
                </a:solidFill>
              </a:rPr>
              <a:t>Step 9. CNN + Transformer Model</a:t>
            </a:r>
          </a:p>
        </p:txBody>
      </p:sp>
      <p:pic>
        <p:nvPicPr>
          <p:cNvPr id="5" name="Content Placeholder 4">
            <a:extLst>
              <a:ext uri="{FF2B5EF4-FFF2-40B4-BE49-F238E27FC236}">
                <a16:creationId xmlns:a16="http://schemas.microsoft.com/office/drawing/2014/main" id="{59AE03FA-A3C2-9DC8-007D-94E9C1D6E734}"/>
              </a:ext>
            </a:extLst>
          </p:cNvPr>
          <p:cNvPicPr>
            <a:picLocks noGrp="1" noChangeAspect="1"/>
          </p:cNvPicPr>
          <p:nvPr>
            <p:ph idx="1"/>
          </p:nvPr>
        </p:nvPicPr>
        <p:blipFill>
          <a:blip r:embed="rId2"/>
          <a:stretch>
            <a:fillRect/>
          </a:stretch>
        </p:blipFill>
        <p:spPr>
          <a:xfrm>
            <a:off x="156280" y="2184400"/>
            <a:ext cx="11680497" cy="3572933"/>
          </a:xfrm>
          <a:prstGeom prst="rect">
            <a:avLst/>
          </a:prstGeom>
        </p:spPr>
      </p:pic>
    </p:spTree>
    <p:extLst>
      <p:ext uri="{BB962C8B-B14F-4D97-AF65-F5344CB8AC3E}">
        <p14:creationId xmlns:p14="http://schemas.microsoft.com/office/powerpoint/2010/main" val="321001171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40429A-41EA-EBCC-FA63-F8D499C3455D}"/>
              </a:ext>
            </a:extLst>
          </p:cNvPr>
          <p:cNvSpPr>
            <a:spLocks noGrp="1"/>
          </p:cNvSpPr>
          <p:nvPr>
            <p:ph type="title"/>
          </p:nvPr>
        </p:nvSpPr>
        <p:spPr/>
        <p:txBody>
          <a:bodyPr/>
          <a:lstStyle/>
          <a:p>
            <a:r>
              <a:rPr lang="en-GB" dirty="0">
                <a:solidFill>
                  <a:schemeClr val="tx1"/>
                </a:solidFill>
              </a:rPr>
              <a:t>Step 10. Evaluation of ESG Rating</a:t>
            </a:r>
          </a:p>
        </p:txBody>
      </p:sp>
      <p:sp>
        <p:nvSpPr>
          <p:cNvPr id="3" name="Content Placeholder 2">
            <a:extLst>
              <a:ext uri="{FF2B5EF4-FFF2-40B4-BE49-F238E27FC236}">
                <a16:creationId xmlns:a16="http://schemas.microsoft.com/office/drawing/2014/main" id="{011FE01C-DC4E-698B-5075-480DDFDAFB3B}"/>
              </a:ext>
            </a:extLst>
          </p:cNvPr>
          <p:cNvSpPr>
            <a:spLocks noGrp="1"/>
          </p:cNvSpPr>
          <p:nvPr>
            <p:ph idx="1"/>
          </p:nvPr>
        </p:nvSpPr>
        <p:spPr/>
        <p:txBody>
          <a:bodyPr>
            <a:normAutofit/>
          </a:bodyPr>
          <a:lstStyle/>
          <a:p>
            <a:r>
              <a:rPr lang="en-GB" dirty="0"/>
              <a:t>Values outcome from models </a:t>
            </a:r>
          </a:p>
          <a:p>
            <a:pPr lvl="1"/>
            <a:r>
              <a:rPr lang="en-GB" b="1" dirty="0"/>
              <a:t>Classification</a:t>
            </a:r>
          </a:p>
          <a:p>
            <a:pPr lvl="2"/>
            <a:r>
              <a:rPr lang="en-GB" b="1" u="sng" dirty="0"/>
              <a:t>Accuracy </a:t>
            </a:r>
            <a:r>
              <a:rPr lang="en-GB" dirty="0"/>
              <a:t>= probability accuracy</a:t>
            </a:r>
          </a:p>
          <a:p>
            <a:pPr lvl="1"/>
            <a:r>
              <a:rPr lang="en-GB" b="1" dirty="0"/>
              <a:t>Regression</a:t>
            </a:r>
          </a:p>
          <a:p>
            <a:pPr lvl="2"/>
            <a:r>
              <a:rPr lang="en-GB" b="1" u="sng" dirty="0"/>
              <a:t>Mean Absolute Percentage Error (MAPE) </a:t>
            </a:r>
            <a:r>
              <a:rPr lang="en-GB" dirty="0"/>
              <a:t>= </a:t>
            </a:r>
            <a:r>
              <a:rPr lang="en-GB" dirty="0" err="1"/>
              <a:t>avg</a:t>
            </a:r>
            <a:r>
              <a:rPr lang="en-GB" dirty="0"/>
              <a:t> % deviation between predicted and actual ESG scores, from regression configuration</a:t>
            </a:r>
          </a:p>
          <a:p>
            <a:pPr lvl="2"/>
            <a:r>
              <a:rPr lang="en-GB" b="1" u="sng" dirty="0"/>
              <a:t>Mean Squared Error (MSE) </a:t>
            </a:r>
            <a:r>
              <a:rPr lang="en-GB" dirty="0"/>
              <a:t>= average squared error, from regression</a:t>
            </a:r>
          </a:p>
        </p:txBody>
      </p:sp>
    </p:spTree>
    <p:extLst>
      <p:ext uri="{BB962C8B-B14F-4D97-AF65-F5344CB8AC3E}">
        <p14:creationId xmlns:p14="http://schemas.microsoft.com/office/powerpoint/2010/main" val="250381774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801422-83F9-4E9A-6B8B-DD9C66EE942B}"/>
              </a:ext>
            </a:extLst>
          </p:cNvPr>
          <p:cNvSpPr>
            <a:spLocks noGrp="1"/>
          </p:cNvSpPr>
          <p:nvPr>
            <p:ph type="title"/>
          </p:nvPr>
        </p:nvSpPr>
        <p:spPr>
          <a:xfrm>
            <a:off x="144379" y="108346"/>
            <a:ext cx="10302240" cy="488315"/>
          </a:xfrm>
        </p:spPr>
        <p:txBody>
          <a:bodyPr>
            <a:normAutofit fontScale="90000"/>
          </a:bodyPr>
          <a:lstStyle/>
          <a:p>
            <a:r>
              <a:rPr lang="en-GB" dirty="0">
                <a:solidFill>
                  <a:schemeClr val="tx1"/>
                </a:solidFill>
              </a:rPr>
              <a:t>Model results for 2020 </a:t>
            </a:r>
            <a:r>
              <a:rPr lang="en-GB" sz="2200" dirty="0">
                <a:solidFill>
                  <a:schemeClr val="tx1"/>
                </a:solidFill>
              </a:rPr>
              <a:t>–  (only displaying 2020 results)</a:t>
            </a:r>
          </a:p>
        </p:txBody>
      </p:sp>
      <p:graphicFrame>
        <p:nvGraphicFramePr>
          <p:cNvPr id="4" name="Content Placeholder 3">
            <a:extLst>
              <a:ext uri="{FF2B5EF4-FFF2-40B4-BE49-F238E27FC236}">
                <a16:creationId xmlns:a16="http://schemas.microsoft.com/office/drawing/2014/main" id="{3165EF3F-BCA9-2241-DBBE-64E810452B6D}"/>
              </a:ext>
            </a:extLst>
          </p:cNvPr>
          <p:cNvGraphicFramePr>
            <a:graphicFrameLocks noGrp="1"/>
          </p:cNvGraphicFramePr>
          <p:nvPr>
            <p:ph idx="1"/>
            <p:extLst>
              <p:ext uri="{D42A27DB-BD31-4B8C-83A1-F6EECF244321}">
                <p14:modId xmlns:p14="http://schemas.microsoft.com/office/powerpoint/2010/main" val="2225994779"/>
              </p:ext>
            </p:extLst>
          </p:nvPr>
        </p:nvGraphicFramePr>
        <p:xfrm>
          <a:off x="548642" y="596661"/>
          <a:ext cx="10441284" cy="6261339"/>
        </p:xfrm>
        <a:graphic>
          <a:graphicData uri="http://schemas.openxmlformats.org/drawingml/2006/table">
            <a:tbl>
              <a:tblPr/>
              <a:tblGrid>
                <a:gridCol w="2677285">
                  <a:extLst>
                    <a:ext uri="{9D8B030D-6E8A-4147-A177-3AD203B41FA5}">
                      <a16:colId xmlns:a16="http://schemas.microsoft.com/office/drawing/2014/main" val="1869176616"/>
                    </a:ext>
                  </a:extLst>
                </a:gridCol>
                <a:gridCol w="1276096">
                  <a:extLst>
                    <a:ext uri="{9D8B030D-6E8A-4147-A177-3AD203B41FA5}">
                      <a16:colId xmlns:a16="http://schemas.microsoft.com/office/drawing/2014/main" val="3173769867"/>
                    </a:ext>
                  </a:extLst>
                </a:gridCol>
                <a:gridCol w="833863">
                  <a:extLst>
                    <a:ext uri="{9D8B030D-6E8A-4147-A177-3AD203B41FA5}">
                      <a16:colId xmlns:a16="http://schemas.microsoft.com/office/drawing/2014/main" val="3344153441"/>
                    </a:ext>
                  </a:extLst>
                </a:gridCol>
                <a:gridCol w="1455207">
                  <a:extLst>
                    <a:ext uri="{9D8B030D-6E8A-4147-A177-3AD203B41FA5}">
                      <a16:colId xmlns:a16="http://schemas.microsoft.com/office/drawing/2014/main" val="2068468105"/>
                    </a:ext>
                  </a:extLst>
                </a:gridCol>
                <a:gridCol w="1061645">
                  <a:extLst>
                    <a:ext uri="{9D8B030D-6E8A-4147-A177-3AD203B41FA5}">
                      <a16:colId xmlns:a16="http://schemas.microsoft.com/office/drawing/2014/main" val="3074123442"/>
                    </a:ext>
                  </a:extLst>
                </a:gridCol>
                <a:gridCol w="1116905">
                  <a:extLst>
                    <a:ext uri="{9D8B030D-6E8A-4147-A177-3AD203B41FA5}">
                      <a16:colId xmlns:a16="http://schemas.microsoft.com/office/drawing/2014/main" val="3497347570"/>
                    </a:ext>
                  </a:extLst>
                </a:gridCol>
                <a:gridCol w="1265904">
                  <a:extLst>
                    <a:ext uri="{9D8B030D-6E8A-4147-A177-3AD203B41FA5}">
                      <a16:colId xmlns:a16="http://schemas.microsoft.com/office/drawing/2014/main" val="2322933494"/>
                    </a:ext>
                  </a:extLst>
                </a:gridCol>
                <a:gridCol w="754379">
                  <a:extLst>
                    <a:ext uri="{9D8B030D-6E8A-4147-A177-3AD203B41FA5}">
                      <a16:colId xmlns:a16="http://schemas.microsoft.com/office/drawing/2014/main" val="2915105178"/>
                    </a:ext>
                  </a:extLst>
                </a:gridCol>
              </a:tblGrid>
              <a:tr h="589629">
                <a:tc>
                  <a:txBody>
                    <a:bodyPr/>
                    <a:lstStyle/>
                    <a:p>
                      <a:pPr algn="l" fontAlgn="b">
                        <a:buNone/>
                      </a:pPr>
                      <a:endParaRPr lang="en-GB" sz="1800" b="0" i="0" u="none" strike="noStrike" dirty="0">
                        <a:solidFill>
                          <a:srgbClr val="000000"/>
                        </a:solidFill>
                        <a:effectLst/>
                        <a:latin typeface="Calibri" panose="020F0502020204030204" pitchFamily="34" charset="0"/>
                      </a:endParaRPr>
                    </a:p>
                  </a:txBody>
                  <a:tcPr marL="9525" marR="9525" marT="9525" marB="0" anchor="b">
                    <a:lnL>
                      <a:noFill/>
                    </a:lnL>
                    <a:lnR>
                      <a:noFill/>
                    </a:lnR>
                    <a:lnT>
                      <a:noFill/>
                    </a:lnT>
                    <a:lnB w="12700" cap="flat" cmpd="sng" algn="ctr">
                      <a:solidFill>
                        <a:srgbClr val="000000"/>
                      </a:solidFill>
                      <a:prstDash val="solid"/>
                      <a:round/>
                      <a:headEnd type="none" w="med" len="med"/>
                      <a:tailEnd type="none" w="med" len="med"/>
                    </a:lnB>
                    <a:noFill/>
                  </a:tcPr>
                </a:tc>
                <a:tc gridSpan="2">
                  <a:txBody>
                    <a:bodyPr/>
                    <a:lstStyle/>
                    <a:p>
                      <a:pPr algn="ctr" fontAlgn="b">
                        <a:buNone/>
                      </a:pPr>
                      <a:r>
                        <a:rPr lang="en-GB" sz="1800" b="0" i="0" u="none" strike="noStrike" dirty="0">
                          <a:solidFill>
                            <a:srgbClr val="FFFFFF"/>
                          </a:solidFill>
                          <a:effectLst/>
                          <a:latin typeface="Calibri" panose="020F0502020204030204" pitchFamily="34" charset="0"/>
                        </a:rPr>
                        <a:t>Overall results - classification</a:t>
                      </a:r>
                    </a:p>
                  </a:txBody>
                  <a:tcPr marL="9525" marR="9525" marT="9525" marB="0" anchor="b">
                    <a:lnL>
                      <a:noFill/>
                    </a:lnL>
                    <a:lnR>
                      <a:noFill/>
                    </a:lnR>
                    <a:lnT>
                      <a:noFill/>
                    </a:lnT>
                    <a:lnB w="12700" cap="flat" cmpd="sng" algn="ctr">
                      <a:solidFill>
                        <a:srgbClr val="000000"/>
                      </a:solidFill>
                      <a:prstDash val="solid"/>
                      <a:round/>
                      <a:headEnd type="none" w="med" len="med"/>
                      <a:tailEnd type="none" w="med" len="med"/>
                    </a:lnB>
                    <a:solidFill>
                      <a:srgbClr val="000000"/>
                    </a:solidFill>
                  </a:tcPr>
                </a:tc>
                <a:tc hMerge="1">
                  <a:txBody>
                    <a:bodyPr/>
                    <a:lstStyle/>
                    <a:p>
                      <a:endParaRPr lang="en-GB"/>
                    </a:p>
                  </a:txBody>
                  <a:tcPr/>
                </a:tc>
                <a:tc>
                  <a:txBody>
                    <a:bodyPr/>
                    <a:lstStyle/>
                    <a:p>
                      <a:pPr algn="ctr" fontAlgn="b">
                        <a:buNone/>
                      </a:pPr>
                      <a:r>
                        <a:rPr lang="en-GB" sz="1800" b="0" i="0" u="none" strike="noStrike" dirty="0">
                          <a:solidFill>
                            <a:srgbClr val="FFFFFF"/>
                          </a:solidFill>
                          <a:effectLst/>
                          <a:latin typeface="Calibri" panose="020F0502020204030204" pitchFamily="34" charset="0"/>
                        </a:rPr>
                        <a:t> Regression</a:t>
                      </a:r>
                    </a:p>
                  </a:txBody>
                  <a:tcPr marL="9525" marR="9525" marT="9525" marB="0" anchor="b">
                    <a:lnL>
                      <a:noFill/>
                    </a:lnL>
                    <a:lnR>
                      <a:noFill/>
                    </a:lnR>
                    <a:lnT>
                      <a:noFill/>
                    </a:lnT>
                    <a:lnB w="12700" cap="flat" cmpd="sng" algn="ctr">
                      <a:solidFill>
                        <a:srgbClr val="000000"/>
                      </a:solidFill>
                      <a:prstDash val="solid"/>
                      <a:round/>
                      <a:headEnd type="none" w="med" len="med"/>
                      <a:tailEnd type="none" w="med" len="med"/>
                    </a:lnB>
                    <a:solidFill>
                      <a:srgbClr val="000000"/>
                    </a:solidFill>
                  </a:tcPr>
                </a:tc>
                <a:tc>
                  <a:txBody>
                    <a:bodyPr/>
                    <a:lstStyle/>
                    <a:p>
                      <a:pPr algn="ctr" fontAlgn="b">
                        <a:buNone/>
                      </a:pPr>
                      <a:r>
                        <a:rPr lang="en-GB" sz="1800" b="0" i="0" u="none" strike="noStrike" dirty="0">
                          <a:solidFill>
                            <a:srgbClr val="FFFFFF"/>
                          </a:solidFill>
                          <a:effectLst/>
                          <a:latin typeface="Calibri" panose="020F0502020204030204" pitchFamily="34" charset="0"/>
                        </a:rPr>
                        <a:t>Regression</a:t>
                      </a:r>
                    </a:p>
                  </a:txBody>
                  <a:tcPr marL="9525" marR="9525" marT="9525" marB="0" anchor="b">
                    <a:lnL>
                      <a:noFill/>
                    </a:lnL>
                    <a:lnR>
                      <a:noFill/>
                    </a:lnR>
                    <a:lnT>
                      <a:noFill/>
                    </a:lnT>
                    <a:lnB w="12700" cap="flat" cmpd="sng" algn="ctr">
                      <a:solidFill>
                        <a:srgbClr val="000000"/>
                      </a:solidFill>
                      <a:prstDash val="solid"/>
                      <a:round/>
                      <a:headEnd type="none" w="med" len="med"/>
                      <a:tailEnd type="none" w="med" len="med"/>
                    </a:lnB>
                    <a:solidFill>
                      <a:srgbClr val="000000"/>
                    </a:solidFill>
                  </a:tcPr>
                </a:tc>
                <a:tc gridSpan="3">
                  <a:txBody>
                    <a:bodyPr/>
                    <a:lstStyle/>
                    <a:p>
                      <a:pPr algn="ctr" fontAlgn="b">
                        <a:buNone/>
                      </a:pPr>
                      <a:r>
                        <a:rPr lang="en-GB" sz="1800" b="0" i="0" u="none" strike="noStrike" dirty="0">
                          <a:solidFill>
                            <a:srgbClr val="FFFFFF"/>
                          </a:solidFill>
                          <a:effectLst/>
                          <a:latin typeface="Calibri" panose="020F0502020204030204" pitchFamily="34" charset="0"/>
                        </a:rPr>
                        <a:t>Absolute Difference to Asset4 Rating</a:t>
                      </a:r>
                    </a:p>
                  </a:txBody>
                  <a:tcPr marL="9525" marR="9525" marT="9525" marB="0" anchor="b">
                    <a:lnL>
                      <a:noFill/>
                    </a:lnL>
                    <a:lnR>
                      <a:noFill/>
                    </a:lnR>
                    <a:lnT>
                      <a:noFill/>
                    </a:lnT>
                    <a:lnB w="12700" cap="flat" cmpd="sng" algn="ctr">
                      <a:solidFill>
                        <a:srgbClr val="000000"/>
                      </a:solidFill>
                      <a:prstDash val="solid"/>
                      <a:round/>
                      <a:headEnd type="none" w="med" len="med"/>
                      <a:tailEnd type="none" w="med" len="med"/>
                    </a:lnB>
                    <a:solidFill>
                      <a:srgbClr val="000000"/>
                    </a:solidFill>
                  </a:tcPr>
                </a:tc>
                <a:tc hMerge="1">
                  <a:txBody>
                    <a:bodyPr/>
                    <a:lstStyle/>
                    <a:p>
                      <a:endParaRPr lang="en-GB"/>
                    </a:p>
                  </a:txBody>
                  <a:tcPr/>
                </a:tc>
                <a:tc hMerge="1">
                  <a:txBody>
                    <a:bodyPr/>
                    <a:lstStyle/>
                    <a:p>
                      <a:endParaRPr lang="en-GB"/>
                    </a:p>
                  </a:txBody>
                  <a:tcPr/>
                </a:tc>
                <a:extLst>
                  <a:ext uri="{0D108BD9-81ED-4DB2-BD59-A6C34878D82A}">
                    <a16:rowId xmlns:a16="http://schemas.microsoft.com/office/drawing/2014/main" val="1378775999"/>
                  </a:ext>
                </a:extLst>
              </a:tr>
              <a:tr h="508204">
                <a:tc>
                  <a:txBody>
                    <a:bodyPr/>
                    <a:lstStyle/>
                    <a:p>
                      <a:pPr algn="l" fontAlgn="b">
                        <a:buNone/>
                      </a:pPr>
                      <a:r>
                        <a:rPr lang="en-GB" sz="1800" b="0" i="0" u="none" strike="noStrike" dirty="0">
                          <a:solidFill>
                            <a:srgbClr val="FFFFFF"/>
                          </a:solidFill>
                          <a:effectLst/>
                          <a:latin typeface="Calibri" panose="020F0502020204030204" pitchFamily="34" charset="0"/>
                        </a:rPr>
                        <a:t>Classification Models</a:t>
                      </a:r>
                    </a:p>
                  </a:txBody>
                  <a:tcPr marL="9525" marR="9525" marT="9525" marB="0" anchor="b">
                    <a:lnL w="12700" cap="flat" cmpd="sng" algn="ctr">
                      <a:solidFill>
                        <a:srgbClr val="000000"/>
                      </a:solidFill>
                      <a:prstDash val="solid"/>
                      <a:round/>
                      <a:headEnd type="none" w="med" len="med"/>
                      <a:tailEnd type="none" w="med" len="med"/>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000000"/>
                    </a:solidFill>
                  </a:tcPr>
                </a:tc>
                <a:tc>
                  <a:txBody>
                    <a:bodyPr/>
                    <a:lstStyle/>
                    <a:p>
                      <a:pPr algn="l" fontAlgn="b">
                        <a:buNone/>
                      </a:pPr>
                      <a:r>
                        <a:rPr lang="en-GB" sz="1800" b="1" i="0" u="none" strike="noStrike" dirty="0">
                          <a:solidFill>
                            <a:srgbClr val="000000"/>
                          </a:solidFill>
                          <a:effectLst/>
                          <a:latin typeface="Calibri" panose="020F0502020204030204" pitchFamily="34" charset="0"/>
                        </a:rPr>
                        <a:t>Accuracy (%)</a:t>
                      </a:r>
                    </a:p>
                  </a:txBody>
                  <a:tcPr marL="9525" marR="9525" marT="9525" marB="0" anchor="b">
                    <a:lnL>
                      <a:noFill/>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l" fontAlgn="b">
                        <a:buNone/>
                      </a:pPr>
                      <a:r>
                        <a:rPr lang="en-GB" sz="1800" b="1" i="0" u="none" strike="noStrike" dirty="0">
                          <a:solidFill>
                            <a:srgbClr val="000000"/>
                          </a:solidFill>
                          <a:effectLst/>
                          <a:latin typeface="Calibri" panose="020F0502020204030204" pitchFamily="34" charset="0"/>
                        </a:rPr>
                        <a:t>SCC</a:t>
                      </a:r>
                    </a:p>
                  </a:txBody>
                  <a:tcPr marL="9525" marR="9525" marT="9525" marB="0" anchor="b">
                    <a:lnL>
                      <a:noFill/>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l" fontAlgn="b">
                        <a:buNone/>
                      </a:pPr>
                      <a:r>
                        <a:rPr lang="en-GB" sz="1800" b="1" i="0" u="none" strike="noStrike" dirty="0">
                          <a:solidFill>
                            <a:srgbClr val="000000"/>
                          </a:solidFill>
                          <a:effectLst/>
                          <a:latin typeface="Calibri" panose="020F0502020204030204" pitchFamily="34" charset="0"/>
                        </a:rPr>
                        <a:t> </a:t>
                      </a:r>
                    </a:p>
                  </a:txBody>
                  <a:tcPr marL="9525" marR="9525" marT="9525" marB="0" anchor="b">
                    <a:lnL>
                      <a:noFill/>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l" fontAlgn="b">
                        <a:buNone/>
                      </a:pPr>
                      <a:r>
                        <a:rPr lang="en-GB" sz="1800" b="1" i="0" u="none" strike="noStrike">
                          <a:solidFill>
                            <a:srgbClr val="000000"/>
                          </a:solidFill>
                          <a:effectLst/>
                          <a:latin typeface="Calibri" panose="020F0502020204030204" pitchFamily="34" charset="0"/>
                        </a:rPr>
                        <a:t> </a:t>
                      </a:r>
                    </a:p>
                  </a:txBody>
                  <a:tcPr marL="9525" marR="9525" marT="9525" marB="0" anchor="b">
                    <a:lnL>
                      <a:noFill/>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l" fontAlgn="b">
                        <a:buNone/>
                      </a:pPr>
                      <a:r>
                        <a:rPr lang="en-GB" sz="1800" b="1" i="0" u="none" strike="noStrike">
                          <a:solidFill>
                            <a:srgbClr val="000000"/>
                          </a:solidFill>
                          <a:effectLst/>
                          <a:latin typeface="Calibri" panose="020F0502020204030204" pitchFamily="34" charset="0"/>
                        </a:rPr>
                        <a:t>Mean Abs Diff</a:t>
                      </a:r>
                    </a:p>
                  </a:txBody>
                  <a:tcPr marL="9525" marR="9525" marT="9525" marB="0" anchor="b">
                    <a:lnL>
                      <a:noFill/>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l" fontAlgn="b">
                        <a:buNone/>
                      </a:pPr>
                      <a:r>
                        <a:rPr lang="en-GB" sz="1800" b="1" i="0" u="none" strike="noStrike">
                          <a:solidFill>
                            <a:srgbClr val="000000"/>
                          </a:solidFill>
                          <a:effectLst/>
                          <a:latin typeface="Calibri" panose="020F0502020204030204" pitchFamily="34" charset="0"/>
                        </a:rPr>
                        <a:t>Std Dev</a:t>
                      </a:r>
                    </a:p>
                  </a:txBody>
                  <a:tcPr marL="9525" marR="9525" marT="9525" marB="0" anchor="b">
                    <a:lnL>
                      <a:noFill/>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l" fontAlgn="b">
                        <a:buNone/>
                      </a:pPr>
                      <a:r>
                        <a:rPr lang="en-GB" sz="1800" b="1" i="0" u="none" strike="noStrike">
                          <a:solidFill>
                            <a:srgbClr val="000000"/>
                          </a:solidFill>
                          <a:effectLst/>
                          <a:latin typeface="Calibri" panose="020F0502020204030204" pitchFamily="34" charset="0"/>
                        </a:rPr>
                        <a:t>Max Diff</a:t>
                      </a:r>
                    </a:p>
                  </a:txBody>
                  <a:tcPr marL="9525" marR="9525" marT="9525" marB="0" anchor="b">
                    <a:lnL>
                      <a:noFill/>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546768207"/>
                  </a:ext>
                </a:extLst>
              </a:tr>
              <a:tr h="280775">
                <a:tc>
                  <a:txBody>
                    <a:bodyPr/>
                    <a:lstStyle/>
                    <a:p>
                      <a:pPr algn="l" fontAlgn="b">
                        <a:buNone/>
                      </a:pPr>
                      <a:r>
                        <a:rPr lang="en-GB" sz="1800" b="0" i="0" u="none" strike="noStrike">
                          <a:solidFill>
                            <a:srgbClr val="000000"/>
                          </a:solidFill>
                          <a:effectLst/>
                          <a:latin typeface="Calibri" panose="020F0502020204030204" pitchFamily="34" charset="0"/>
                        </a:rPr>
                        <a:t>Basic CNN</a:t>
                      </a:r>
                    </a:p>
                  </a:txBody>
                  <a:tcPr marL="9525" marR="9525" marT="9525" marB="0" anchor="b">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b">
                        <a:buNone/>
                      </a:pPr>
                      <a:r>
                        <a:rPr lang="en-GB" sz="1800" b="0" i="0" u="none" strike="noStrike" dirty="0">
                          <a:solidFill>
                            <a:srgbClr val="000000"/>
                          </a:solidFill>
                          <a:effectLst/>
                          <a:latin typeface="Calibri" panose="020F0502020204030204" pitchFamily="34" charset="0"/>
                        </a:rPr>
                        <a:t>2.2</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b">
                        <a:buNone/>
                      </a:pPr>
                      <a:r>
                        <a:rPr lang="en-GB" sz="1800" b="0" i="0" u="none" strike="noStrike">
                          <a:solidFill>
                            <a:srgbClr val="000000"/>
                          </a:solidFill>
                          <a:effectLst/>
                          <a:latin typeface="Calibri" panose="020F0502020204030204" pitchFamily="34" charset="0"/>
                        </a:rPr>
                        <a:t>4.29</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b">
                        <a:buNone/>
                      </a:pPr>
                      <a:r>
                        <a:rPr lang="en-GB" sz="1800" b="0" i="0" u="none" strike="noStrike" dirty="0">
                          <a:solidFill>
                            <a:srgbClr val="000000"/>
                          </a:solidFill>
                          <a:effectLst/>
                          <a:latin typeface="Calibri" panose="020F0502020204030204" pitchFamily="34" charset="0"/>
                        </a:rPr>
                        <a:t> </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b">
                        <a:buNone/>
                      </a:pPr>
                      <a:r>
                        <a:rPr lang="en-GB" sz="1800" b="0" i="0" u="none" strike="noStrike">
                          <a:solidFill>
                            <a:srgbClr val="000000"/>
                          </a:solidFill>
                          <a:effectLst/>
                          <a:latin typeface="Calibri" panose="020F0502020204030204" pitchFamily="34" charset="0"/>
                        </a:rPr>
                        <a:t> </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b">
                        <a:buNone/>
                      </a:pPr>
                      <a:r>
                        <a:rPr lang="en-GB" sz="1800" b="0" i="0" u="none" strike="noStrike" dirty="0">
                          <a:solidFill>
                            <a:srgbClr val="000000"/>
                          </a:solidFill>
                          <a:effectLst/>
                          <a:latin typeface="Calibri" panose="020F0502020204030204" pitchFamily="34" charset="0"/>
                        </a:rPr>
                        <a:t>15.27</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b">
                        <a:buNone/>
                      </a:pPr>
                      <a:r>
                        <a:rPr lang="en-GB" sz="1800" b="0" i="0" u="none" strike="noStrike">
                          <a:solidFill>
                            <a:srgbClr val="000000"/>
                          </a:solidFill>
                          <a:effectLst/>
                          <a:latin typeface="Calibri" panose="020F0502020204030204" pitchFamily="34" charset="0"/>
                        </a:rPr>
                        <a:t>12.23</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b">
                        <a:buNone/>
                      </a:pPr>
                      <a:r>
                        <a:rPr lang="en-GB" sz="1800" b="0" i="0" u="none" strike="noStrike">
                          <a:solidFill>
                            <a:srgbClr val="000000"/>
                          </a:solidFill>
                          <a:effectLst/>
                          <a:latin typeface="Calibri" panose="020F0502020204030204" pitchFamily="34" charset="0"/>
                        </a:rPr>
                        <a:t>64.6</a:t>
                      </a:r>
                    </a:p>
                  </a:txBody>
                  <a:tcPr marL="9525" marR="9525" marT="9525" marB="0" anchor="b">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505962703"/>
                  </a:ext>
                </a:extLst>
              </a:tr>
              <a:tr h="280775">
                <a:tc>
                  <a:txBody>
                    <a:bodyPr/>
                    <a:lstStyle/>
                    <a:p>
                      <a:pPr algn="l" fontAlgn="b">
                        <a:buNone/>
                      </a:pPr>
                      <a:r>
                        <a:rPr lang="en-GB" sz="1800" b="0" i="0" u="none" strike="noStrike">
                          <a:solidFill>
                            <a:srgbClr val="000000"/>
                          </a:solidFill>
                          <a:effectLst/>
                          <a:latin typeface="Calibri" panose="020F0502020204030204" pitchFamily="34" charset="0"/>
                        </a:rPr>
                        <a:t>Deep CNN</a:t>
                      </a:r>
                    </a:p>
                  </a:txBody>
                  <a:tcPr marL="9525" marR="9525" marT="9525" marB="0" anchor="b">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b">
                        <a:buNone/>
                      </a:pPr>
                      <a:r>
                        <a:rPr lang="en-GB" sz="1800" b="0" i="0" u="none" strike="noStrike" dirty="0">
                          <a:solidFill>
                            <a:srgbClr val="000000"/>
                          </a:solidFill>
                          <a:effectLst/>
                          <a:latin typeface="Calibri" panose="020F0502020204030204" pitchFamily="34" charset="0"/>
                        </a:rPr>
                        <a:t>2.3</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b">
                        <a:buNone/>
                      </a:pPr>
                      <a:r>
                        <a:rPr lang="en-GB" sz="1800" b="0" i="0" u="none" strike="noStrike" dirty="0">
                          <a:solidFill>
                            <a:srgbClr val="000000"/>
                          </a:solidFill>
                          <a:effectLst/>
                          <a:latin typeface="Calibri" panose="020F0502020204030204" pitchFamily="34" charset="0"/>
                        </a:rPr>
                        <a:t>4.38</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b">
                        <a:buNone/>
                      </a:pPr>
                      <a:r>
                        <a:rPr lang="en-GB" sz="1800" b="0" i="0" u="none" strike="noStrike">
                          <a:solidFill>
                            <a:srgbClr val="000000"/>
                          </a:solidFill>
                          <a:effectLst/>
                          <a:latin typeface="Calibri" panose="020F0502020204030204" pitchFamily="34" charset="0"/>
                        </a:rPr>
                        <a:t> </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b">
                        <a:buNone/>
                      </a:pPr>
                      <a:r>
                        <a:rPr lang="en-GB" sz="1800" b="0" i="0" u="none" strike="noStrike" dirty="0">
                          <a:solidFill>
                            <a:srgbClr val="000000"/>
                          </a:solidFill>
                          <a:effectLst/>
                          <a:latin typeface="Calibri" panose="020F0502020204030204" pitchFamily="34" charset="0"/>
                        </a:rPr>
                        <a:t> </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b">
                        <a:buNone/>
                      </a:pPr>
                      <a:r>
                        <a:rPr lang="en-GB" sz="1800" b="0" i="0" u="none" strike="noStrike" dirty="0">
                          <a:solidFill>
                            <a:srgbClr val="000000"/>
                          </a:solidFill>
                          <a:effectLst/>
                          <a:latin typeface="Calibri" panose="020F0502020204030204" pitchFamily="34" charset="0"/>
                        </a:rPr>
                        <a:t>15.72</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b">
                        <a:buNone/>
                      </a:pPr>
                      <a:r>
                        <a:rPr lang="en-GB" sz="1800" b="0" i="0" u="none" strike="noStrike">
                          <a:solidFill>
                            <a:srgbClr val="000000"/>
                          </a:solidFill>
                          <a:effectLst/>
                          <a:latin typeface="Calibri" panose="020F0502020204030204" pitchFamily="34" charset="0"/>
                        </a:rPr>
                        <a:t>12.43</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b">
                        <a:buNone/>
                      </a:pPr>
                      <a:r>
                        <a:rPr lang="en-GB" sz="1800" b="0" i="0" u="none" strike="noStrike">
                          <a:solidFill>
                            <a:srgbClr val="000000"/>
                          </a:solidFill>
                          <a:effectLst/>
                          <a:latin typeface="Calibri" panose="020F0502020204030204" pitchFamily="34" charset="0"/>
                        </a:rPr>
                        <a:t>58.1</a:t>
                      </a:r>
                    </a:p>
                  </a:txBody>
                  <a:tcPr marL="9525" marR="9525" marT="9525" marB="0" anchor="b">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663616820"/>
                  </a:ext>
                </a:extLst>
              </a:tr>
              <a:tr h="280775">
                <a:tc>
                  <a:txBody>
                    <a:bodyPr/>
                    <a:lstStyle/>
                    <a:p>
                      <a:pPr algn="l" fontAlgn="b">
                        <a:buNone/>
                      </a:pPr>
                      <a:r>
                        <a:rPr lang="en-GB" sz="1800" b="0" i="0" u="none" strike="noStrike">
                          <a:solidFill>
                            <a:srgbClr val="000000"/>
                          </a:solidFill>
                          <a:effectLst/>
                          <a:latin typeface="Calibri" panose="020F0502020204030204" pitchFamily="34" charset="0"/>
                        </a:rPr>
                        <a:t>CNN + Transformer</a:t>
                      </a:r>
                    </a:p>
                  </a:txBody>
                  <a:tcPr marL="9525" marR="9525" marT="9525" marB="0" anchor="b">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b">
                        <a:buNone/>
                      </a:pPr>
                      <a:r>
                        <a:rPr lang="en-GB" sz="1800" b="0" i="0" u="none" strike="noStrike" dirty="0">
                          <a:solidFill>
                            <a:srgbClr val="000000"/>
                          </a:solidFill>
                          <a:effectLst/>
                          <a:latin typeface="Calibri" panose="020F0502020204030204" pitchFamily="34" charset="0"/>
                        </a:rPr>
                        <a:t>2.3</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b">
                        <a:buNone/>
                      </a:pPr>
                      <a:r>
                        <a:rPr lang="en-GB" sz="1800" b="0" i="0" u="none" strike="noStrike" dirty="0">
                          <a:solidFill>
                            <a:srgbClr val="000000"/>
                          </a:solidFill>
                          <a:effectLst/>
                          <a:latin typeface="Calibri" panose="020F0502020204030204" pitchFamily="34" charset="0"/>
                        </a:rPr>
                        <a:t>4.49</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b">
                        <a:buNone/>
                      </a:pPr>
                      <a:r>
                        <a:rPr lang="en-GB" sz="1800" b="0" i="0" u="none" strike="noStrike">
                          <a:solidFill>
                            <a:srgbClr val="000000"/>
                          </a:solidFill>
                          <a:effectLst/>
                          <a:latin typeface="Calibri" panose="020F0502020204030204" pitchFamily="34" charset="0"/>
                        </a:rPr>
                        <a:t> </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b">
                        <a:buNone/>
                      </a:pPr>
                      <a:r>
                        <a:rPr lang="en-GB" sz="1800" b="0" i="0" u="none" strike="noStrike" dirty="0">
                          <a:solidFill>
                            <a:srgbClr val="000000"/>
                          </a:solidFill>
                          <a:effectLst/>
                          <a:latin typeface="Calibri" panose="020F0502020204030204" pitchFamily="34" charset="0"/>
                        </a:rPr>
                        <a:t> </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b">
                        <a:buNone/>
                      </a:pPr>
                      <a:r>
                        <a:rPr lang="en-GB" sz="1800" b="0" i="0" u="none" strike="noStrike" dirty="0">
                          <a:solidFill>
                            <a:srgbClr val="000000"/>
                          </a:solidFill>
                          <a:effectLst/>
                          <a:latin typeface="Calibri" panose="020F0502020204030204" pitchFamily="34" charset="0"/>
                        </a:rPr>
                        <a:t>15.81</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b">
                        <a:buNone/>
                      </a:pPr>
                      <a:r>
                        <a:rPr lang="en-GB" sz="1800" b="0" i="0" u="none" strike="noStrike">
                          <a:solidFill>
                            <a:srgbClr val="000000"/>
                          </a:solidFill>
                          <a:effectLst/>
                          <a:latin typeface="Calibri" panose="020F0502020204030204" pitchFamily="34" charset="0"/>
                        </a:rPr>
                        <a:t>12.57</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b">
                        <a:buNone/>
                      </a:pPr>
                      <a:r>
                        <a:rPr lang="en-GB" sz="1800" b="0" i="0" u="none" strike="noStrike">
                          <a:solidFill>
                            <a:srgbClr val="000000"/>
                          </a:solidFill>
                          <a:effectLst/>
                          <a:latin typeface="Calibri" panose="020F0502020204030204" pitchFamily="34" charset="0"/>
                        </a:rPr>
                        <a:t>62.4</a:t>
                      </a:r>
                    </a:p>
                  </a:txBody>
                  <a:tcPr marL="9525" marR="9525" marT="9525" marB="0" anchor="b">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623833722"/>
                  </a:ext>
                </a:extLst>
              </a:tr>
              <a:tr h="294815">
                <a:tc>
                  <a:txBody>
                    <a:bodyPr/>
                    <a:lstStyle/>
                    <a:p>
                      <a:pPr algn="l" fontAlgn="b">
                        <a:buNone/>
                      </a:pPr>
                      <a:r>
                        <a:rPr lang="en-GB" sz="1800" b="0" i="0" u="none" strike="noStrike">
                          <a:solidFill>
                            <a:srgbClr val="000000"/>
                          </a:solidFill>
                          <a:effectLst/>
                          <a:latin typeface="Calibri" panose="020F0502020204030204" pitchFamily="34" charset="0"/>
                        </a:rPr>
                        <a:t>CNN + Deep Transformer</a:t>
                      </a:r>
                    </a:p>
                  </a:txBody>
                  <a:tcPr marL="9525" marR="9525" marT="9525" marB="0" anchor="b">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r" fontAlgn="b">
                        <a:buNone/>
                      </a:pPr>
                      <a:r>
                        <a:rPr lang="en-GB" sz="1800" b="0" i="0" u="none" strike="noStrike" dirty="0">
                          <a:solidFill>
                            <a:srgbClr val="000000"/>
                          </a:solidFill>
                          <a:effectLst/>
                          <a:latin typeface="Calibri" panose="020F0502020204030204" pitchFamily="34" charset="0"/>
                        </a:rPr>
                        <a:t>2.2</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r" fontAlgn="b">
                        <a:buNone/>
                      </a:pPr>
                      <a:r>
                        <a:rPr lang="en-GB" sz="1800" b="0" i="0" u="none" strike="noStrike" dirty="0">
                          <a:solidFill>
                            <a:srgbClr val="000000"/>
                          </a:solidFill>
                          <a:effectLst/>
                          <a:latin typeface="Calibri" panose="020F0502020204030204" pitchFamily="34" charset="0"/>
                        </a:rPr>
                        <a:t>5.29</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l" fontAlgn="b">
                        <a:buNone/>
                      </a:pPr>
                      <a:r>
                        <a:rPr lang="en-GB" sz="1800" b="0" i="0" u="none" strike="noStrike">
                          <a:solidFill>
                            <a:srgbClr val="000000"/>
                          </a:solidFill>
                          <a:effectLst/>
                          <a:latin typeface="Calibri" panose="020F0502020204030204" pitchFamily="34" charset="0"/>
                        </a:rPr>
                        <a:t> </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l" fontAlgn="b">
                        <a:buNone/>
                      </a:pPr>
                      <a:r>
                        <a:rPr lang="en-GB" sz="1800" b="0" i="0" u="none" strike="noStrike">
                          <a:solidFill>
                            <a:srgbClr val="000000"/>
                          </a:solidFill>
                          <a:effectLst/>
                          <a:latin typeface="Calibri" panose="020F0502020204030204" pitchFamily="34" charset="0"/>
                        </a:rPr>
                        <a:t> </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r" fontAlgn="b">
                        <a:buNone/>
                      </a:pPr>
                      <a:r>
                        <a:rPr lang="en-GB" sz="1800" b="0" i="0" u="none" strike="noStrike" dirty="0">
                          <a:solidFill>
                            <a:srgbClr val="000000"/>
                          </a:solidFill>
                          <a:effectLst/>
                          <a:latin typeface="Calibri" panose="020F0502020204030204" pitchFamily="34" charset="0"/>
                        </a:rPr>
                        <a:t>16.44</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r" fontAlgn="b">
                        <a:buNone/>
                      </a:pPr>
                      <a:r>
                        <a:rPr lang="en-GB" sz="1800" b="0" i="0" u="none" strike="noStrike">
                          <a:solidFill>
                            <a:srgbClr val="000000"/>
                          </a:solidFill>
                          <a:effectLst/>
                          <a:latin typeface="Calibri" panose="020F0502020204030204" pitchFamily="34" charset="0"/>
                        </a:rPr>
                        <a:t>12.8</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r" fontAlgn="b">
                        <a:buNone/>
                      </a:pPr>
                      <a:r>
                        <a:rPr lang="en-GB" sz="1800" b="0" i="0" u="none" strike="noStrike">
                          <a:solidFill>
                            <a:srgbClr val="000000"/>
                          </a:solidFill>
                          <a:effectLst/>
                          <a:latin typeface="Calibri" panose="020F0502020204030204" pitchFamily="34" charset="0"/>
                        </a:rPr>
                        <a:t>67.8</a:t>
                      </a:r>
                    </a:p>
                  </a:txBody>
                  <a:tcPr marL="9525" marR="9525" marT="9525" marB="0" anchor="b">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515148873"/>
                  </a:ext>
                </a:extLst>
              </a:tr>
              <a:tr h="294815">
                <a:tc>
                  <a:txBody>
                    <a:bodyPr/>
                    <a:lstStyle/>
                    <a:p>
                      <a:pPr algn="l" fontAlgn="b">
                        <a:buNone/>
                      </a:pPr>
                      <a:endParaRPr lang="en-GB" sz="1800" b="0" i="0" u="none" strike="noStrike">
                        <a:solidFill>
                          <a:srgbClr val="000000"/>
                        </a:solidFill>
                        <a:effectLst/>
                        <a:latin typeface="Calibri" panose="020F0502020204030204" pitchFamily="34" charset="0"/>
                      </a:endParaRPr>
                    </a:p>
                  </a:txBody>
                  <a:tcPr marL="9525" marR="9525" marT="9525" marB="0" anchor="b">
                    <a:lnL>
                      <a:noFill/>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l" fontAlgn="b">
                        <a:buNone/>
                      </a:pPr>
                      <a:endParaRPr lang="en-GB" sz="1800" b="0" i="0" u="none" strike="noStrike">
                        <a:solidFill>
                          <a:srgbClr val="000000"/>
                        </a:solidFill>
                        <a:effectLst/>
                        <a:latin typeface="Calibri" panose="020F0502020204030204" pitchFamily="34" charset="0"/>
                      </a:endParaRPr>
                    </a:p>
                  </a:txBody>
                  <a:tcPr marL="9525" marR="9525" marT="9525" marB="0" anchor="b">
                    <a:lnL>
                      <a:noFill/>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l" fontAlgn="b">
                        <a:buNone/>
                      </a:pPr>
                      <a:endParaRPr lang="en-GB" sz="1800" b="0" i="0" u="none" strike="noStrike">
                        <a:solidFill>
                          <a:srgbClr val="000000"/>
                        </a:solidFill>
                        <a:effectLst/>
                        <a:latin typeface="Calibri" panose="020F0502020204030204" pitchFamily="34" charset="0"/>
                      </a:endParaRPr>
                    </a:p>
                  </a:txBody>
                  <a:tcPr marL="9525" marR="9525" marT="9525" marB="0" anchor="b">
                    <a:lnL>
                      <a:noFill/>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l" fontAlgn="b">
                        <a:buNone/>
                      </a:pPr>
                      <a:endParaRPr lang="en-GB" sz="1800" b="0" i="0" u="none" strike="noStrike" dirty="0">
                        <a:solidFill>
                          <a:srgbClr val="000000"/>
                        </a:solidFill>
                        <a:effectLst/>
                        <a:latin typeface="Calibri" panose="020F0502020204030204" pitchFamily="34" charset="0"/>
                      </a:endParaRPr>
                    </a:p>
                  </a:txBody>
                  <a:tcPr marL="9525" marR="9525" marT="9525" marB="0" anchor="b">
                    <a:lnL>
                      <a:noFill/>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l" fontAlgn="b">
                        <a:buNone/>
                      </a:pPr>
                      <a:endParaRPr lang="en-GB" sz="1800" b="0" i="0" u="none" strike="noStrike">
                        <a:solidFill>
                          <a:srgbClr val="000000"/>
                        </a:solidFill>
                        <a:effectLst/>
                        <a:latin typeface="Calibri" panose="020F0502020204030204" pitchFamily="34" charset="0"/>
                      </a:endParaRPr>
                    </a:p>
                  </a:txBody>
                  <a:tcPr marL="9525" marR="9525" marT="9525" marB="0" anchor="b">
                    <a:lnL>
                      <a:noFill/>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l" fontAlgn="b">
                        <a:buNone/>
                      </a:pPr>
                      <a:endParaRPr lang="en-GB" sz="1800" b="0" i="0" u="none" strike="noStrike">
                        <a:solidFill>
                          <a:srgbClr val="000000"/>
                        </a:solidFill>
                        <a:effectLst/>
                        <a:latin typeface="Calibri" panose="020F0502020204030204" pitchFamily="34" charset="0"/>
                      </a:endParaRPr>
                    </a:p>
                  </a:txBody>
                  <a:tcPr marL="9525" marR="9525" marT="9525" marB="0" anchor="b">
                    <a:lnL>
                      <a:noFill/>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l" fontAlgn="b">
                        <a:buNone/>
                      </a:pPr>
                      <a:endParaRPr lang="en-GB" sz="1800" b="0" i="0" u="none" strike="noStrike">
                        <a:solidFill>
                          <a:srgbClr val="000000"/>
                        </a:solidFill>
                        <a:effectLst/>
                        <a:latin typeface="Calibri" panose="020F0502020204030204" pitchFamily="34" charset="0"/>
                      </a:endParaRPr>
                    </a:p>
                  </a:txBody>
                  <a:tcPr marL="9525" marR="9525" marT="9525" marB="0" anchor="b">
                    <a:lnL>
                      <a:noFill/>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l" fontAlgn="b">
                        <a:buNone/>
                      </a:pPr>
                      <a:endParaRPr lang="en-GB" sz="1800" b="0" i="0" u="none" strike="noStrike">
                        <a:solidFill>
                          <a:srgbClr val="000000"/>
                        </a:solidFill>
                        <a:effectLst/>
                        <a:latin typeface="Calibri" panose="020F0502020204030204" pitchFamily="34" charset="0"/>
                      </a:endParaRPr>
                    </a:p>
                  </a:txBody>
                  <a:tcPr marL="9525" marR="9525" marT="9525" marB="0" anchor="b">
                    <a:lnL>
                      <a:noFill/>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801863132"/>
                  </a:ext>
                </a:extLst>
              </a:tr>
              <a:tr h="508204">
                <a:tc>
                  <a:txBody>
                    <a:bodyPr/>
                    <a:lstStyle/>
                    <a:p>
                      <a:pPr algn="l" fontAlgn="b">
                        <a:buNone/>
                      </a:pPr>
                      <a:r>
                        <a:rPr lang="en-GB" sz="1800" b="0" i="0" u="none" strike="noStrike">
                          <a:solidFill>
                            <a:srgbClr val="FFFFFF"/>
                          </a:solidFill>
                          <a:effectLst/>
                          <a:latin typeface="Calibri" panose="020F0502020204030204" pitchFamily="34" charset="0"/>
                        </a:rPr>
                        <a:t>Regression Models</a:t>
                      </a:r>
                    </a:p>
                  </a:txBody>
                  <a:tcPr marL="9525" marR="9525" marT="9525" marB="0" anchor="b">
                    <a:lnL w="12700" cap="flat" cmpd="sng" algn="ctr">
                      <a:solidFill>
                        <a:srgbClr val="000000"/>
                      </a:solidFill>
                      <a:prstDash val="solid"/>
                      <a:round/>
                      <a:headEnd type="none" w="med" len="med"/>
                      <a:tailEnd type="none" w="med" len="med"/>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000000"/>
                    </a:solidFill>
                  </a:tcPr>
                </a:tc>
                <a:tc>
                  <a:txBody>
                    <a:bodyPr/>
                    <a:lstStyle/>
                    <a:p>
                      <a:pPr algn="l" fontAlgn="b">
                        <a:buNone/>
                      </a:pPr>
                      <a:r>
                        <a:rPr lang="en-GB" sz="1800" b="0" i="0" u="none" strike="noStrike">
                          <a:solidFill>
                            <a:srgbClr val="000000"/>
                          </a:solidFill>
                          <a:effectLst/>
                          <a:latin typeface="Calibri" panose="020F0502020204030204" pitchFamily="34" charset="0"/>
                        </a:rPr>
                        <a:t> </a:t>
                      </a:r>
                    </a:p>
                  </a:txBody>
                  <a:tcPr marL="9525" marR="9525" marT="9525" marB="0" anchor="b">
                    <a:lnL>
                      <a:noFill/>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l" fontAlgn="b">
                        <a:buNone/>
                      </a:pPr>
                      <a:r>
                        <a:rPr lang="en-GB" sz="1800" b="0" i="0" u="none" strike="noStrike">
                          <a:solidFill>
                            <a:srgbClr val="000000"/>
                          </a:solidFill>
                          <a:effectLst/>
                          <a:latin typeface="Calibri" panose="020F0502020204030204" pitchFamily="34" charset="0"/>
                        </a:rPr>
                        <a:t> </a:t>
                      </a:r>
                    </a:p>
                  </a:txBody>
                  <a:tcPr marL="9525" marR="9525" marT="9525" marB="0" anchor="b">
                    <a:lnL>
                      <a:noFill/>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l" fontAlgn="b">
                        <a:buNone/>
                      </a:pPr>
                      <a:r>
                        <a:rPr lang="en-GB" sz="1800" b="1" i="0" u="none" strike="noStrike" dirty="0">
                          <a:solidFill>
                            <a:srgbClr val="000000"/>
                          </a:solidFill>
                          <a:effectLst/>
                          <a:latin typeface="Calibri" panose="020F0502020204030204" pitchFamily="34" charset="0"/>
                        </a:rPr>
                        <a:t>Mean Abs Percent Err (MAPE)</a:t>
                      </a:r>
                    </a:p>
                  </a:txBody>
                  <a:tcPr marL="9525" marR="9525" marT="9525" marB="0" anchor="b">
                    <a:lnL>
                      <a:noFill/>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l" fontAlgn="b">
                        <a:buNone/>
                      </a:pPr>
                      <a:r>
                        <a:rPr lang="en-GB" sz="1800" b="1" i="0" u="none" strike="noStrike" dirty="0">
                          <a:solidFill>
                            <a:srgbClr val="000000"/>
                          </a:solidFill>
                          <a:effectLst/>
                          <a:latin typeface="Calibri" panose="020F0502020204030204" pitchFamily="34" charset="0"/>
                        </a:rPr>
                        <a:t>Mean </a:t>
                      </a:r>
                      <a:r>
                        <a:rPr lang="en-GB" sz="1800" b="1" i="0" u="none" strike="noStrike" dirty="0" err="1">
                          <a:solidFill>
                            <a:srgbClr val="000000"/>
                          </a:solidFill>
                          <a:effectLst/>
                          <a:latin typeface="Calibri" panose="020F0502020204030204" pitchFamily="34" charset="0"/>
                        </a:rPr>
                        <a:t>Sqrd</a:t>
                      </a:r>
                      <a:r>
                        <a:rPr lang="en-GB" sz="1800" b="1" i="0" u="none" strike="noStrike" dirty="0">
                          <a:solidFill>
                            <a:srgbClr val="000000"/>
                          </a:solidFill>
                          <a:effectLst/>
                          <a:latin typeface="Calibri" panose="020F0502020204030204" pitchFamily="34" charset="0"/>
                        </a:rPr>
                        <a:t> Err (MSE)</a:t>
                      </a:r>
                    </a:p>
                  </a:txBody>
                  <a:tcPr marL="9525" marR="9525" marT="9525" marB="0" anchor="b">
                    <a:lnL>
                      <a:noFill/>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l" fontAlgn="b">
                        <a:buNone/>
                      </a:pPr>
                      <a:r>
                        <a:rPr lang="en-GB" sz="1800" b="1" i="0" u="none" strike="noStrike" dirty="0">
                          <a:solidFill>
                            <a:srgbClr val="000000"/>
                          </a:solidFill>
                          <a:effectLst/>
                          <a:latin typeface="Calibri" panose="020F0502020204030204" pitchFamily="34" charset="0"/>
                        </a:rPr>
                        <a:t>Mean Abs Diff</a:t>
                      </a:r>
                    </a:p>
                  </a:txBody>
                  <a:tcPr marL="9525" marR="9525" marT="9525" marB="0" anchor="b">
                    <a:lnL>
                      <a:noFill/>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l" fontAlgn="b">
                        <a:buNone/>
                      </a:pPr>
                      <a:r>
                        <a:rPr lang="en-GB" sz="1800" b="1" i="0" u="none" strike="noStrike" dirty="0">
                          <a:solidFill>
                            <a:srgbClr val="000000"/>
                          </a:solidFill>
                          <a:effectLst/>
                          <a:latin typeface="Calibri" panose="020F0502020204030204" pitchFamily="34" charset="0"/>
                        </a:rPr>
                        <a:t>Std Dev</a:t>
                      </a:r>
                    </a:p>
                  </a:txBody>
                  <a:tcPr marL="9525" marR="9525" marT="9525" marB="0" anchor="b">
                    <a:lnL>
                      <a:noFill/>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l" fontAlgn="b">
                        <a:buNone/>
                      </a:pPr>
                      <a:r>
                        <a:rPr lang="en-GB" sz="1800" b="1" i="0" u="none" strike="noStrike">
                          <a:solidFill>
                            <a:srgbClr val="000000"/>
                          </a:solidFill>
                          <a:effectLst/>
                          <a:latin typeface="Calibri" panose="020F0502020204030204" pitchFamily="34" charset="0"/>
                        </a:rPr>
                        <a:t>Max Diff</a:t>
                      </a:r>
                    </a:p>
                  </a:txBody>
                  <a:tcPr marL="9525" marR="9525" marT="9525" marB="0" anchor="b">
                    <a:lnL>
                      <a:noFill/>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959525591"/>
                  </a:ext>
                </a:extLst>
              </a:tr>
              <a:tr h="280775">
                <a:tc>
                  <a:txBody>
                    <a:bodyPr/>
                    <a:lstStyle/>
                    <a:p>
                      <a:pPr algn="l" fontAlgn="b">
                        <a:buNone/>
                      </a:pPr>
                      <a:r>
                        <a:rPr lang="en-GB" sz="1800" b="0" i="0" u="none" strike="noStrike">
                          <a:solidFill>
                            <a:srgbClr val="000000"/>
                          </a:solidFill>
                          <a:effectLst/>
                          <a:latin typeface="Calibri" panose="020F0502020204030204" pitchFamily="34" charset="0"/>
                        </a:rPr>
                        <a:t>Basic CNN</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b">
                        <a:buNone/>
                      </a:pPr>
                      <a:r>
                        <a:rPr lang="en-GB" sz="1800" b="0" i="0" u="none" strike="noStrike">
                          <a:solidFill>
                            <a:srgbClr val="000000"/>
                          </a:solidFill>
                          <a:effectLst/>
                          <a:latin typeface="Calibri" panose="020F0502020204030204" pitchFamily="34" charset="0"/>
                        </a:rPr>
                        <a:t> </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b">
                        <a:buNone/>
                      </a:pPr>
                      <a:r>
                        <a:rPr lang="en-GB" sz="1800" b="0" i="0" u="none" strike="noStrike">
                          <a:solidFill>
                            <a:srgbClr val="000000"/>
                          </a:solidFill>
                          <a:effectLst/>
                          <a:latin typeface="Calibri" panose="020F0502020204030204" pitchFamily="34" charset="0"/>
                        </a:rPr>
                        <a:t> </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b">
                        <a:buNone/>
                      </a:pPr>
                      <a:r>
                        <a:rPr lang="en-GB" sz="1800" b="0" i="0" u="none" strike="noStrike">
                          <a:solidFill>
                            <a:srgbClr val="000000"/>
                          </a:solidFill>
                          <a:effectLst/>
                          <a:latin typeface="Calibri" panose="020F0502020204030204" pitchFamily="34" charset="0"/>
                        </a:rPr>
                        <a:t>51.31</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b">
                        <a:buNone/>
                      </a:pPr>
                      <a:r>
                        <a:rPr lang="en-GB" sz="1800" b="0" i="0" u="none" strike="noStrike" dirty="0">
                          <a:solidFill>
                            <a:srgbClr val="000000"/>
                          </a:solidFill>
                          <a:effectLst/>
                          <a:latin typeface="Calibri" panose="020F0502020204030204" pitchFamily="34" charset="0"/>
                        </a:rPr>
                        <a:t>285.07</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b">
                        <a:buNone/>
                      </a:pPr>
                      <a:r>
                        <a:rPr lang="en-GB" sz="1800" b="0" i="0" u="none" strike="noStrike">
                          <a:solidFill>
                            <a:srgbClr val="000000"/>
                          </a:solidFill>
                          <a:effectLst/>
                          <a:latin typeface="Calibri" panose="020F0502020204030204" pitchFamily="34" charset="0"/>
                        </a:rPr>
                        <a:t>13.43</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b">
                        <a:buNone/>
                      </a:pPr>
                      <a:r>
                        <a:rPr lang="en-GB" sz="1800" b="0" i="0" u="none" strike="noStrike" dirty="0">
                          <a:solidFill>
                            <a:srgbClr val="000000"/>
                          </a:solidFill>
                          <a:effectLst/>
                          <a:latin typeface="Calibri" panose="020F0502020204030204" pitchFamily="34" charset="0"/>
                        </a:rPr>
                        <a:t>10.2</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b">
                        <a:buNone/>
                      </a:pPr>
                      <a:r>
                        <a:rPr lang="en-GB" sz="1800" b="0" i="0" u="none" strike="noStrike">
                          <a:solidFill>
                            <a:srgbClr val="000000"/>
                          </a:solidFill>
                          <a:effectLst/>
                          <a:latin typeface="Calibri" panose="020F0502020204030204" pitchFamily="34" charset="0"/>
                        </a:rPr>
                        <a:t>52.62</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041376388"/>
                  </a:ext>
                </a:extLst>
              </a:tr>
              <a:tr h="280775">
                <a:tc>
                  <a:txBody>
                    <a:bodyPr/>
                    <a:lstStyle/>
                    <a:p>
                      <a:pPr algn="l" fontAlgn="b">
                        <a:buNone/>
                      </a:pPr>
                      <a:r>
                        <a:rPr lang="en-GB" sz="1800" b="0" i="0" u="none" strike="noStrike">
                          <a:solidFill>
                            <a:srgbClr val="000000"/>
                          </a:solidFill>
                          <a:effectLst/>
                          <a:latin typeface="Calibri" panose="020F0502020204030204" pitchFamily="34" charset="0"/>
                        </a:rPr>
                        <a:t>Deep CNN</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b">
                        <a:buNone/>
                      </a:pPr>
                      <a:r>
                        <a:rPr lang="en-GB" sz="1800" b="0" i="0" u="none" strike="noStrike">
                          <a:solidFill>
                            <a:srgbClr val="000000"/>
                          </a:solidFill>
                          <a:effectLst/>
                          <a:latin typeface="Calibri" panose="020F0502020204030204" pitchFamily="34" charset="0"/>
                        </a:rPr>
                        <a:t> </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b">
                        <a:buNone/>
                      </a:pPr>
                      <a:r>
                        <a:rPr lang="en-GB" sz="1800" b="0" i="0" u="none" strike="noStrike">
                          <a:solidFill>
                            <a:srgbClr val="000000"/>
                          </a:solidFill>
                          <a:effectLst/>
                          <a:latin typeface="Calibri" panose="020F0502020204030204" pitchFamily="34" charset="0"/>
                        </a:rPr>
                        <a:t> </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b">
                        <a:buNone/>
                      </a:pPr>
                      <a:r>
                        <a:rPr lang="en-GB" sz="1800" b="0" i="0" u="none" strike="noStrike">
                          <a:solidFill>
                            <a:srgbClr val="000000"/>
                          </a:solidFill>
                          <a:effectLst/>
                          <a:latin typeface="Calibri" panose="020F0502020204030204" pitchFamily="34" charset="0"/>
                        </a:rPr>
                        <a:t>50.12</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b">
                        <a:buNone/>
                      </a:pPr>
                      <a:r>
                        <a:rPr lang="en-GB" sz="1800" b="0" i="0" u="none" strike="noStrike" dirty="0">
                          <a:solidFill>
                            <a:srgbClr val="000000"/>
                          </a:solidFill>
                          <a:effectLst/>
                          <a:latin typeface="Calibri" panose="020F0502020204030204" pitchFamily="34" charset="0"/>
                        </a:rPr>
                        <a:t>263.18</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b">
                        <a:buNone/>
                      </a:pPr>
                      <a:r>
                        <a:rPr lang="en-GB" sz="1800" b="1" i="0" u="none" strike="noStrike" dirty="0">
                          <a:solidFill>
                            <a:srgbClr val="000000"/>
                          </a:solidFill>
                          <a:effectLst/>
                          <a:latin typeface="Calibri" panose="020F0502020204030204" pitchFamily="34" charset="0"/>
                        </a:rPr>
                        <a:t>13.04</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b">
                        <a:buNone/>
                      </a:pPr>
                      <a:r>
                        <a:rPr lang="en-GB" sz="1800" b="0" i="0" u="none" strike="noStrike">
                          <a:solidFill>
                            <a:srgbClr val="000000"/>
                          </a:solidFill>
                          <a:effectLst/>
                          <a:latin typeface="Calibri" panose="020F0502020204030204" pitchFamily="34" charset="0"/>
                        </a:rPr>
                        <a:t>9.66</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b">
                        <a:buNone/>
                      </a:pPr>
                      <a:r>
                        <a:rPr lang="en-GB" sz="1800" b="0" i="0" u="none" strike="noStrike">
                          <a:solidFill>
                            <a:srgbClr val="000000"/>
                          </a:solidFill>
                          <a:effectLst/>
                          <a:latin typeface="Calibri" panose="020F0502020204030204" pitchFamily="34" charset="0"/>
                        </a:rPr>
                        <a:t>48.63</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4299667"/>
                  </a:ext>
                </a:extLst>
              </a:tr>
              <a:tr h="280775">
                <a:tc>
                  <a:txBody>
                    <a:bodyPr/>
                    <a:lstStyle/>
                    <a:p>
                      <a:pPr algn="l" fontAlgn="b">
                        <a:buNone/>
                      </a:pPr>
                      <a:r>
                        <a:rPr lang="en-GB" sz="1800" b="0" i="0" u="none" strike="noStrike">
                          <a:solidFill>
                            <a:srgbClr val="000000"/>
                          </a:solidFill>
                          <a:effectLst/>
                          <a:latin typeface="Calibri" panose="020F0502020204030204" pitchFamily="34" charset="0"/>
                        </a:rPr>
                        <a:t>CNN + Transformer</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b">
                        <a:buNone/>
                      </a:pPr>
                      <a:r>
                        <a:rPr lang="en-GB" sz="1800" b="0" i="0" u="none" strike="noStrike">
                          <a:solidFill>
                            <a:srgbClr val="000000"/>
                          </a:solidFill>
                          <a:effectLst/>
                          <a:latin typeface="Calibri" panose="020F0502020204030204" pitchFamily="34" charset="0"/>
                        </a:rPr>
                        <a:t> </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b">
                        <a:buNone/>
                      </a:pPr>
                      <a:r>
                        <a:rPr lang="en-GB" sz="1800" b="0" i="0" u="none" strike="noStrike">
                          <a:solidFill>
                            <a:srgbClr val="000000"/>
                          </a:solidFill>
                          <a:effectLst/>
                          <a:latin typeface="Calibri" panose="020F0502020204030204" pitchFamily="34" charset="0"/>
                        </a:rPr>
                        <a:t> </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b">
                        <a:buNone/>
                      </a:pPr>
                      <a:r>
                        <a:rPr lang="en-GB" sz="1800" b="0" i="0" u="none" strike="noStrike" dirty="0">
                          <a:solidFill>
                            <a:srgbClr val="000000"/>
                          </a:solidFill>
                          <a:effectLst/>
                          <a:latin typeface="Calibri" panose="020F0502020204030204" pitchFamily="34" charset="0"/>
                        </a:rPr>
                        <a:t>44.18</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b">
                        <a:buNone/>
                      </a:pPr>
                      <a:r>
                        <a:rPr lang="en-GB" sz="1800" b="0" i="0" u="none" strike="noStrike" dirty="0">
                          <a:solidFill>
                            <a:srgbClr val="000000"/>
                          </a:solidFill>
                          <a:effectLst/>
                          <a:latin typeface="Calibri" panose="020F0502020204030204" pitchFamily="34" charset="0"/>
                        </a:rPr>
                        <a:t>368.73</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b">
                        <a:buNone/>
                      </a:pPr>
                      <a:r>
                        <a:rPr lang="en-GB" sz="1800" b="0" i="0" u="none" strike="noStrike" dirty="0">
                          <a:solidFill>
                            <a:srgbClr val="000000"/>
                          </a:solidFill>
                          <a:effectLst/>
                          <a:latin typeface="Calibri" panose="020F0502020204030204" pitchFamily="34" charset="0"/>
                        </a:rPr>
                        <a:t>15.05</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b">
                        <a:buNone/>
                      </a:pPr>
                      <a:r>
                        <a:rPr lang="en-GB" sz="1800" b="0" i="0" u="none" strike="noStrike" dirty="0">
                          <a:solidFill>
                            <a:srgbClr val="000000"/>
                          </a:solidFill>
                          <a:effectLst/>
                          <a:latin typeface="Calibri" panose="020F0502020204030204" pitchFamily="34" charset="0"/>
                        </a:rPr>
                        <a:t>11.88</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b">
                        <a:buNone/>
                      </a:pPr>
                      <a:r>
                        <a:rPr lang="en-GB" sz="1800" b="0" i="0" u="none" strike="noStrike">
                          <a:solidFill>
                            <a:srgbClr val="000000"/>
                          </a:solidFill>
                          <a:effectLst/>
                          <a:latin typeface="Calibri" panose="020F0502020204030204" pitchFamily="34" charset="0"/>
                        </a:rPr>
                        <a:t>54.41</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436092425"/>
                  </a:ext>
                </a:extLst>
              </a:tr>
              <a:tr h="280775">
                <a:tc>
                  <a:txBody>
                    <a:bodyPr/>
                    <a:lstStyle/>
                    <a:p>
                      <a:pPr algn="l" fontAlgn="b">
                        <a:buNone/>
                      </a:pPr>
                      <a:r>
                        <a:rPr lang="en-GB" sz="1800" b="0" i="0" u="none" strike="noStrike">
                          <a:solidFill>
                            <a:srgbClr val="000000"/>
                          </a:solidFill>
                          <a:effectLst/>
                          <a:latin typeface="Calibri" panose="020F0502020204030204" pitchFamily="34" charset="0"/>
                        </a:rPr>
                        <a:t>CNN + Deep Transformer</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b">
                        <a:buNone/>
                      </a:pPr>
                      <a:r>
                        <a:rPr lang="en-GB" sz="1800" b="0" i="0" u="none" strike="noStrike">
                          <a:solidFill>
                            <a:srgbClr val="000000"/>
                          </a:solidFill>
                          <a:effectLst/>
                          <a:latin typeface="Calibri" panose="020F0502020204030204" pitchFamily="34" charset="0"/>
                        </a:rPr>
                        <a:t> </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b">
                        <a:buNone/>
                      </a:pPr>
                      <a:r>
                        <a:rPr lang="en-GB" sz="1800" b="0" i="0" u="none" strike="noStrike">
                          <a:solidFill>
                            <a:srgbClr val="000000"/>
                          </a:solidFill>
                          <a:effectLst/>
                          <a:latin typeface="Calibri" panose="020F0502020204030204" pitchFamily="34" charset="0"/>
                        </a:rPr>
                        <a:t> </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b">
                        <a:buNone/>
                      </a:pPr>
                      <a:r>
                        <a:rPr lang="en-GB" sz="1800" b="0" i="0" u="none" strike="noStrike">
                          <a:solidFill>
                            <a:srgbClr val="000000"/>
                          </a:solidFill>
                          <a:effectLst/>
                          <a:latin typeface="Calibri" panose="020F0502020204030204" pitchFamily="34" charset="0"/>
                        </a:rPr>
                        <a:t>50.66</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b">
                        <a:buNone/>
                      </a:pPr>
                      <a:r>
                        <a:rPr lang="en-GB" sz="1800" b="0" i="0" u="none" strike="noStrike">
                          <a:solidFill>
                            <a:srgbClr val="000000"/>
                          </a:solidFill>
                          <a:effectLst/>
                          <a:latin typeface="Calibri" panose="020F0502020204030204" pitchFamily="34" charset="0"/>
                        </a:rPr>
                        <a:t>294.75</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b">
                        <a:buNone/>
                      </a:pPr>
                      <a:r>
                        <a:rPr lang="en-GB" sz="1800" b="0" i="0" u="none" strike="noStrike" dirty="0">
                          <a:solidFill>
                            <a:srgbClr val="000000"/>
                          </a:solidFill>
                          <a:effectLst/>
                          <a:latin typeface="Calibri" panose="020F0502020204030204" pitchFamily="34" charset="0"/>
                        </a:rPr>
                        <a:t>13.36</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b">
                        <a:buNone/>
                      </a:pPr>
                      <a:r>
                        <a:rPr lang="en-GB" sz="1800" b="0" i="0" u="none" strike="noStrike" dirty="0">
                          <a:solidFill>
                            <a:srgbClr val="000000"/>
                          </a:solidFill>
                          <a:effectLst/>
                          <a:latin typeface="Calibri" panose="020F0502020204030204" pitchFamily="34" charset="0"/>
                        </a:rPr>
                        <a:t>10.59</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b">
                        <a:buNone/>
                      </a:pPr>
                      <a:r>
                        <a:rPr lang="en-GB" sz="1800" b="0" i="0" u="none" strike="noStrike">
                          <a:solidFill>
                            <a:srgbClr val="000000"/>
                          </a:solidFill>
                          <a:effectLst/>
                          <a:latin typeface="Calibri" panose="020F0502020204030204" pitchFamily="34" charset="0"/>
                        </a:rPr>
                        <a:t>73.38</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058829327"/>
                  </a:ext>
                </a:extLst>
              </a:tr>
              <a:tr h="294815">
                <a:tc>
                  <a:txBody>
                    <a:bodyPr/>
                    <a:lstStyle/>
                    <a:p>
                      <a:pPr algn="l" fontAlgn="b">
                        <a:buNone/>
                      </a:pPr>
                      <a:endParaRPr lang="en-GB" sz="1800" b="0" i="0" u="none" strike="noStrike">
                        <a:solidFill>
                          <a:srgbClr val="000000"/>
                        </a:solidFill>
                        <a:effectLst/>
                        <a:latin typeface="Calibri" panose="020F0502020204030204" pitchFamily="34" charset="0"/>
                      </a:endParaRPr>
                    </a:p>
                  </a:txBody>
                  <a:tcPr marL="9525" marR="9525" marT="9525" marB="0" anchor="b">
                    <a:lnL>
                      <a:noFill/>
                    </a:lnL>
                    <a:lnR>
                      <a:noFill/>
                    </a:lnR>
                    <a:lnT w="63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l" fontAlgn="b">
                        <a:buNone/>
                      </a:pPr>
                      <a:endParaRPr lang="en-GB" sz="1800" b="0" i="0" u="none" strike="noStrike">
                        <a:solidFill>
                          <a:srgbClr val="000000"/>
                        </a:solidFill>
                        <a:effectLst/>
                        <a:latin typeface="Calibri" panose="020F0502020204030204" pitchFamily="34" charset="0"/>
                      </a:endParaRPr>
                    </a:p>
                  </a:txBody>
                  <a:tcPr marL="9525" marR="9525" marT="9525" marB="0" anchor="b">
                    <a:lnL>
                      <a:noFill/>
                    </a:lnL>
                    <a:lnR>
                      <a:noFill/>
                    </a:lnR>
                    <a:lnT w="63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l" fontAlgn="b">
                        <a:buNone/>
                      </a:pPr>
                      <a:endParaRPr lang="en-GB" sz="1800" b="0" i="0" u="none" strike="noStrike">
                        <a:solidFill>
                          <a:srgbClr val="000000"/>
                        </a:solidFill>
                        <a:effectLst/>
                        <a:latin typeface="Calibri" panose="020F0502020204030204" pitchFamily="34" charset="0"/>
                      </a:endParaRPr>
                    </a:p>
                  </a:txBody>
                  <a:tcPr marL="9525" marR="9525" marT="9525" marB="0" anchor="b">
                    <a:lnL>
                      <a:noFill/>
                    </a:lnL>
                    <a:lnR>
                      <a:noFill/>
                    </a:lnR>
                    <a:lnT w="63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l" fontAlgn="b">
                        <a:buNone/>
                      </a:pPr>
                      <a:endParaRPr lang="en-GB" sz="1800" b="0" i="0" u="none" strike="noStrike">
                        <a:solidFill>
                          <a:srgbClr val="000000"/>
                        </a:solidFill>
                        <a:effectLst/>
                        <a:latin typeface="Calibri" panose="020F0502020204030204" pitchFamily="34" charset="0"/>
                      </a:endParaRPr>
                    </a:p>
                  </a:txBody>
                  <a:tcPr marL="9525" marR="9525" marT="9525" marB="0" anchor="b">
                    <a:lnL>
                      <a:noFill/>
                    </a:lnL>
                    <a:lnR>
                      <a:noFill/>
                    </a:lnR>
                    <a:lnT w="63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l" fontAlgn="b">
                        <a:buNone/>
                      </a:pPr>
                      <a:endParaRPr lang="en-GB" sz="1800" b="0" i="0" u="none" strike="noStrike">
                        <a:solidFill>
                          <a:srgbClr val="000000"/>
                        </a:solidFill>
                        <a:effectLst/>
                        <a:latin typeface="Calibri" panose="020F0502020204030204" pitchFamily="34" charset="0"/>
                      </a:endParaRPr>
                    </a:p>
                  </a:txBody>
                  <a:tcPr marL="9525" marR="9525" marT="9525" marB="0" anchor="b">
                    <a:lnL>
                      <a:noFill/>
                    </a:lnL>
                    <a:lnR>
                      <a:noFill/>
                    </a:lnR>
                    <a:lnT w="63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l" fontAlgn="b">
                        <a:buNone/>
                      </a:pPr>
                      <a:endParaRPr lang="en-GB" sz="1800" b="0" i="0" u="none" strike="noStrike">
                        <a:solidFill>
                          <a:srgbClr val="000000"/>
                        </a:solidFill>
                        <a:effectLst/>
                        <a:latin typeface="Calibri" panose="020F0502020204030204" pitchFamily="34" charset="0"/>
                      </a:endParaRPr>
                    </a:p>
                  </a:txBody>
                  <a:tcPr marL="9525" marR="9525" marT="9525" marB="0" anchor="b">
                    <a:lnL>
                      <a:noFill/>
                    </a:lnL>
                    <a:lnR>
                      <a:noFill/>
                    </a:lnR>
                    <a:lnT w="63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l" fontAlgn="b">
                        <a:buNone/>
                      </a:pPr>
                      <a:endParaRPr lang="en-GB" sz="1800" b="0" i="0" u="none" strike="noStrike" dirty="0">
                        <a:solidFill>
                          <a:srgbClr val="000000"/>
                        </a:solidFill>
                        <a:effectLst/>
                        <a:latin typeface="Calibri" panose="020F0502020204030204" pitchFamily="34" charset="0"/>
                      </a:endParaRPr>
                    </a:p>
                  </a:txBody>
                  <a:tcPr marL="9525" marR="9525" marT="9525" marB="0" anchor="b">
                    <a:lnL>
                      <a:noFill/>
                    </a:lnL>
                    <a:lnR>
                      <a:noFill/>
                    </a:lnR>
                    <a:lnT w="63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l" fontAlgn="b">
                        <a:buNone/>
                      </a:pPr>
                      <a:endParaRPr lang="en-GB" sz="1800" b="0" i="0" u="none" strike="noStrike">
                        <a:solidFill>
                          <a:srgbClr val="000000"/>
                        </a:solidFill>
                        <a:effectLst/>
                        <a:latin typeface="Calibri" panose="020F0502020204030204" pitchFamily="34" charset="0"/>
                      </a:endParaRPr>
                    </a:p>
                  </a:txBody>
                  <a:tcPr marL="9525" marR="9525" marT="9525" marB="0" anchor="b">
                    <a:lnL>
                      <a:noFill/>
                    </a:lnL>
                    <a:lnR>
                      <a:noFill/>
                    </a:lnR>
                    <a:lnT w="63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866828331"/>
                  </a:ext>
                </a:extLst>
              </a:tr>
              <a:tr h="508204">
                <a:tc>
                  <a:txBody>
                    <a:bodyPr/>
                    <a:lstStyle/>
                    <a:p>
                      <a:pPr algn="l" fontAlgn="b">
                        <a:buNone/>
                      </a:pPr>
                      <a:r>
                        <a:rPr lang="en-GB" sz="1800" b="0" i="0" u="none" strike="noStrike" dirty="0">
                          <a:solidFill>
                            <a:srgbClr val="FFFFFF"/>
                          </a:solidFill>
                          <a:effectLst/>
                          <a:latin typeface="Calibri" panose="020F0502020204030204" pitchFamily="34" charset="0"/>
                        </a:rPr>
                        <a:t>Baseline Model – Predicting ESG scores</a:t>
                      </a:r>
                    </a:p>
                  </a:txBody>
                  <a:tcPr marL="9525" marR="9525" marT="9525" marB="0" anchor="b">
                    <a:lnL w="12700" cap="flat" cmpd="sng" algn="ctr">
                      <a:solidFill>
                        <a:srgbClr val="000000"/>
                      </a:solidFill>
                      <a:prstDash val="solid"/>
                      <a:round/>
                      <a:headEnd type="none" w="med" len="med"/>
                      <a:tailEnd type="none" w="med" len="med"/>
                    </a:lnL>
                    <a:lnR>
                      <a:noFill/>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0000"/>
                    </a:solidFill>
                  </a:tcPr>
                </a:tc>
                <a:tc>
                  <a:txBody>
                    <a:bodyPr/>
                    <a:lstStyle/>
                    <a:p>
                      <a:pPr algn="l" fontAlgn="b">
                        <a:buNone/>
                      </a:pPr>
                      <a:r>
                        <a:rPr lang="en-GB" sz="1800" b="1" i="0" u="none" strike="noStrike" dirty="0">
                          <a:solidFill>
                            <a:srgbClr val="000000"/>
                          </a:solidFill>
                          <a:effectLst/>
                          <a:latin typeface="Calibri" panose="020F0502020204030204" pitchFamily="34" charset="0"/>
                        </a:rPr>
                        <a:t>Accuracy (%)</a:t>
                      </a:r>
                    </a:p>
                  </a:txBody>
                  <a:tcPr marL="9525" marR="9525" marT="9525" marB="0" anchor="b">
                    <a:lnL>
                      <a:noFill/>
                    </a:lnL>
                    <a:lnR>
                      <a:noFill/>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b">
                        <a:buNone/>
                      </a:pPr>
                      <a:r>
                        <a:rPr lang="en-GB" sz="1800" b="0" i="0" u="none" strike="noStrike">
                          <a:solidFill>
                            <a:srgbClr val="000000"/>
                          </a:solidFill>
                          <a:effectLst/>
                          <a:latin typeface="Calibri" panose="020F0502020204030204" pitchFamily="34" charset="0"/>
                        </a:rPr>
                        <a:t> </a:t>
                      </a:r>
                    </a:p>
                  </a:txBody>
                  <a:tcPr marL="9525" marR="9525" marT="9525" marB="0" anchor="b">
                    <a:lnL>
                      <a:noFill/>
                    </a:lnL>
                    <a:lnR>
                      <a:noFill/>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b">
                        <a:buNone/>
                      </a:pPr>
                      <a:r>
                        <a:rPr lang="en-GB" sz="1800" b="1" i="0" u="none" strike="noStrike" dirty="0">
                          <a:solidFill>
                            <a:srgbClr val="000000"/>
                          </a:solidFill>
                          <a:effectLst/>
                          <a:latin typeface="Calibri" panose="020F0502020204030204" pitchFamily="34" charset="0"/>
                        </a:rPr>
                        <a:t>MAPE</a:t>
                      </a:r>
                    </a:p>
                  </a:txBody>
                  <a:tcPr marL="9525" marR="9525" marT="9525" marB="0" anchor="b">
                    <a:lnL>
                      <a:noFill/>
                    </a:lnL>
                    <a:lnR>
                      <a:noFill/>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b">
                        <a:buNone/>
                      </a:pPr>
                      <a:r>
                        <a:rPr lang="en-GB" sz="1800" b="1" i="0" u="none" strike="noStrike">
                          <a:solidFill>
                            <a:srgbClr val="000000"/>
                          </a:solidFill>
                          <a:effectLst/>
                          <a:latin typeface="Calibri" panose="020F0502020204030204" pitchFamily="34" charset="0"/>
                        </a:rPr>
                        <a:t>MSE</a:t>
                      </a:r>
                    </a:p>
                  </a:txBody>
                  <a:tcPr marL="9525" marR="9525" marT="9525" marB="0" anchor="b">
                    <a:lnL>
                      <a:noFill/>
                    </a:lnL>
                    <a:lnR>
                      <a:noFill/>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b">
                        <a:buNone/>
                      </a:pPr>
                      <a:r>
                        <a:rPr lang="en-GB" sz="1800" b="1" i="0" u="none" strike="noStrike">
                          <a:solidFill>
                            <a:srgbClr val="000000"/>
                          </a:solidFill>
                          <a:effectLst/>
                          <a:latin typeface="Calibri" panose="020F0502020204030204" pitchFamily="34" charset="0"/>
                        </a:rPr>
                        <a:t>Mean Abs Diff</a:t>
                      </a:r>
                    </a:p>
                  </a:txBody>
                  <a:tcPr marL="9525" marR="9525" marT="9525" marB="0" anchor="b">
                    <a:lnL>
                      <a:noFill/>
                    </a:lnL>
                    <a:lnR>
                      <a:noFill/>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b">
                        <a:buNone/>
                      </a:pPr>
                      <a:r>
                        <a:rPr lang="en-GB" sz="1800" b="1" i="0" u="none" strike="noStrike" dirty="0">
                          <a:solidFill>
                            <a:srgbClr val="000000"/>
                          </a:solidFill>
                          <a:effectLst/>
                          <a:latin typeface="Calibri" panose="020F0502020204030204" pitchFamily="34" charset="0"/>
                        </a:rPr>
                        <a:t>Std Dev</a:t>
                      </a:r>
                    </a:p>
                  </a:txBody>
                  <a:tcPr marL="9525" marR="9525" marT="9525" marB="0" anchor="b">
                    <a:lnL>
                      <a:noFill/>
                    </a:lnL>
                    <a:lnR>
                      <a:noFill/>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b">
                        <a:buNone/>
                      </a:pPr>
                      <a:r>
                        <a:rPr lang="en-GB" sz="1800" b="1" i="0" u="none" strike="noStrike" dirty="0">
                          <a:solidFill>
                            <a:srgbClr val="000000"/>
                          </a:solidFill>
                          <a:effectLst/>
                          <a:latin typeface="Calibri" panose="020F0502020204030204" pitchFamily="34" charset="0"/>
                        </a:rPr>
                        <a:t>Max Diff</a:t>
                      </a:r>
                    </a:p>
                  </a:txBody>
                  <a:tcPr marL="9525" marR="9525" marT="9525" marB="0" anchor="b">
                    <a:lnL>
                      <a:noFill/>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925031119"/>
                  </a:ext>
                </a:extLst>
              </a:tr>
              <a:tr h="280775">
                <a:tc>
                  <a:txBody>
                    <a:bodyPr/>
                    <a:lstStyle/>
                    <a:p>
                      <a:pPr algn="l" fontAlgn="b">
                        <a:buNone/>
                      </a:pPr>
                      <a:r>
                        <a:rPr lang="en-GB" sz="1800" b="0" i="0" u="none" strike="noStrike">
                          <a:solidFill>
                            <a:srgbClr val="000000"/>
                          </a:solidFill>
                          <a:effectLst/>
                          <a:latin typeface="Calibri" panose="020F0502020204030204" pitchFamily="34" charset="0"/>
                        </a:rPr>
                        <a:t>Mean Asset4 Rating</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b">
                        <a:buNone/>
                      </a:pPr>
                      <a:r>
                        <a:rPr lang="en-GB" sz="1800" b="0" i="0" u="none" strike="noStrike" dirty="0">
                          <a:solidFill>
                            <a:srgbClr val="000000"/>
                          </a:solidFill>
                          <a:effectLst/>
                          <a:latin typeface="Calibri" panose="020F0502020204030204" pitchFamily="34" charset="0"/>
                        </a:rPr>
                        <a:t>2.2</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b">
                        <a:buNone/>
                      </a:pPr>
                      <a:r>
                        <a:rPr lang="en-GB" sz="1800" b="0" i="0" u="none" strike="noStrike">
                          <a:solidFill>
                            <a:srgbClr val="000000"/>
                          </a:solidFill>
                          <a:effectLst/>
                          <a:latin typeface="Calibri" panose="020F0502020204030204" pitchFamily="34" charset="0"/>
                        </a:rPr>
                        <a:t> </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b">
                        <a:buNone/>
                      </a:pPr>
                      <a:r>
                        <a:rPr lang="en-GB" sz="1800" b="0" i="0" u="none" strike="noStrike" dirty="0">
                          <a:solidFill>
                            <a:srgbClr val="000000"/>
                          </a:solidFill>
                          <a:effectLst/>
                          <a:latin typeface="Calibri" panose="020F0502020204030204" pitchFamily="34" charset="0"/>
                        </a:rPr>
                        <a:t>43.64</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b">
                        <a:buNone/>
                      </a:pPr>
                      <a:r>
                        <a:rPr lang="en-GB" sz="1800" b="0" i="0" u="none" strike="noStrike" dirty="0">
                          <a:solidFill>
                            <a:srgbClr val="000000"/>
                          </a:solidFill>
                          <a:effectLst/>
                          <a:latin typeface="Calibri" panose="020F0502020204030204" pitchFamily="34" charset="0"/>
                        </a:rPr>
                        <a:t>365.63</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b">
                        <a:buNone/>
                      </a:pPr>
                      <a:r>
                        <a:rPr lang="en-GB" sz="1800" b="0" i="0" u="none" strike="noStrike" dirty="0">
                          <a:solidFill>
                            <a:srgbClr val="000000"/>
                          </a:solidFill>
                          <a:effectLst/>
                          <a:latin typeface="Calibri" panose="020F0502020204030204" pitchFamily="34" charset="0"/>
                        </a:rPr>
                        <a:t>14.79</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b">
                        <a:buNone/>
                      </a:pPr>
                      <a:r>
                        <a:rPr lang="en-GB" sz="1800" b="0" i="0" u="none" strike="noStrike">
                          <a:solidFill>
                            <a:srgbClr val="000000"/>
                          </a:solidFill>
                          <a:effectLst/>
                          <a:latin typeface="Calibri" panose="020F0502020204030204" pitchFamily="34" charset="0"/>
                        </a:rPr>
                        <a:t>12.02</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b">
                        <a:buNone/>
                      </a:pPr>
                      <a:r>
                        <a:rPr lang="en-GB" sz="1800" b="0" i="0" u="none" strike="noStrike" dirty="0">
                          <a:solidFill>
                            <a:srgbClr val="000000"/>
                          </a:solidFill>
                          <a:effectLst/>
                          <a:latin typeface="Calibri" panose="020F0502020204030204" pitchFamily="34" charset="0"/>
                        </a:rPr>
                        <a:t>55.94</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151496636"/>
                  </a:ext>
                </a:extLst>
              </a:tr>
              <a:tr h="280775">
                <a:tc>
                  <a:txBody>
                    <a:bodyPr/>
                    <a:lstStyle/>
                    <a:p>
                      <a:pPr algn="l" fontAlgn="b">
                        <a:buNone/>
                      </a:pPr>
                      <a:r>
                        <a:rPr lang="en-GB" sz="1800" b="0" i="0" u="none" strike="noStrike" dirty="0">
                          <a:solidFill>
                            <a:srgbClr val="000000"/>
                          </a:solidFill>
                          <a:effectLst/>
                          <a:latin typeface="Calibri" panose="020F0502020204030204" pitchFamily="34" charset="0"/>
                        </a:rPr>
                        <a:t>Random Selection</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b">
                        <a:buNone/>
                      </a:pPr>
                      <a:r>
                        <a:rPr lang="en-GB" sz="1800" b="0" i="0" u="none" strike="noStrike">
                          <a:solidFill>
                            <a:srgbClr val="000000"/>
                          </a:solidFill>
                          <a:effectLst/>
                          <a:latin typeface="Calibri" panose="020F0502020204030204" pitchFamily="34" charset="0"/>
                        </a:rPr>
                        <a:t>0.9</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b">
                        <a:buNone/>
                      </a:pPr>
                      <a:r>
                        <a:rPr lang="en-GB" sz="1800" b="0" i="0" u="none" strike="noStrike">
                          <a:solidFill>
                            <a:srgbClr val="000000"/>
                          </a:solidFill>
                          <a:effectLst/>
                          <a:latin typeface="Calibri" panose="020F0502020204030204" pitchFamily="34" charset="0"/>
                        </a:rPr>
                        <a:t> </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b">
                        <a:buNone/>
                      </a:pPr>
                      <a:r>
                        <a:rPr lang="en-GB" sz="1800" b="0" i="0" u="none" strike="noStrike">
                          <a:solidFill>
                            <a:srgbClr val="000000"/>
                          </a:solidFill>
                          <a:effectLst/>
                          <a:latin typeface="Calibri" panose="020F0502020204030204" pitchFamily="34" charset="0"/>
                        </a:rPr>
                        <a:t>102.79</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b">
                        <a:buNone/>
                      </a:pPr>
                      <a:r>
                        <a:rPr lang="en-GB" sz="1800" b="0" i="0" u="none" strike="noStrike">
                          <a:solidFill>
                            <a:srgbClr val="000000"/>
                          </a:solidFill>
                          <a:effectLst/>
                          <a:latin typeface="Calibri" panose="020F0502020204030204" pitchFamily="34" charset="0"/>
                        </a:rPr>
                        <a:t>1167.99</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b">
                        <a:buNone/>
                      </a:pPr>
                      <a:r>
                        <a:rPr lang="en-GB" sz="1800" b="1" i="0" u="none" strike="noStrike" dirty="0">
                          <a:solidFill>
                            <a:srgbClr val="000000"/>
                          </a:solidFill>
                          <a:effectLst/>
                          <a:latin typeface="Calibri" panose="020F0502020204030204" pitchFamily="34" charset="0"/>
                        </a:rPr>
                        <a:t>28.1</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b">
                        <a:buNone/>
                      </a:pPr>
                      <a:r>
                        <a:rPr lang="en-GB" sz="1800" b="0" i="0" u="none" strike="noStrike">
                          <a:solidFill>
                            <a:srgbClr val="000000"/>
                          </a:solidFill>
                          <a:effectLst/>
                          <a:latin typeface="Calibri" panose="020F0502020204030204" pitchFamily="34" charset="0"/>
                        </a:rPr>
                        <a:t>19.48</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b">
                        <a:buNone/>
                      </a:pPr>
                      <a:r>
                        <a:rPr lang="en-GB" sz="1800" b="0" i="0" u="none" strike="noStrike" dirty="0">
                          <a:solidFill>
                            <a:srgbClr val="000000"/>
                          </a:solidFill>
                          <a:effectLst/>
                          <a:latin typeface="Calibri" panose="020F0502020204030204" pitchFamily="34" charset="0"/>
                        </a:rPr>
                        <a:t>83.8</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748603504"/>
                  </a:ext>
                </a:extLst>
              </a:tr>
              <a:tr h="280775">
                <a:tc>
                  <a:txBody>
                    <a:bodyPr/>
                    <a:lstStyle/>
                    <a:p>
                      <a:pPr algn="l" fontAlgn="b">
                        <a:buNone/>
                      </a:pPr>
                      <a:r>
                        <a:rPr lang="en-GB" sz="1800" b="0" i="0" u="none" strike="noStrike" dirty="0">
                          <a:solidFill>
                            <a:srgbClr val="000000"/>
                          </a:solidFill>
                          <a:effectLst/>
                          <a:latin typeface="Calibri" panose="020F0502020204030204" pitchFamily="34" charset="0"/>
                        </a:rPr>
                        <a:t>Sokolov et al. [20]</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b">
                        <a:buNone/>
                      </a:pPr>
                      <a:r>
                        <a:rPr lang="en-GB" sz="1800" b="0" i="0" u="none" strike="noStrike">
                          <a:solidFill>
                            <a:srgbClr val="000000"/>
                          </a:solidFill>
                          <a:effectLst/>
                          <a:latin typeface="Calibri" panose="020F0502020204030204" pitchFamily="34" charset="0"/>
                        </a:rPr>
                        <a:t>0.5</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b">
                        <a:buNone/>
                      </a:pPr>
                      <a:r>
                        <a:rPr lang="en-GB" sz="1800" b="0" i="0" u="none" strike="noStrike">
                          <a:solidFill>
                            <a:srgbClr val="000000"/>
                          </a:solidFill>
                          <a:effectLst/>
                          <a:latin typeface="Calibri" panose="020F0502020204030204" pitchFamily="34" charset="0"/>
                        </a:rPr>
                        <a:t> </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b">
                        <a:buNone/>
                      </a:pPr>
                      <a:r>
                        <a:rPr lang="en-GB" sz="1800" b="0" i="0" u="none" strike="noStrike">
                          <a:solidFill>
                            <a:srgbClr val="000000"/>
                          </a:solidFill>
                          <a:effectLst/>
                          <a:latin typeface="Calibri" panose="020F0502020204030204" pitchFamily="34" charset="0"/>
                        </a:rPr>
                        <a:t>176.27</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b">
                        <a:buNone/>
                      </a:pPr>
                      <a:r>
                        <a:rPr lang="en-GB" sz="1800" b="0" i="0" u="none" strike="noStrike">
                          <a:solidFill>
                            <a:srgbClr val="000000"/>
                          </a:solidFill>
                          <a:effectLst/>
                          <a:latin typeface="Calibri" panose="020F0502020204030204" pitchFamily="34" charset="0"/>
                        </a:rPr>
                        <a:t>2108.27</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b">
                        <a:buNone/>
                      </a:pPr>
                      <a:r>
                        <a:rPr lang="en-GB" sz="1800" b="1" i="0" u="none" strike="noStrike" dirty="0">
                          <a:solidFill>
                            <a:srgbClr val="000000"/>
                          </a:solidFill>
                          <a:effectLst/>
                          <a:latin typeface="Calibri" panose="020F0502020204030204" pitchFamily="34" charset="0"/>
                        </a:rPr>
                        <a:t>41.46</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b">
                        <a:buNone/>
                      </a:pPr>
                      <a:r>
                        <a:rPr lang="en-GB" sz="1800" b="0" i="0" u="none" strike="noStrike">
                          <a:solidFill>
                            <a:srgbClr val="000000"/>
                          </a:solidFill>
                          <a:effectLst/>
                          <a:latin typeface="Calibri" panose="020F0502020204030204" pitchFamily="34" charset="0"/>
                        </a:rPr>
                        <a:t>19.74</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b">
                        <a:buNone/>
                      </a:pPr>
                      <a:r>
                        <a:rPr lang="en-GB" sz="1800" b="0" i="0" u="none" strike="noStrike" dirty="0">
                          <a:solidFill>
                            <a:srgbClr val="000000"/>
                          </a:solidFill>
                          <a:effectLst/>
                          <a:latin typeface="Calibri" panose="020F0502020204030204" pitchFamily="34" charset="0"/>
                        </a:rPr>
                        <a:t>89.89</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192863812"/>
                  </a:ext>
                </a:extLst>
              </a:tr>
            </a:tbl>
          </a:graphicData>
        </a:graphic>
      </p:graphicFrame>
    </p:spTree>
    <p:extLst>
      <p:ext uri="{BB962C8B-B14F-4D97-AF65-F5344CB8AC3E}">
        <p14:creationId xmlns:p14="http://schemas.microsoft.com/office/powerpoint/2010/main" val="3788050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07EFA9-C4B9-525E-CC52-13557E8770B3}"/>
              </a:ext>
            </a:extLst>
          </p:cNvPr>
          <p:cNvSpPr>
            <a:spLocks noGrp="1"/>
          </p:cNvSpPr>
          <p:nvPr>
            <p:ph type="title"/>
          </p:nvPr>
        </p:nvSpPr>
        <p:spPr>
          <a:xfrm>
            <a:off x="677334" y="609600"/>
            <a:ext cx="8596668" cy="846221"/>
          </a:xfrm>
        </p:spPr>
        <p:txBody>
          <a:bodyPr/>
          <a:lstStyle/>
          <a:p>
            <a:r>
              <a:rPr lang="en-GB" dirty="0">
                <a:solidFill>
                  <a:schemeClr val="tx1"/>
                </a:solidFill>
              </a:rPr>
              <a:t>Result and Conclusions</a:t>
            </a:r>
          </a:p>
        </p:txBody>
      </p:sp>
      <p:sp>
        <p:nvSpPr>
          <p:cNvPr id="3" name="Content Placeholder 2">
            <a:extLst>
              <a:ext uri="{FF2B5EF4-FFF2-40B4-BE49-F238E27FC236}">
                <a16:creationId xmlns:a16="http://schemas.microsoft.com/office/drawing/2014/main" id="{C2B7549F-47A3-D3D0-C7D8-510B76C39B3F}"/>
              </a:ext>
            </a:extLst>
          </p:cNvPr>
          <p:cNvSpPr>
            <a:spLocks noGrp="1"/>
          </p:cNvSpPr>
          <p:nvPr>
            <p:ph idx="1"/>
          </p:nvPr>
        </p:nvSpPr>
        <p:spPr/>
        <p:txBody>
          <a:bodyPr>
            <a:normAutofit lnSpcReduction="10000"/>
          </a:bodyPr>
          <a:lstStyle/>
          <a:p>
            <a:r>
              <a:rPr lang="en-GB" dirty="0"/>
              <a:t>Deep CNN</a:t>
            </a:r>
          </a:p>
          <a:p>
            <a:pPr lvl="1"/>
            <a:r>
              <a:rPr lang="en-GB" dirty="0"/>
              <a:t>Lower </a:t>
            </a:r>
          </a:p>
          <a:p>
            <a:r>
              <a:rPr lang="en-GB" dirty="0"/>
              <a:t>CNN + Transformer</a:t>
            </a:r>
          </a:p>
          <a:p>
            <a:pPr lvl="1"/>
            <a:r>
              <a:rPr lang="en-GB" dirty="0"/>
              <a:t>Lower </a:t>
            </a:r>
            <a:r>
              <a:rPr lang="en-GB" dirty="0" err="1"/>
              <a:t>mAPE</a:t>
            </a:r>
            <a:r>
              <a:rPr lang="en-GB" dirty="0"/>
              <a:t> but higher MSE =&gt; good </a:t>
            </a:r>
            <a:r>
              <a:rPr lang="en-GB" dirty="0" err="1"/>
              <a:t>avg</a:t>
            </a:r>
            <a:r>
              <a:rPr lang="en-GB" dirty="0"/>
              <a:t> accuracy but some large errors</a:t>
            </a:r>
          </a:p>
          <a:p>
            <a:r>
              <a:rPr lang="en-GB" dirty="0"/>
              <a:t>Baselines</a:t>
            </a:r>
          </a:p>
          <a:p>
            <a:pPr lvl="1"/>
            <a:r>
              <a:rPr lang="en-GB" dirty="0"/>
              <a:t>Very High MAPE and MSE =&gt; poor predictive performance</a:t>
            </a:r>
          </a:p>
          <a:p>
            <a:r>
              <a:rPr lang="en-GB" dirty="0"/>
              <a:t>classification model accuracy is relatively low due to the challenging nature of predicting the correct rating out of 100 classes, and results vary significantly depending on the train-test split.</a:t>
            </a:r>
          </a:p>
          <a:p>
            <a:r>
              <a:rPr lang="en-GB" dirty="0"/>
              <a:t>top-performing deep CNN, the basic CNN and deep Transformer regression models show strong performance in 2020.</a:t>
            </a:r>
          </a:p>
          <a:p>
            <a:pPr lvl="1"/>
            <a:endParaRPr lang="en-GB" dirty="0"/>
          </a:p>
        </p:txBody>
      </p:sp>
    </p:spTree>
    <p:extLst>
      <p:ext uri="{BB962C8B-B14F-4D97-AF65-F5344CB8AC3E}">
        <p14:creationId xmlns:p14="http://schemas.microsoft.com/office/powerpoint/2010/main" val="382827995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50643F-31DC-8941-B1B4-FD3D227D74BB}"/>
              </a:ext>
            </a:extLst>
          </p:cNvPr>
          <p:cNvSpPr>
            <a:spLocks noGrp="1"/>
          </p:cNvSpPr>
          <p:nvPr>
            <p:ph type="title"/>
          </p:nvPr>
        </p:nvSpPr>
        <p:spPr>
          <a:xfrm>
            <a:off x="116151" y="284114"/>
            <a:ext cx="2783460" cy="2699718"/>
          </a:xfrm>
          <a:prstGeom prst="ellipse">
            <a:avLst/>
          </a:prstGeom>
          <a:solidFill>
            <a:srgbClr val="262626"/>
          </a:solidFill>
          <a:ln w="174625" cmpd="thinThick">
            <a:solidFill>
              <a:srgbClr val="262626"/>
            </a:solidFill>
          </a:ln>
        </p:spPr>
        <p:txBody>
          <a:bodyPr>
            <a:normAutofit/>
          </a:bodyPr>
          <a:lstStyle/>
          <a:p>
            <a:pPr algn="ctr"/>
            <a:r>
              <a:rPr lang="en-US" sz="2600" dirty="0">
                <a:solidFill>
                  <a:srgbClr val="FFFFFF"/>
                </a:solidFill>
              </a:rPr>
              <a:t>Conclusions and Further Research</a:t>
            </a:r>
          </a:p>
        </p:txBody>
      </p:sp>
      <p:sp>
        <p:nvSpPr>
          <p:cNvPr id="7" name="Content Placeholder 2">
            <a:extLst>
              <a:ext uri="{FF2B5EF4-FFF2-40B4-BE49-F238E27FC236}">
                <a16:creationId xmlns:a16="http://schemas.microsoft.com/office/drawing/2014/main" id="{DA11A6B7-C306-4196-A182-35411D062908}"/>
              </a:ext>
            </a:extLst>
          </p:cNvPr>
          <p:cNvSpPr>
            <a:spLocks noGrp="1"/>
          </p:cNvSpPr>
          <p:nvPr>
            <p:ph idx="1"/>
          </p:nvPr>
        </p:nvSpPr>
        <p:spPr>
          <a:xfrm>
            <a:off x="3066585" y="402894"/>
            <a:ext cx="7944952" cy="6198628"/>
          </a:xfrm>
        </p:spPr>
        <p:txBody>
          <a:bodyPr>
            <a:normAutofit fontScale="85000" lnSpcReduction="20000"/>
          </a:bodyPr>
          <a:lstStyle/>
          <a:p>
            <a:r>
              <a:rPr lang="en-GB" sz="2600" dirty="0"/>
              <a:t>Using news articles from over 30,000 websites in approximately 200 countries, paper has shown that ESG ratings can be predicted reliably based on information from news sources.</a:t>
            </a:r>
          </a:p>
          <a:p>
            <a:r>
              <a:rPr lang="en-GB" sz="2600" dirty="0"/>
              <a:t>Potential to enable various stakeholders, including private investors and government agencies, to monitor companies’ ESG compliance in a time- and resource-efficient manner.</a:t>
            </a:r>
          </a:p>
          <a:p>
            <a:r>
              <a:rPr lang="en-GB" sz="2600" dirty="0"/>
              <a:t>Input processing pipeline comprises three main steps to derive inputs for the prediction model</a:t>
            </a:r>
          </a:p>
          <a:p>
            <a:pPr lvl="1"/>
            <a:r>
              <a:rPr lang="en-GB" dirty="0"/>
              <a:t>1) article classification for ESG relevance, </a:t>
            </a:r>
          </a:p>
          <a:p>
            <a:pPr lvl="1"/>
            <a:r>
              <a:rPr lang="en-GB" dirty="0"/>
              <a:t>2) sentiment estimation, </a:t>
            </a:r>
          </a:p>
          <a:p>
            <a:pPr lvl="1"/>
            <a:r>
              <a:rPr lang="en-GB" dirty="0"/>
              <a:t>3) cluster-based time series generation</a:t>
            </a:r>
          </a:p>
          <a:p>
            <a:pPr lvl="1"/>
            <a:r>
              <a:rPr lang="en-GB" dirty="0"/>
              <a:t>these derived time series significantly enhance ESG prediction performance, underscoring their importance as key features.</a:t>
            </a:r>
            <a:endParaRPr lang="en-GB" sz="2000" dirty="0"/>
          </a:p>
          <a:p>
            <a:r>
              <a:rPr lang="en-US" sz="2400" dirty="0"/>
              <a:t>Limitations</a:t>
            </a:r>
          </a:p>
          <a:p>
            <a:pPr lvl="1"/>
            <a:r>
              <a:rPr lang="en-GB" dirty="0"/>
              <a:t>Reliance on a single type of rating.</a:t>
            </a:r>
          </a:p>
          <a:p>
            <a:r>
              <a:rPr lang="en-GB" sz="2400" dirty="0"/>
              <a:t>Future work</a:t>
            </a:r>
          </a:p>
          <a:p>
            <a:pPr lvl="1"/>
            <a:r>
              <a:rPr lang="en-GB" dirty="0"/>
              <a:t>Explore alternative rating sources.</a:t>
            </a:r>
          </a:p>
          <a:p>
            <a:pPr lvl="1"/>
            <a:r>
              <a:rPr lang="en-GB" dirty="0"/>
              <a:t>Consider bias detection techniques in news articles</a:t>
            </a:r>
            <a:endParaRPr lang="en-US" sz="5400" dirty="0"/>
          </a:p>
          <a:p>
            <a:pPr marL="0" indent="0">
              <a:buNone/>
            </a:pPr>
            <a:endParaRPr lang="en-US" sz="2000" dirty="0"/>
          </a:p>
          <a:p>
            <a:pPr marL="0" indent="0">
              <a:buNone/>
            </a:pPr>
            <a:endParaRPr lang="en-US" sz="1500" dirty="0"/>
          </a:p>
          <a:p>
            <a:endParaRPr lang="en-US" sz="1500" dirty="0"/>
          </a:p>
          <a:p>
            <a:pPr marL="0" indent="0">
              <a:buNone/>
            </a:pPr>
            <a:endParaRPr lang="en-US" sz="1500" dirty="0"/>
          </a:p>
          <a:p>
            <a:endParaRPr lang="en-US" sz="1500" dirty="0"/>
          </a:p>
          <a:p>
            <a:endParaRPr lang="en-US" sz="1500" dirty="0"/>
          </a:p>
        </p:txBody>
      </p:sp>
      <p:sp>
        <p:nvSpPr>
          <p:cNvPr id="6" name="TextBox 5">
            <a:extLst>
              <a:ext uri="{FF2B5EF4-FFF2-40B4-BE49-F238E27FC236}">
                <a16:creationId xmlns:a16="http://schemas.microsoft.com/office/drawing/2014/main" id="{773C10F7-1161-ED48-995B-BFCE1108814C}"/>
              </a:ext>
            </a:extLst>
          </p:cNvPr>
          <p:cNvSpPr txBox="1"/>
          <p:nvPr/>
        </p:nvSpPr>
        <p:spPr>
          <a:xfrm>
            <a:off x="1303020" y="6046470"/>
            <a:ext cx="184731"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64857184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4FDD87-20E2-2544-ADA3-670A9F9F66F5}"/>
              </a:ext>
            </a:extLst>
          </p:cNvPr>
          <p:cNvSpPr>
            <a:spLocks noGrp="1"/>
          </p:cNvSpPr>
          <p:nvPr>
            <p:ph type="title"/>
          </p:nvPr>
        </p:nvSpPr>
        <p:spPr>
          <a:xfrm>
            <a:off x="677334" y="609600"/>
            <a:ext cx="8596668" cy="798095"/>
          </a:xfrm>
        </p:spPr>
        <p:txBody>
          <a:bodyPr/>
          <a:lstStyle/>
          <a:p>
            <a:r>
              <a:rPr lang="en-US" dirty="0">
                <a:solidFill>
                  <a:schemeClr val="tx1"/>
                </a:solidFill>
              </a:rPr>
              <a:t>Research Methods</a:t>
            </a:r>
          </a:p>
        </p:txBody>
      </p:sp>
      <p:sp>
        <p:nvSpPr>
          <p:cNvPr id="3" name="Content Placeholder 2">
            <a:extLst>
              <a:ext uri="{FF2B5EF4-FFF2-40B4-BE49-F238E27FC236}">
                <a16:creationId xmlns:a16="http://schemas.microsoft.com/office/drawing/2014/main" id="{C450386D-81DA-444B-96A4-030C18486A1D}"/>
              </a:ext>
            </a:extLst>
          </p:cNvPr>
          <p:cNvSpPr>
            <a:spLocks noGrp="1"/>
          </p:cNvSpPr>
          <p:nvPr>
            <p:ph idx="1"/>
          </p:nvPr>
        </p:nvSpPr>
        <p:spPr/>
        <p:txBody>
          <a:bodyPr>
            <a:normAutofit/>
          </a:bodyPr>
          <a:lstStyle/>
          <a:p>
            <a:r>
              <a:rPr lang="en-US" dirty="0"/>
              <a:t>The paper authors used </a:t>
            </a:r>
            <a:r>
              <a:rPr lang="en-US" b="1" dirty="0"/>
              <a:t>Secondary research. </a:t>
            </a:r>
          </a:p>
          <a:p>
            <a:pPr lvl="1"/>
            <a:r>
              <a:rPr lang="en-US" dirty="0"/>
              <a:t>They used pre-existing data, published journals</a:t>
            </a:r>
          </a:p>
          <a:p>
            <a:pPr lvl="1"/>
            <a:r>
              <a:rPr lang="en-US" dirty="0"/>
              <a:t>They references 24 different references including published papers and books, across a  range of publications such as </a:t>
            </a:r>
            <a:r>
              <a:rPr lang="en-US" b="1" dirty="0"/>
              <a:t>Journal of Financial data</a:t>
            </a:r>
            <a:r>
              <a:rPr lang="en-US" dirty="0"/>
              <a:t>, </a:t>
            </a:r>
            <a:r>
              <a:rPr lang="en-GB" b="1" dirty="0"/>
              <a:t>The Journal of Impact and ESG Investing</a:t>
            </a:r>
            <a:r>
              <a:rPr lang="en-GB" dirty="0"/>
              <a:t>, </a:t>
            </a:r>
            <a:r>
              <a:rPr lang="en-GB" b="1" dirty="0"/>
              <a:t>IEEE</a:t>
            </a:r>
            <a:r>
              <a:rPr lang="en-GB" dirty="0"/>
              <a:t>, </a:t>
            </a:r>
            <a:r>
              <a:rPr lang="en-GB" b="1" dirty="0"/>
              <a:t>Hugging face, Journal of Business Ethics </a:t>
            </a:r>
            <a:r>
              <a:rPr lang="en-GB" dirty="0"/>
              <a:t>and many more</a:t>
            </a:r>
          </a:p>
          <a:p>
            <a:pPr marL="0" indent="0">
              <a:buNone/>
            </a:pPr>
            <a:endParaRPr lang="en-US" dirty="0"/>
          </a:p>
          <a:p>
            <a:r>
              <a:rPr lang="en-US" dirty="0"/>
              <a:t>It is </a:t>
            </a:r>
            <a:r>
              <a:rPr lang="en-US" b="1" dirty="0"/>
              <a:t>not primary research </a:t>
            </a:r>
          </a:p>
          <a:p>
            <a:pPr lvl="1"/>
            <a:r>
              <a:rPr lang="en-US" b="1" dirty="0"/>
              <a:t>T</a:t>
            </a:r>
            <a:r>
              <a:rPr lang="en-US" dirty="0"/>
              <a:t>hey did not generate the data themselves, collecting , generating data themselves</a:t>
            </a:r>
          </a:p>
          <a:p>
            <a:endParaRPr lang="en-US" dirty="0"/>
          </a:p>
        </p:txBody>
      </p:sp>
    </p:spTree>
    <p:extLst>
      <p:ext uri="{BB962C8B-B14F-4D97-AF65-F5344CB8AC3E}">
        <p14:creationId xmlns:p14="http://schemas.microsoft.com/office/powerpoint/2010/main" val="45984697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218D2B-E418-ACD0-8ECB-9F0AE29CBE44}"/>
              </a:ext>
            </a:extLst>
          </p:cNvPr>
          <p:cNvSpPr>
            <a:spLocks noGrp="1"/>
          </p:cNvSpPr>
          <p:nvPr>
            <p:ph type="title"/>
          </p:nvPr>
        </p:nvSpPr>
        <p:spPr>
          <a:xfrm>
            <a:off x="502920" y="212541"/>
            <a:ext cx="9624934" cy="549275"/>
          </a:xfrm>
        </p:spPr>
        <p:txBody>
          <a:bodyPr>
            <a:normAutofit fontScale="90000"/>
          </a:bodyPr>
          <a:lstStyle/>
          <a:p>
            <a:r>
              <a:rPr lang="en-GB" dirty="0">
                <a:solidFill>
                  <a:schemeClr val="tx1"/>
                </a:solidFill>
              </a:rPr>
              <a:t>Overview of ESG Prediction Model</a:t>
            </a:r>
          </a:p>
        </p:txBody>
      </p:sp>
      <p:pic>
        <p:nvPicPr>
          <p:cNvPr id="5" name="Content Placeholder 4">
            <a:extLst>
              <a:ext uri="{FF2B5EF4-FFF2-40B4-BE49-F238E27FC236}">
                <a16:creationId xmlns:a16="http://schemas.microsoft.com/office/drawing/2014/main" id="{A8CA377A-D651-5056-0ACA-F55EF239DE12}"/>
              </a:ext>
            </a:extLst>
          </p:cNvPr>
          <p:cNvPicPr>
            <a:picLocks noGrp="1" noChangeAspect="1"/>
          </p:cNvPicPr>
          <p:nvPr>
            <p:ph idx="1"/>
          </p:nvPr>
        </p:nvPicPr>
        <p:blipFill>
          <a:blip r:embed="rId2"/>
          <a:stretch>
            <a:fillRect/>
          </a:stretch>
        </p:blipFill>
        <p:spPr>
          <a:xfrm>
            <a:off x="335779" y="886409"/>
            <a:ext cx="11984254" cy="5456420"/>
          </a:xfrm>
          <a:prstGeom prst="rect">
            <a:avLst/>
          </a:prstGeom>
        </p:spPr>
      </p:pic>
    </p:spTree>
    <p:extLst>
      <p:ext uri="{BB962C8B-B14F-4D97-AF65-F5344CB8AC3E}">
        <p14:creationId xmlns:p14="http://schemas.microsoft.com/office/powerpoint/2010/main" val="71586758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9D8475-12ED-67B3-1C5A-67FB7397CE8D}"/>
              </a:ext>
            </a:extLst>
          </p:cNvPr>
          <p:cNvSpPr>
            <a:spLocks noGrp="1"/>
          </p:cNvSpPr>
          <p:nvPr>
            <p:ph type="title"/>
          </p:nvPr>
        </p:nvSpPr>
        <p:spPr>
          <a:xfrm>
            <a:off x="838200" y="365126"/>
            <a:ext cx="10515600" cy="1042570"/>
          </a:xfrm>
        </p:spPr>
        <p:txBody>
          <a:bodyPr/>
          <a:lstStyle/>
          <a:p>
            <a:r>
              <a:rPr lang="en-GB" dirty="0">
                <a:solidFill>
                  <a:schemeClr val="tx1"/>
                </a:solidFill>
              </a:rPr>
              <a:t>Additional references and observations</a:t>
            </a:r>
          </a:p>
        </p:txBody>
      </p:sp>
      <p:sp>
        <p:nvSpPr>
          <p:cNvPr id="3" name="Content Placeholder 2">
            <a:extLst>
              <a:ext uri="{FF2B5EF4-FFF2-40B4-BE49-F238E27FC236}">
                <a16:creationId xmlns:a16="http://schemas.microsoft.com/office/drawing/2014/main" id="{7B9EDDF8-99E8-28BF-84ED-0A0EEC3815BC}"/>
              </a:ext>
            </a:extLst>
          </p:cNvPr>
          <p:cNvSpPr>
            <a:spLocks noGrp="1"/>
          </p:cNvSpPr>
          <p:nvPr>
            <p:ph idx="1"/>
          </p:nvPr>
        </p:nvSpPr>
        <p:spPr>
          <a:xfrm>
            <a:off x="525379" y="1311442"/>
            <a:ext cx="10515600" cy="4730584"/>
          </a:xfrm>
        </p:spPr>
        <p:txBody>
          <a:bodyPr>
            <a:normAutofit/>
          </a:bodyPr>
          <a:lstStyle/>
          <a:p>
            <a:r>
              <a:rPr lang="en-GB" sz="2000" dirty="0"/>
              <a:t>Among past ESG-related works, many either utilize ESG ratings to predict a range of other target variables or </a:t>
            </a:r>
            <a:r>
              <a:rPr lang="en-GB" sz="2000" dirty="0" err="1"/>
              <a:t>analyze</a:t>
            </a:r>
            <a:r>
              <a:rPr lang="en-GB" sz="2000" dirty="0"/>
              <a:t> the effects of ESG ratings on other target variables, instead of predicting ESG ratings or examining the effects of different information on ESG ratings.</a:t>
            </a:r>
            <a:r>
              <a:rPr lang="en-GB" dirty="0"/>
              <a:t>	</a:t>
            </a:r>
          </a:p>
          <a:p>
            <a:pPr lvl="1"/>
            <a:r>
              <a:rPr lang="en-GB" dirty="0"/>
              <a:t>A lot related to predicting financial implications</a:t>
            </a:r>
          </a:p>
          <a:p>
            <a:r>
              <a:rPr lang="en-GB" dirty="0"/>
              <a:t>A lot of papers across databases sources from China</a:t>
            </a:r>
          </a:p>
          <a:p>
            <a:r>
              <a:rPr lang="en-GB" dirty="0"/>
              <a:t>financial orientated and reporting obligations/process streamlining</a:t>
            </a:r>
          </a:p>
        </p:txBody>
      </p:sp>
    </p:spTree>
    <p:extLst>
      <p:ext uri="{BB962C8B-B14F-4D97-AF65-F5344CB8AC3E}">
        <p14:creationId xmlns:p14="http://schemas.microsoft.com/office/powerpoint/2010/main" val="183506357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67B2EA-6FAD-A1F3-EC0A-217038139434}"/>
              </a:ext>
            </a:extLst>
          </p:cNvPr>
          <p:cNvSpPr>
            <a:spLocks noGrp="1"/>
          </p:cNvSpPr>
          <p:nvPr>
            <p:ph type="title"/>
          </p:nvPr>
        </p:nvSpPr>
        <p:spPr>
          <a:xfrm>
            <a:off x="557017" y="276726"/>
            <a:ext cx="9188561" cy="641684"/>
          </a:xfrm>
        </p:spPr>
        <p:txBody>
          <a:bodyPr>
            <a:normAutofit/>
          </a:bodyPr>
          <a:lstStyle/>
          <a:p>
            <a:r>
              <a:rPr lang="en-GB" dirty="0">
                <a:solidFill>
                  <a:schemeClr val="tx1"/>
                </a:solidFill>
              </a:rPr>
              <a:t>References – APA6 style </a:t>
            </a:r>
            <a:r>
              <a:rPr lang="en-GB" sz="1800" dirty="0">
                <a:solidFill>
                  <a:schemeClr val="tx1"/>
                </a:solidFill>
              </a:rPr>
              <a:t>(generated using Zotero)</a:t>
            </a:r>
          </a:p>
        </p:txBody>
      </p:sp>
      <p:sp>
        <p:nvSpPr>
          <p:cNvPr id="3" name="Content Placeholder 2">
            <a:extLst>
              <a:ext uri="{FF2B5EF4-FFF2-40B4-BE49-F238E27FC236}">
                <a16:creationId xmlns:a16="http://schemas.microsoft.com/office/drawing/2014/main" id="{AC2BDBA8-66B7-6B3A-721D-7FA1B37819B3}"/>
              </a:ext>
            </a:extLst>
          </p:cNvPr>
          <p:cNvSpPr>
            <a:spLocks noGrp="1"/>
          </p:cNvSpPr>
          <p:nvPr>
            <p:ph idx="1"/>
          </p:nvPr>
        </p:nvSpPr>
        <p:spPr>
          <a:xfrm>
            <a:off x="274086" y="918410"/>
            <a:ext cx="10672010" cy="5739063"/>
          </a:xfrm>
        </p:spPr>
        <p:txBody>
          <a:bodyPr>
            <a:normAutofit fontScale="70000" lnSpcReduction="20000"/>
          </a:bodyPr>
          <a:lstStyle/>
          <a:p>
            <a:pPr>
              <a:buClr>
                <a:schemeClr val="tx1"/>
              </a:buClr>
              <a:buFont typeface="+mj-lt"/>
              <a:buAutoNum type="arabicPeriod"/>
            </a:pPr>
            <a:r>
              <a:rPr lang="en-GB" i="1" dirty="0"/>
              <a:t>ACM Digital Library</a:t>
            </a:r>
            <a:r>
              <a:rPr lang="en-GB" dirty="0"/>
              <a:t>. (n.d.). Retrieved 9 February 2026, from https://dl-acm-org.tudublin.idm.oclc.org/</a:t>
            </a:r>
          </a:p>
          <a:p>
            <a:pPr>
              <a:buClr>
                <a:schemeClr val="tx1"/>
              </a:buClr>
              <a:buFont typeface="+mj-lt"/>
              <a:buAutoNum type="arabicPeriod"/>
            </a:pPr>
            <a:r>
              <a:rPr lang="en-GB" dirty="0"/>
              <a:t>Aue, T., </a:t>
            </a:r>
            <a:r>
              <a:rPr lang="en-GB" dirty="0" err="1"/>
              <a:t>Jatowt</a:t>
            </a:r>
            <a:r>
              <a:rPr lang="en-GB" dirty="0"/>
              <a:t>, A., &amp; Färber, M. (2025). Predicting Company ESG Ratings from News Articles Using Multivariate Timeseries Analysis. </a:t>
            </a:r>
            <a:r>
              <a:rPr lang="en-GB" i="1" dirty="0"/>
              <a:t>Companion Proceedings of the ACM on Web Conference 2025, WWW ’25</a:t>
            </a:r>
            <a:r>
              <a:rPr lang="en-GB" dirty="0"/>
              <a:t>, 1774–1780. https://doi.org/10.1145/3701716.3717509</a:t>
            </a:r>
          </a:p>
          <a:p>
            <a:pPr>
              <a:buClr>
                <a:schemeClr val="tx1"/>
              </a:buClr>
              <a:buFont typeface="+mj-lt"/>
              <a:buAutoNum type="arabicPeriod"/>
            </a:pPr>
            <a:r>
              <a:rPr lang="en-GB" i="1" dirty="0"/>
              <a:t>CFI’s Home Page</a:t>
            </a:r>
            <a:r>
              <a:rPr lang="en-GB" dirty="0"/>
              <a:t>. (n.d.). Corporate Finance Institute. Retrieved 9 February 2026, from https://corporatefinanceinstitute.com/</a:t>
            </a:r>
          </a:p>
          <a:p>
            <a:pPr>
              <a:buClr>
                <a:schemeClr val="tx1"/>
              </a:buClr>
              <a:buFont typeface="+mj-lt"/>
              <a:buAutoNum type="arabicPeriod"/>
            </a:pPr>
            <a:r>
              <a:rPr lang="en-GB" i="1" dirty="0" err="1"/>
              <a:t>dblp</a:t>
            </a:r>
            <a:r>
              <a:rPr lang="en-GB" i="1" dirty="0"/>
              <a:t>: Computer science bibliography</a:t>
            </a:r>
            <a:r>
              <a:rPr lang="en-GB" dirty="0"/>
              <a:t>. (n.d.). Retrieved 9 February 2026, from https://dblp.org/</a:t>
            </a:r>
          </a:p>
          <a:p>
            <a:pPr>
              <a:buClr>
                <a:schemeClr val="tx1"/>
              </a:buClr>
              <a:buFont typeface="+mj-lt"/>
              <a:buAutoNum type="arabicPeriod"/>
            </a:pPr>
            <a:r>
              <a:rPr lang="en-GB" i="1" dirty="0" err="1"/>
              <a:t>gdeltdoc</a:t>
            </a:r>
            <a:r>
              <a:rPr lang="en-GB" i="1" dirty="0"/>
              <a:t>: A client for the GDELT 2.0 Doc API</a:t>
            </a:r>
            <a:r>
              <a:rPr lang="en-GB" dirty="0"/>
              <a:t> (Version 1.12.0). (n.d.). [Python; OS Independent]. Retrieved 9 February 2026, from https://github.com/alex9smith/gdelt-doc-api</a:t>
            </a:r>
          </a:p>
          <a:p>
            <a:pPr>
              <a:buClr>
                <a:schemeClr val="tx1"/>
              </a:buClr>
              <a:buFont typeface="+mj-lt"/>
              <a:buAutoNum type="arabicPeriod"/>
            </a:pPr>
            <a:r>
              <a:rPr lang="en-GB" i="1" dirty="0"/>
              <a:t>Google Scholar</a:t>
            </a:r>
            <a:r>
              <a:rPr lang="en-GB" dirty="0"/>
              <a:t>. (n.d.). Retrieved 9 February 2026, from https://scholar.google.com/</a:t>
            </a:r>
          </a:p>
          <a:p>
            <a:pPr>
              <a:buClr>
                <a:schemeClr val="tx1"/>
              </a:buClr>
              <a:buFont typeface="+mj-lt"/>
              <a:buAutoNum type="arabicPeriod"/>
            </a:pPr>
            <a:r>
              <a:rPr lang="en-GB" i="1" dirty="0"/>
              <a:t>Hugging Face – The AI community building the future.</a:t>
            </a:r>
            <a:r>
              <a:rPr lang="en-GB" dirty="0"/>
              <a:t> (2026, February 9). https://huggingface.co/</a:t>
            </a:r>
          </a:p>
          <a:p>
            <a:pPr>
              <a:buClr>
                <a:schemeClr val="tx1"/>
              </a:buClr>
              <a:buFont typeface="+mj-lt"/>
              <a:buAutoNum type="arabicPeriod"/>
            </a:pPr>
            <a:r>
              <a:rPr lang="en-GB" i="1" dirty="0"/>
              <a:t>IEEE Xplore</a:t>
            </a:r>
            <a:r>
              <a:rPr lang="en-GB" dirty="0"/>
              <a:t>. (n.d.). Retrieved 9 February 2026, from https://ieeexplore-ieee-org.tudublin.idm.oclc.org/Xplore/home.jsp</a:t>
            </a:r>
          </a:p>
          <a:p>
            <a:pPr>
              <a:buClr>
                <a:schemeClr val="tx1"/>
              </a:buClr>
              <a:buFont typeface="+mj-lt"/>
              <a:buAutoNum type="arabicPeriod"/>
            </a:pPr>
            <a:r>
              <a:rPr lang="en-GB" i="1" dirty="0"/>
              <a:t>LSEG Data &amp; Analytics | Financial Technology &amp; Data</a:t>
            </a:r>
            <a:r>
              <a:rPr lang="en-GB" dirty="0"/>
              <a:t>. (2026, February 5). https://www.lseg.com/en/data-analytics</a:t>
            </a:r>
          </a:p>
          <a:p>
            <a:pPr>
              <a:buClr>
                <a:schemeClr val="tx1"/>
              </a:buClr>
              <a:buFont typeface="+mj-lt"/>
              <a:buAutoNum type="arabicPeriod"/>
            </a:pPr>
            <a:r>
              <a:rPr lang="en-GB" dirty="0"/>
              <a:t>Prathama, U. A., </a:t>
            </a:r>
            <a:r>
              <a:rPr lang="en-GB" dirty="0" err="1"/>
              <a:t>Purwarianti</a:t>
            </a:r>
            <a:r>
              <a:rPr lang="en-GB" dirty="0"/>
              <a:t>, A., &amp; </a:t>
            </a:r>
            <a:r>
              <a:rPr lang="en-GB" dirty="0" err="1"/>
              <a:t>Septiandri</a:t>
            </a:r>
            <a:r>
              <a:rPr lang="en-GB" dirty="0"/>
              <a:t>, A. A. (2025). ESG-IDX: A Framework to Utilize ESG-Related News Sentiment for Indonesia Stock Price Prediction. </a:t>
            </a:r>
            <a:r>
              <a:rPr lang="en-GB" i="1" dirty="0"/>
              <a:t>2025 12th International Conference on Advanced Informatics: Concept, Theory and Application (ICAICTA)</a:t>
            </a:r>
            <a:r>
              <a:rPr lang="en-GB" dirty="0"/>
              <a:t>, 1–6. https://doi.org/10.1109/ICAICTA67604.2025.11335140</a:t>
            </a:r>
          </a:p>
          <a:p>
            <a:pPr>
              <a:buClr>
                <a:schemeClr val="tx1"/>
              </a:buClr>
              <a:buFont typeface="+mj-lt"/>
              <a:buAutoNum type="arabicPeriod"/>
            </a:pPr>
            <a:r>
              <a:rPr lang="en-GB" i="1" dirty="0"/>
              <a:t>Sage Journals: Discover world-class research</a:t>
            </a:r>
            <a:r>
              <a:rPr lang="en-GB" dirty="0"/>
              <a:t>. (n.d.). Sage Journals. Retrieved 9 February 2026, from https://journals-sagepub-com.tudublin.idm.oclc.org/</a:t>
            </a:r>
          </a:p>
          <a:p>
            <a:pPr>
              <a:buClr>
                <a:schemeClr val="tx1"/>
              </a:buClr>
              <a:buFont typeface="+mj-lt"/>
              <a:buAutoNum type="arabicPeriod"/>
            </a:pPr>
            <a:r>
              <a:rPr lang="en-GB" i="1" dirty="0"/>
              <a:t>The GDELT Project</a:t>
            </a:r>
            <a:r>
              <a:rPr lang="en-GB" dirty="0"/>
              <a:t>. (n.d.). Retrieved 9 February 2026, from https://www.gdeltproject.org/</a:t>
            </a:r>
          </a:p>
          <a:p>
            <a:pPr>
              <a:buClr>
                <a:schemeClr val="tx1"/>
              </a:buClr>
              <a:buFont typeface="+mj-lt"/>
              <a:buAutoNum type="arabicPeriod"/>
            </a:pPr>
            <a:r>
              <a:rPr lang="en-GB" dirty="0"/>
              <a:t>Wu, C., &amp; Gerber, M. S. (2018a). Forecasting Civil Unrest Using Social Media and Protest Participation Theory. </a:t>
            </a:r>
            <a:r>
              <a:rPr lang="en-GB" i="1" dirty="0"/>
              <a:t>IEEE Transactions on Computational Social Systems</a:t>
            </a:r>
            <a:r>
              <a:rPr lang="en-GB" dirty="0"/>
              <a:t>, </a:t>
            </a:r>
            <a:r>
              <a:rPr lang="en-GB" i="1" dirty="0"/>
              <a:t>5</a:t>
            </a:r>
            <a:r>
              <a:rPr lang="en-GB" dirty="0"/>
              <a:t>(1), 82–94. </a:t>
            </a:r>
            <a:r>
              <a:rPr lang="en-GB" dirty="0">
                <a:hlinkClick r:id="rId2"/>
              </a:rPr>
              <a:t>https://doi.org/10.1109/TCSS.2017.2763128</a:t>
            </a:r>
            <a:endParaRPr lang="en-GB" dirty="0"/>
          </a:p>
          <a:p>
            <a:r>
              <a:rPr lang="en-GB" dirty="0"/>
              <a:t>[20] Sokolov, A., Mostovoy, J., Ding, J. and Seco, L. [2021], ‘Building machine learning systems for automated ESG scoring’, The Journal of Impact and ESG Investing 1(3), 39–50.</a:t>
            </a:r>
          </a:p>
          <a:p>
            <a:r>
              <a:rPr lang="en-GB" dirty="0"/>
              <a:t>[21] Vaswani, A., </a:t>
            </a:r>
            <a:r>
              <a:rPr lang="en-GB" dirty="0" err="1"/>
              <a:t>Shazeer</a:t>
            </a:r>
            <a:r>
              <a:rPr lang="en-GB" dirty="0"/>
              <a:t>, N., Parmar, N., </a:t>
            </a:r>
            <a:r>
              <a:rPr lang="en-GB" dirty="0" err="1"/>
              <a:t>Uszkoreit</a:t>
            </a:r>
            <a:r>
              <a:rPr lang="en-GB" dirty="0"/>
              <a:t>, J., Jones, L., Gomez, A. N., Kaiser, Ł. and </a:t>
            </a:r>
            <a:r>
              <a:rPr lang="en-GB" dirty="0" err="1"/>
              <a:t>Polosukhin</a:t>
            </a:r>
            <a:r>
              <a:rPr lang="en-GB" dirty="0"/>
              <a:t>, I. [2017], ‘Attention is all you need’, Advances in neural information processing systems 30.</a:t>
            </a:r>
          </a:p>
          <a:p>
            <a:endParaRPr lang="en-GB" dirty="0"/>
          </a:p>
        </p:txBody>
      </p:sp>
    </p:spTree>
    <p:extLst>
      <p:ext uri="{BB962C8B-B14F-4D97-AF65-F5344CB8AC3E}">
        <p14:creationId xmlns:p14="http://schemas.microsoft.com/office/powerpoint/2010/main" val="1959523754"/>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B26045-7514-B11C-B4EE-DE493776B9F8}"/>
              </a:ext>
            </a:extLst>
          </p:cNvPr>
          <p:cNvSpPr>
            <a:spLocks noGrp="1"/>
          </p:cNvSpPr>
          <p:nvPr>
            <p:ph type="title"/>
          </p:nvPr>
        </p:nvSpPr>
        <p:spPr>
          <a:xfrm>
            <a:off x="677334" y="344905"/>
            <a:ext cx="8596668" cy="677779"/>
          </a:xfrm>
        </p:spPr>
        <p:txBody>
          <a:bodyPr/>
          <a:lstStyle/>
          <a:p>
            <a:r>
              <a:rPr lang="en-GB" dirty="0">
                <a:solidFill>
                  <a:schemeClr val="tx1"/>
                </a:solidFill>
              </a:rPr>
              <a:t>General Learnings</a:t>
            </a:r>
          </a:p>
        </p:txBody>
      </p:sp>
      <p:sp>
        <p:nvSpPr>
          <p:cNvPr id="3" name="Content Placeholder 2">
            <a:extLst>
              <a:ext uri="{FF2B5EF4-FFF2-40B4-BE49-F238E27FC236}">
                <a16:creationId xmlns:a16="http://schemas.microsoft.com/office/drawing/2014/main" id="{C6888F0C-870E-B809-66BB-62563CBDC5A0}"/>
              </a:ext>
            </a:extLst>
          </p:cNvPr>
          <p:cNvSpPr>
            <a:spLocks noGrp="1"/>
          </p:cNvSpPr>
          <p:nvPr>
            <p:ph idx="1"/>
          </p:nvPr>
        </p:nvSpPr>
        <p:spPr>
          <a:xfrm>
            <a:off x="677334" y="1395663"/>
            <a:ext cx="8596668" cy="4645699"/>
          </a:xfrm>
        </p:spPr>
        <p:txBody>
          <a:bodyPr>
            <a:normAutofit fontScale="92500" lnSpcReduction="10000"/>
          </a:bodyPr>
          <a:lstStyle/>
          <a:p>
            <a:r>
              <a:rPr lang="en-GB" dirty="0"/>
              <a:t>Can get sucked down a hole and spend days signing into a very specific area &gt;&gt; need to adhere to what your goals are and be strict about it… time goes…</a:t>
            </a:r>
          </a:p>
          <a:p>
            <a:r>
              <a:rPr lang="en-GB" dirty="0"/>
              <a:t>Data source repositories change, and some no longer exists or have changed</a:t>
            </a:r>
          </a:p>
          <a:p>
            <a:pPr lvl="1"/>
            <a:r>
              <a:rPr lang="en-GB" dirty="0"/>
              <a:t>Global Reporting Initiative (GRI) – gone or bought out</a:t>
            </a:r>
          </a:p>
          <a:p>
            <a:pPr lvl="1"/>
            <a:r>
              <a:rPr lang="en-GB" dirty="0"/>
              <a:t>World Event/Interaction Survey (WEIS) Project, - ceased – cross-sectional</a:t>
            </a:r>
          </a:p>
          <a:p>
            <a:pPr lvl="1"/>
            <a:r>
              <a:rPr lang="en-GB" dirty="0"/>
              <a:t>Refinitiv – bought out, no longer available</a:t>
            </a:r>
          </a:p>
          <a:p>
            <a:r>
              <a:rPr lang="en-GB" dirty="0"/>
              <a:t>ACM a lot of ESG papers from China</a:t>
            </a:r>
          </a:p>
          <a:p>
            <a:r>
              <a:rPr lang="en-GB" dirty="0"/>
              <a:t>A lot of ESG papers are financial impact orientated and ESG reporting obligations/process streamlining</a:t>
            </a:r>
          </a:p>
          <a:p>
            <a:r>
              <a:rPr lang="en-GB" dirty="0"/>
              <a:t>Additional data sources - references other papers, a lot of general discussion but no absolute definitions around ESG.</a:t>
            </a:r>
          </a:p>
          <a:p>
            <a:pPr lvl="1"/>
            <a:r>
              <a:rPr lang="en-GB" dirty="0">
                <a:hlinkClick r:id="rId2"/>
              </a:rPr>
              <a:t>United Nations Sustainable Development Goals (SDG)</a:t>
            </a:r>
            <a:endParaRPr lang="en-GB" dirty="0"/>
          </a:p>
          <a:p>
            <a:pPr lvl="1"/>
            <a:r>
              <a:rPr lang="en-GB" dirty="0">
                <a:hlinkClick r:id="rId3"/>
              </a:rPr>
              <a:t>United Nations Principles for Responsible Investments (UN PRI) </a:t>
            </a:r>
            <a:endParaRPr lang="en-GB" dirty="0"/>
          </a:p>
          <a:p>
            <a:pPr lvl="1"/>
            <a:r>
              <a:rPr lang="en-GB" dirty="0">
                <a:hlinkClick r:id="rId4"/>
              </a:rPr>
              <a:t>Network for Greening the Financial System (NGFS)</a:t>
            </a:r>
            <a:endParaRPr lang="en-GB" dirty="0"/>
          </a:p>
          <a:p>
            <a:pPr lvl="1"/>
            <a:endParaRPr lang="en-GB" dirty="0"/>
          </a:p>
        </p:txBody>
      </p:sp>
    </p:spTree>
    <p:extLst>
      <p:ext uri="{BB962C8B-B14F-4D97-AF65-F5344CB8AC3E}">
        <p14:creationId xmlns:p14="http://schemas.microsoft.com/office/powerpoint/2010/main" val="238953514"/>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UNDO_REDO_REVISION" val="0"/>
</p:tagLst>
</file>

<file path=ppt/tags/tag2.xml><?xml version="1.0" encoding="utf-8"?>
<p:tagLst xmlns:a="http://schemas.openxmlformats.org/drawingml/2006/main" xmlns:r="http://schemas.openxmlformats.org/officeDocument/2006/relationships" xmlns:p="http://schemas.openxmlformats.org/presentationml/2006/main">
  <p:tag name="EMPOWERBULLETV2" val="empowerBulletV2"/>
</p:tagLst>
</file>

<file path=ppt/tags/tag3.xml><?xml version="1.0" encoding="utf-8"?>
<p:tagLst xmlns:a="http://schemas.openxmlformats.org/drawingml/2006/main" xmlns:r="http://schemas.openxmlformats.org/officeDocument/2006/relationships" xmlns:p="http://schemas.openxmlformats.org/presentationml/2006/main">
  <p:tag name="EMPOWERBULLETV2" val="empowerBulletV2"/>
</p:tagLst>
</file>

<file path=ppt/theme/theme1.xml><?xml version="1.0" encoding="utf-8"?>
<a:theme xmlns:a="http://schemas.openxmlformats.org/drawingml/2006/main" name="Facet">
  <a:themeElements>
    <a:clrScheme name="Facet">
      <a:dk1>
        <a:sysClr val="windowText" lastClr="000000"/>
      </a:dk1>
      <a:lt1>
        <a:sysClr val="window" lastClr="FFFFFF"/>
      </a:lt1>
      <a:dk2>
        <a:srgbClr val="2C3C43"/>
      </a:dk2>
      <a:lt2>
        <a:srgbClr val="EBEBEB"/>
      </a:lt2>
      <a:accent1>
        <a:srgbClr val="90C226"/>
      </a:accent1>
      <a:accent2>
        <a:srgbClr val="54A021"/>
      </a:accent2>
      <a:accent3>
        <a:srgbClr val="E6B91E"/>
      </a:accent3>
      <a:accent4>
        <a:srgbClr val="E76618"/>
      </a:accent4>
      <a:accent5>
        <a:srgbClr val="C42F1A"/>
      </a:accent5>
      <a:accent6>
        <a:srgbClr val="918655"/>
      </a:accent6>
      <a:hlink>
        <a:srgbClr val="99CA3C"/>
      </a:hlink>
      <a:folHlink>
        <a:srgbClr val="B9D181"/>
      </a:folHlink>
    </a:clrScheme>
    <a:fontScheme name="Facet">
      <a:majorFont>
        <a:latin typeface="Trebuchet MS" panose="020B0603020202020204"/>
        <a:ea typeface=""/>
        <a:cs typeface=""/>
        <a:font script="Jpan" typeface="メイリオ"/>
        <a:font script="Hang" typeface="맑은 고딕"/>
        <a:font script="Hans" typeface="方正姚体"/>
        <a:font script="Hant" typeface="微軟正黑體"/>
        <a:font script="Arab" typeface="Tahoma"/>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rebuchet MS" panose="020B0603020202020204"/>
        <a:ea typeface=""/>
        <a:cs typeface=""/>
        <a:font script="Jpan" typeface="メイリオ"/>
        <a:font script="Hang" typeface="HY그래픽M"/>
        <a:font script="Hans" typeface="华文新魏"/>
        <a:font script="Hant" typeface="微軟正黑體"/>
        <a:font script="Arab" typeface="Tahoma"/>
        <a:font script="Hebr" typeface="Gisha"/>
        <a:font script="Thai" typeface="Iris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Facet">
      <a:fillStyleLst>
        <a:solidFill>
          <a:schemeClr val="phClr"/>
        </a:solidFill>
        <a:gradFill rotWithShape="1">
          <a:gsLst>
            <a:gs pos="0">
              <a:schemeClr val="phClr">
                <a:tint val="65000"/>
                <a:lumMod val="110000"/>
              </a:schemeClr>
            </a:gs>
            <a:gs pos="88000">
              <a:schemeClr val="phClr">
                <a:tint val="90000"/>
              </a:schemeClr>
            </a:gs>
          </a:gsLst>
          <a:lin ang="5400000" scaled="0"/>
        </a:gradFill>
        <a:gradFill rotWithShape="1">
          <a:gsLst>
            <a:gs pos="0">
              <a:schemeClr val="phClr">
                <a:tint val="96000"/>
                <a:lumMod val="100000"/>
              </a:schemeClr>
            </a:gs>
            <a:gs pos="78000">
              <a:schemeClr val="phClr">
                <a:shade val="94000"/>
                <a:lumMod val="94000"/>
              </a:schemeClr>
            </a:gs>
          </a:gsLst>
          <a:lin ang="5400000" scaled="0"/>
        </a:gradFill>
      </a:fillStyleLst>
      <a:lnStyleLst>
        <a:ln w="12700"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35000"/>
              </a:srgbClr>
            </a:outerShdw>
          </a:effectLst>
        </a:effectStyle>
        <a:effectStyle>
          <a:effectLst>
            <a:outerShdw blurRad="50800" dist="38100" dir="5400000" rotWithShape="0">
              <a:srgbClr val="000000">
                <a:alpha val="35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0000"/>
                <a:lumMod val="104000"/>
              </a:schemeClr>
            </a:gs>
            <a:gs pos="94000">
              <a:schemeClr val="phClr">
                <a:shade val="96000"/>
                <a:lumMod val="82000"/>
              </a:schemeClr>
            </a:gs>
          </a:gsLst>
          <a:lin ang="5400000" scaled="0"/>
        </a:gradFill>
        <a:gradFill rotWithShape="1">
          <a:gsLst>
            <a:gs pos="0">
              <a:schemeClr val="phClr">
                <a:tint val="90000"/>
                <a:lumMod val="110000"/>
              </a:schemeClr>
            </a:gs>
            <a:gs pos="100000">
              <a:schemeClr val="phClr">
                <a:shade val="94000"/>
                <a:lumMod val="9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Facet" id="{C0C680CD-088A-49FC-A102-D699147F32B2}" vid="{CFBC31BA-B70F-4F30-BCAA-4F3011E16C4D}"/>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C1649D92A98AC04289356D58C8DD007B" ma:contentTypeVersion="11" ma:contentTypeDescription="Create a new document." ma:contentTypeScope="" ma:versionID="7e7995460e3329ffd5773f731e5d8a8b">
  <xsd:schema xmlns:xsd="http://www.w3.org/2001/XMLSchema" xmlns:xs="http://www.w3.org/2001/XMLSchema" xmlns:p="http://schemas.microsoft.com/office/2006/metadata/properties" xmlns:ns3="728cbe1e-0b6d-4c58-af8f-81e70400b4e3" xmlns:ns4="6e893c43-06e8-4dcc-9162-927e4eb2508b" targetNamespace="http://schemas.microsoft.com/office/2006/metadata/properties" ma:root="true" ma:fieldsID="2efb6d3f5988a35e328101e6e9639f3a" ns3:_="" ns4:_="">
    <xsd:import namespace="728cbe1e-0b6d-4c58-af8f-81e70400b4e3"/>
    <xsd:import namespace="6e893c43-06e8-4dcc-9162-927e4eb2508b"/>
    <xsd:element name="properties">
      <xsd:complexType>
        <xsd:sequence>
          <xsd:element name="documentManagement">
            <xsd:complexType>
              <xsd:all>
                <xsd:element ref="ns3:SharedWithUsers" minOccurs="0"/>
                <xsd:element ref="ns3:SharedWithDetails" minOccurs="0"/>
                <xsd:element ref="ns3:SharingHintHash" minOccurs="0"/>
                <xsd:element ref="ns4:MediaServiceMetadata" minOccurs="0"/>
                <xsd:element ref="ns4:MediaServiceFastMetadata" minOccurs="0"/>
                <xsd:element ref="ns4:MediaServiceDateTaken" minOccurs="0"/>
                <xsd:element ref="ns4:MediaServiceAutoTags" minOccurs="0"/>
                <xsd:element ref="ns4:MediaServiceOCR" minOccurs="0"/>
                <xsd:element ref="ns4:MediaServiceLocation" minOccurs="0"/>
                <xsd:element ref="ns4:MediaServiceGenerationTime" minOccurs="0"/>
                <xsd:element ref="ns4:MediaServiceEventHashCod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28cbe1e-0b6d-4c58-af8f-81e70400b4e3" elementFormDefault="qualified">
    <xsd:import namespace="http://schemas.microsoft.com/office/2006/documentManagement/types"/>
    <xsd:import namespace="http://schemas.microsoft.com/office/infopath/2007/PartnerControls"/>
    <xsd:element name="SharedWithUsers" ma:index="8" nillable="true" ma:displayName="Shared With" ma:description=""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9" nillable="true" ma:displayName="Shared With Details" ma:description="" ma:internalName="SharedWithDetails" ma:readOnly="true">
      <xsd:simpleType>
        <xsd:restriction base="dms:Note">
          <xsd:maxLength value="255"/>
        </xsd:restriction>
      </xsd:simpleType>
    </xsd:element>
    <xsd:element name="SharingHintHash" ma:index="10" nillable="true" ma:displayName="Sharing Hint Hash" ma:description="" ma:hidden="true" ma:internalName="SharingHintHash"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6e893c43-06e8-4dcc-9162-927e4eb2508b" elementFormDefault="qualified">
    <xsd:import namespace="http://schemas.microsoft.com/office/2006/documentManagement/types"/>
    <xsd:import namespace="http://schemas.microsoft.com/office/infopath/2007/PartnerControls"/>
    <xsd:element name="MediaServiceMetadata" ma:index="11" nillable="true" ma:displayName="MediaServiceMetadata" ma:hidden="true" ma:internalName="MediaServiceMetadata" ma:readOnly="true">
      <xsd:simpleType>
        <xsd:restriction base="dms:Note"/>
      </xsd:simpleType>
    </xsd:element>
    <xsd:element name="MediaServiceFastMetadata" ma:index="12" nillable="true" ma:displayName="MediaServiceFastMetadata" ma:hidden="true" ma:internalName="MediaServiceFastMetadata" ma:readOnly="true">
      <xsd:simpleType>
        <xsd:restriction base="dms:Note"/>
      </xsd:simpleType>
    </xsd:element>
    <xsd:element name="MediaServiceDateTaken" ma:index="13" nillable="true" ma:displayName="MediaServiceDateTaken" ma:hidden="true" ma:internalName="MediaServiceDateTaken" ma:readOnly="true">
      <xsd:simpleType>
        <xsd:restriction base="dms:Text"/>
      </xsd:simpleType>
    </xsd:element>
    <xsd:element name="MediaServiceAutoTags" ma:index="14" nillable="true" ma:displayName="Tags" ma:internalName="MediaServiceAutoTags" ma:readOnly="true">
      <xsd:simpleType>
        <xsd:restriction base="dms:Text"/>
      </xsd:simpleType>
    </xsd:element>
    <xsd:element name="MediaServiceOCR" ma:index="15" nillable="true" ma:displayName="Extracted Text" ma:internalName="MediaServiceOCR" ma:readOnly="true">
      <xsd:simpleType>
        <xsd:restriction base="dms:Note">
          <xsd:maxLength value="255"/>
        </xsd:restriction>
      </xsd:simpleType>
    </xsd:element>
    <xsd:element name="MediaServiceLocation" ma:index="16" nillable="true" ma:displayName="Location" ma:internalName="MediaServiceLocation" ma:readOnly="true">
      <xsd:simpleType>
        <xsd:restriction base="dms:Text"/>
      </xsd:simpleType>
    </xsd:element>
    <xsd:element name="MediaServiceGenerationTime" ma:index="17" nillable="true" ma:displayName="MediaServiceGenerationTime" ma:hidden="true" ma:internalName="MediaServiceGenerationTime" ma:readOnly="true">
      <xsd:simpleType>
        <xsd:restriction base="dms:Text"/>
      </xsd:simpleType>
    </xsd:element>
    <xsd:element name="MediaServiceEventHashCode" ma:index="18" nillable="true" ma:displayName="MediaServiceEventHashCode" ma:hidden="true" ma:internalName="MediaServiceEventHashCode"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62CB332E-3821-4AF0-8DD5-71E41CFE7691}">
  <ds:schemaRefs>
    <ds:schemaRef ds:uri="6e893c43-06e8-4dcc-9162-927e4eb2508b"/>
    <ds:schemaRef ds:uri="728cbe1e-0b6d-4c58-af8f-81e70400b4e3"/>
    <ds:schemaRef ds:uri="http://schemas.microsoft.com/office/2006/metadata/contentType"/>
    <ds:schemaRef ds:uri="http://schemas.microsoft.com/office/2006/metadata/properties/metaAttributes"/>
    <ds:schemaRef ds:uri="http://www.w3.org/2000/xmlns/"/>
    <ds:schemaRef ds:uri="http://www.w3.org/2001/XMLSchema"/>
    <ds:schemaRef ds:uri="http://schemas.microsoft.com/office/2006/metadata/properties"/>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CDDC0672-AAE1-4BAF-B2ED-D68B4CD362BA}">
  <ds:schemaRefs>
    <ds:schemaRef ds:uri="http://purl.org/dc/terms/"/>
    <ds:schemaRef ds:uri="http://purl.org/dc/elements/1.1/"/>
    <ds:schemaRef ds:uri="http://schemas.openxmlformats.org/package/2006/metadata/core-properties"/>
    <ds:schemaRef ds:uri="http://www.w3.org/XML/1998/namespace"/>
    <ds:schemaRef ds:uri="http://schemas.microsoft.com/office/2006/documentManagement/types"/>
    <ds:schemaRef ds:uri="728cbe1e-0b6d-4c58-af8f-81e70400b4e3"/>
    <ds:schemaRef ds:uri="http://schemas.microsoft.com/office/2006/metadata/properties"/>
    <ds:schemaRef ds:uri="6e893c43-06e8-4dcc-9162-927e4eb2508b"/>
    <ds:schemaRef ds:uri="http://schemas.microsoft.com/office/infopath/2007/PartnerControls"/>
    <ds:schemaRef ds:uri="http://purl.org/dc/dcmitype/"/>
  </ds:schemaRefs>
</ds:datastoreItem>
</file>

<file path=customXml/itemProps3.xml><?xml version="1.0" encoding="utf-8"?>
<ds:datastoreItem xmlns:ds="http://schemas.openxmlformats.org/officeDocument/2006/customXml" ds:itemID="{CA53AD0D-1046-47FD-A817-62AD1F64D7B2}">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Facet</Template>
  <TotalTime>3729</TotalTime>
  <Words>3788</Words>
  <Application>Microsoft Office PowerPoint</Application>
  <PresentationFormat>Widescreen</PresentationFormat>
  <Paragraphs>416</Paragraphs>
  <Slides>36</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36</vt:i4>
      </vt:variant>
    </vt:vector>
  </HeadingPairs>
  <TitlesOfParts>
    <vt:vector size="42" baseType="lpstr">
      <vt:lpstr>Arial</vt:lpstr>
      <vt:lpstr>Calibri</vt:lpstr>
      <vt:lpstr>Calibri Light</vt:lpstr>
      <vt:lpstr>Trebuchet MS</vt:lpstr>
      <vt:lpstr>Wingdings 3</vt:lpstr>
      <vt:lpstr>Facet</vt:lpstr>
      <vt:lpstr>    Research Methods Scientific research &amp; Literature (SPEC 9997)  Assignment 1   Student name = eamonn kelly Student number = D24127620 Date = Feb 2026</vt:lpstr>
      <vt:lpstr>Some of the Databases and Journals Data sources checked</vt:lpstr>
      <vt:lpstr>Predicting Company ESG Ratings from News Articles Using Multivariate Timeseries Analysis</vt:lpstr>
      <vt:lpstr>The Purpose of the Research</vt:lpstr>
      <vt:lpstr>Research Onion Classification</vt:lpstr>
      <vt:lpstr>Philosophy – Epistemology (what is knowledge?)</vt:lpstr>
      <vt:lpstr>Philosophy – Ontology (what is reality?)</vt:lpstr>
      <vt:lpstr>Layer 2. Approaches</vt:lpstr>
      <vt:lpstr>PowerPoint Presentation</vt:lpstr>
      <vt:lpstr>Layer 3. Strategy</vt:lpstr>
      <vt:lpstr>Layer 4. Choices</vt:lpstr>
      <vt:lpstr>Layer 5. Time Horizons</vt:lpstr>
      <vt:lpstr>Layer 6. Techniques and procedures</vt:lpstr>
      <vt:lpstr>Methodology</vt:lpstr>
      <vt:lpstr>Step 1. Build the Datasets</vt:lpstr>
      <vt:lpstr>Overview of the News Article Dataset</vt:lpstr>
      <vt:lpstr>Step 2. Create labelled ESG training data</vt:lpstr>
      <vt:lpstr>Step 3. Train ESG classifier to predict relevant and non relevant ESG articles </vt:lpstr>
      <vt:lpstr>Step 4. generate the “Article2ESG Relevance” time series – filter all articles in the news articles corpus</vt:lpstr>
      <vt:lpstr>Step 5 . Perform Sentiment Analysis to relevant articles to crate sentiment scores.</vt:lpstr>
      <vt:lpstr>Step 6. Semantic Analysis (what the articles are about) – each article becomes a semantic vector representations</vt:lpstr>
      <vt:lpstr>Step 7 . Cluster articles into ESG topics</vt:lpstr>
      <vt:lpstr>Step 8. Create the multi variate time series feature sets</vt:lpstr>
      <vt:lpstr>Step 9. Train the deep learning models to generate ESG ratings on the time series data</vt:lpstr>
      <vt:lpstr>Step 9. CNN - basic convolutional neural network (CNN)</vt:lpstr>
      <vt:lpstr>Step 9. CNN – Deeper Neural Network model</vt:lpstr>
      <vt:lpstr>Step 9. CNN + Transformer Model</vt:lpstr>
      <vt:lpstr>Step 10. Evaluation of ESG Rating</vt:lpstr>
      <vt:lpstr>Model results for 2020 –  (only displaying 2020 results)</vt:lpstr>
      <vt:lpstr>Result and Conclusions</vt:lpstr>
      <vt:lpstr>Conclusions and Further Research</vt:lpstr>
      <vt:lpstr>Research Methods</vt:lpstr>
      <vt:lpstr>Overview of ESG Prediction Model</vt:lpstr>
      <vt:lpstr>Additional references and observations</vt:lpstr>
      <vt:lpstr>References – APA6 style (generated using Zotero)</vt:lpstr>
      <vt:lpstr>General Learnings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Which is the best-performing face recognition algorithm available in OpenCV library?</dc:title>
  <dc:creator>Patryk Duszek</dc:creator>
  <cp:lastModifiedBy>Eamonn Kelly</cp:lastModifiedBy>
  <cp:revision>251</cp:revision>
  <dcterms:created xsi:type="dcterms:W3CDTF">2020-02-09T19:19:03Z</dcterms:created>
  <dcterms:modified xsi:type="dcterms:W3CDTF">2026-03-07T09:01:01Z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0x010100C1649D92A98AC04289356D58C8DD007B</vt:lpwstr>
  </property>
  <property fmtid="{D5CDD505-2E9C-101B-9397-08002B2CF9AE}" pid="3" name="MSIP_Label_7f850223-87a8-40c3-9eb2-432606efca2a_Enabled">
    <vt:lpwstr>True</vt:lpwstr>
  </property>
  <property fmtid="{D5CDD505-2E9C-101B-9397-08002B2CF9AE}" pid="4" name="MSIP_Label_7f850223-87a8-40c3-9eb2-432606efca2a_SiteId">
    <vt:lpwstr>fcb2b37b-5da0-466b-9b83-0014b67a7c78</vt:lpwstr>
  </property>
  <property fmtid="{D5CDD505-2E9C-101B-9397-08002B2CF9AE}" pid="5" name="MSIP_Label_7f850223-87a8-40c3-9eb2-432606efca2a_Owner">
    <vt:lpwstr>john.mcdonnell@bayer.com</vt:lpwstr>
  </property>
  <property fmtid="{D5CDD505-2E9C-101B-9397-08002B2CF9AE}" pid="6" name="MSIP_Label_7f850223-87a8-40c3-9eb2-432606efca2a_SetDate">
    <vt:lpwstr>2020-02-14T19:28:41.9700199Z</vt:lpwstr>
  </property>
  <property fmtid="{D5CDD505-2E9C-101B-9397-08002B2CF9AE}" pid="7" name="MSIP_Label_7f850223-87a8-40c3-9eb2-432606efca2a_Name">
    <vt:lpwstr>NO CLASSIFICATION</vt:lpwstr>
  </property>
  <property fmtid="{D5CDD505-2E9C-101B-9397-08002B2CF9AE}" pid="8" name="MSIP_Label_7f850223-87a8-40c3-9eb2-432606efca2a_Application">
    <vt:lpwstr>Microsoft Azure Information Protection</vt:lpwstr>
  </property>
  <property fmtid="{D5CDD505-2E9C-101B-9397-08002B2CF9AE}" pid="9" name="MSIP_Label_7f850223-87a8-40c3-9eb2-432606efca2a_Extended_MSFT_Method">
    <vt:lpwstr>Manual</vt:lpwstr>
  </property>
  <property fmtid="{D5CDD505-2E9C-101B-9397-08002B2CF9AE}" pid="10" name="Sensitivity">
    <vt:lpwstr>NO CLASSIFICATION</vt:lpwstr>
  </property>
</Properties>
</file>