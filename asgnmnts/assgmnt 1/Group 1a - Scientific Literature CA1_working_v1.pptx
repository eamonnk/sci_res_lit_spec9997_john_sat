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21"/>
  </p:notesMasterIdLst>
  <p:sldIdLst>
    <p:sldId id="256" r:id="rId2"/>
    <p:sldId id="267" r:id="rId3"/>
    <p:sldId id="261" r:id="rId4"/>
    <p:sldId id="276" r:id="rId5"/>
    <p:sldId id="262" r:id="rId6"/>
    <p:sldId id="257" r:id="rId7"/>
    <p:sldId id="259" r:id="rId8"/>
    <p:sldId id="272" r:id="rId9"/>
    <p:sldId id="274" r:id="rId10"/>
    <p:sldId id="266" r:id="rId11"/>
    <p:sldId id="277" r:id="rId12"/>
    <p:sldId id="278" r:id="rId13"/>
    <p:sldId id="268" r:id="rId14"/>
    <p:sldId id="269" r:id="rId15"/>
    <p:sldId id="270" r:id="rId16"/>
    <p:sldId id="273" r:id="rId17"/>
    <p:sldId id="275" r:id="rId18"/>
    <p:sldId id="258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92" autoAdjust="0"/>
    <p:restoredTop sz="94370" autoAdjust="0"/>
  </p:normalViewPr>
  <p:slideViewPr>
    <p:cSldViewPr snapToGrid="0">
      <p:cViewPr varScale="1">
        <p:scale>
          <a:sx n="85" d="100"/>
          <a:sy n="85" d="100"/>
        </p:scale>
        <p:origin x="3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D5BB88-DE6D-438A-98D2-D4EE546364B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76C3A2-2CDC-4EB0-A6A6-19C4255AE99D}">
      <dgm:prSet/>
      <dgm:spPr/>
      <dgm:t>
        <a:bodyPr/>
        <a:lstStyle/>
        <a:p>
          <a:r>
            <a:rPr lang="en-US"/>
            <a:t>Strategies</a:t>
          </a:r>
        </a:p>
      </dgm:t>
    </dgm:pt>
    <dgm:pt modelId="{053CED1A-97A8-4259-8E4A-67A0595DC234}" type="parTrans" cxnId="{D84E2C29-281C-4026-A495-5D5DD4D7B10A}">
      <dgm:prSet/>
      <dgm:spPr/>
      <dgm:t>
        <a:bodyPr/>
        <a:lstStyle/>
        <a:p>
          <a:endParaRPr lang="en-US"/>
        </a:p>
      </dgm:t>
    </dgm:pt>
    <dgm:pt modelId="{C7A4B64D-BC2D-4570-9047-5F674EEEA288}" type="sibTrans" cxnId="{D84E2C29-281C-4026-A495-5D5DD4D7B10A}">
      <dgm:prSet/>
      <dgm:spPr/>
      <dgm:t>
        <a:bodyPr/>
        <a:lstStyle/>
        <a:p>
          <a:endParaRPr lang="en-US"/>
        </a:p>
      </dgm:t>
    </dgm:pt>
    <dgm:pt modelId="{003C6EB2-D93F-49D3-B8F6-7128BB9CE78D}">
      <dgm:prSet/>
      <dgm:spPr/>
      <dgm:t>
        <a:bodyPr/>
        <a:lstStyle/>
        <a:p>
          <a:r>
            <a:rPr lang="en-US"/>
            <a:t>Experiment</a:t>
          </a:r>
        </a:p>
      </dgm:t>
    </dgm:pt>
    <dgm:pt modelId="{9AA68EC0-3628-4DBA-846B-E8C3839B9457}" type="parTrans" cxnId="{BFE6B97F-B2A4-4EE7-9F03-B955A4FA7BBF}">
      <dgm:prSet/>
      <dgm:spPr/>
      <dgm:t>
        <a:bodyPr/>
        <a:lstStyle/>
        <a:p>
          <a:endParaRPr lang="en-US"/>
        </a:p>
      </dgm:t>
    </dgm:pt>
    <dgm:pt modelId="{6A777B66-3890-4DC2-B7D7-F918682585E4}" type="sibTrans" cxnId="{BFE6B97F-B2A4-4EE7-9F03-B955A4FA7BBF}">
      <dgm:prSet/>
      <dgm:spPr/>
      <dgm:t>
        <a:bodyPr/>
        <a:lstStyle/>
        <a:p>
          <a:endParaRPr lang="en-US"/>
        </a:p>
      </dgm:t>
    </dgm:pt>
    <dgm:pt modelId="{5B5A006A-22E2-4978-AE66-606C1BC658EC}">
      <dgm:prSet/>
      <dgm:spPr/>
      <dgm:t>
        <a:bodyPr/>
        <a:lstStyle/>
        <a:p>
          <a:r>
            <a:rPr lang="en-US"/>
            <a:t>Surveys</a:t>
          </a:r>
        </a:p>
      </dgm:t>
    </dgm:pt>
    <dgm:pt modelId="{B80F80AE-7A0E-45B3-BA0F-3AFEFAF001E6}" type="parTrans" cxnId="{14137865-4702-44DA-8828-48D5FBC2FDDC}">
      <dgm:prSet/>
      <dgm:spPr/>
      <dgm:t>
        <a:bodyPr/>
        <a:lstStyle/>
        <a:p>
          <a:endParaRPr lang="en-US"/>
        </a:p>
      </dgm:t>
    </dgm:pt>
    <dgm:pt modelId="{7D35BD95-D02D-47A7-BC0E-CB19F1EA8BC2}" type="sibTrans" cxnId="{14137865-4702-44DA-8828-48D5FBC2FDDC}">
      <dgm:prSet/>
      <dgm:spPr/>
      <dgm:t>
        <a:bodyPr/>
        <a:lstStyle/>
        <a:p>
          <a:endParaRPr lang="en-US"/>
        </a:p>
      </dgm:t>
    </dgm:pt>
    <dgm:pt modelId="{872B5C7B-BCC4-4EA1-8C4E-338AB8A88FC3}">
      <dgm:prSet/>
      <dgm:spPr/>
      <dgm:t>
        <a:bodyPr/>
        <a:lstStyle/>
        <a:p>
          <a:r>
            <a:rPr lang="en-US"/>
            <a:t>Archival research</a:t>
          </a:r>
        </a:p>
      </dgm:t>
    </dgm:pt>
    <dgm:pt modelId="{793CA074-DB45-432E-93C8-570539222844}" type="parTrans" cxnId="{DF466A93-5BEB-4220-82FA-918EB0A505FD}">
      <dgm:prSet/>
      <dgm:spPr/>
      <dgm:t>
        <a:bodyPr/>
        <a:lstStyle/>
        <a:p>
          <a:endParaRPr lang="en-US"/>
        </a:p>
      </dgm:t>
    </dgm:pt>
    <dgm:pt modelId="{20C4D647-115C-4594-841B-60A14FD2DA62}" type="sibTrans" cxnId="{DF466A93-5BEB-4220-82FA-918EB0A505FD}">
      <dgm:prSet/>
      <dgm:spPr/>
      <dgm:t>
        <a:bodyPr/>
        <a:lstStyle/>
        <a:p>
          <a:endParaRPr lang="en-US"/>
        </a:p>
      </dgm:t>
    </dgm:pt>
    <dgm:pt modelId="{643BEA2B-12B1-40A0-BE69-A6FFCD377E27}">
      <dgm:prSet/>
      <dgm:spPr/>
      <dgm:t>
        <a:bodyPr/>
        <a:lstStyle/>
        <a:p>
          <a:r>
            <a:rPr lang="en-US"/>
            <a:t>Common tools</a:t>
          </a:r>
        </a:p>
      </dgm:t>
    </dgm:pt>
    <dgm:pt modelId="{2B0AE5EF-3A0F-4392-970B-EB12E49BD0E8}" type="parTrans" cxnId="{1A126D1A-43B1-4A56-919E-BBB6F67C9AD8}">
      <dgm:prSet/>
      <dgm:spPr/>
      <dgm:t>
        <a:bodyPr/>
        <a:lstStyle/>
        <a:p>
          <a:endParaRPr lang="en-US"/>
        </a:p>
      </dgm:t>
    </dgm:pt>
    <dgm:pt modelId="{8782D8C5-2093-4D6F-8EF6-0EFB04CAB432}" type="sibTrans" cxnId="{1A126D1A-43B1-4A56-919E-BBB6F67C9AD8}">
      <dgm:prSet/>
      <dgm:spPr/>
      <dgm:t>
        <a:bodyPr/>
        <a:lstStyle/>
        <a:p>
          <a:endParaRPr lang="en-US"/>
        </a:p>
      </dgm:t>
    </dgm:pt>
    <dgm:pt modelId="{ED5E6F58-3A27-4460-86B4-04BF93ED2FD1}">
      <dgm:prSet/>
      <dgm:spPr/>
      <dgm:t>
        <a:bodyPr/>
        <a:lstStyle/>
        <a:p>
          <a:r>
            <a:rPr lang="en-US"/>
            <a:t>Forms/questionnaires</a:t>
          </a:r>
        </a:p>
      </dgm:t>
    </dgm:pt>
    <dgm:pt modelId="{FEEDE6D2-E541-470E-9C2C-0FF310852030}" type="parTrans" cxnId="{4A1791D1-4A72-4153-8347-E5FE56D562F3}">
      <dgm:prSet/>
      <dgm:spPr/>
      <dgm:t>
        <a:bodyPr/>
        <a:lstStyle/>
        <a:p>
          <a:endParaRPr lang="en-US"/>
        </a:p>
      </dgm:t>
    </dgm:pt>
    <dgm:pt modelId="{B2A895B2-46A8-4151-910A-64D480582333}" type="sibTrans" cxnId="{4A1791D1-4A72-4153-8347-E5FE56D562F3}">
      <dgm:prSet/>
      <dgm:spPr/>
      <dgm:t>
        <a:bodyPr/>
        <a:lstStyle/>
        <a:p>
          <a:endParaRPr lang="en-US"/>
        </a:p>
      </dgm:t>
    </dgm:pt>
    <dgm:pt modelId="{53D782AB-5CF6-437E-A76B-B8383EA9F736}">
      <dgm:prSet/>
      <dgm:spPr/>
      <dgm:t>
        <a:bodyPr/>
        <a:lstStyle/>
        <a:p>
          <a:r>
            <a:rPr lang="en-US"/>
            <a:t>Statistical software</a:t>
          </a:r>
        </a:p>
      </dgm:t>
    </dgm:pt>
    <dgm:pt modelId="{A480B98B-61F0-43CF-A61C-2C66023676E4}" type="parTrans" cxnId="{4E6A6849-3215-46B8-82C0-F70925338FD3}">
      <dgm:prSet/>
      <dgm:spPr/>
      <dgm:t>
        <a:bodyPr/>
        <a:lstStyle/>
        <a:p>
          <a:endParaRPr lang="en-US"/>
        </a:p>
      </dgm:t>
    </dgm:pt>
    <dgm:pt modelId="{A0B11E10-E65A-4DE7-8C39-FBF205AD57D7}" type="sibTrans" cxnId="{4E6A6849-3215-46B8-82C0-F70925338FD3}">
      <dgm:prSet/>
      <dgm:spPr/>
      <dgm:t>
        <a:bodyPr/>
        <a:lstStyle/>
        <a:p>
          <a:endParaRPr lang="en-US"/>
        </a:p>
      </dgm:t>
    </dgm:pt>
    <dgm:pt modelId="{331735DB-3FC2-4BD5-A543-3067A4396B64}" type="pres">
      <dgm:prSet presAssocID="{A8D5BB88-DE6D-438A-98D2-D4EE546364BC}" presName="linear" presStyleCnt="0">
        <dgm:presLayoutVars>
          <dgm:dir/>
          <dgm:animLvl val="lvl"/>
          <dgm:resizeHandles val="exact"/>
        </dgm:presLayoutVars>
      </dgm:prSet>
      <dgm:spPr/>
    </dgm:pt>
    <dgm:pt modelId="{CEC04270-ABAD-4C46-950D-4B16BF72792B}" type="pres">
      <dgm:prSet presAssocID="{6E76C3A2-2CDC-4EB0-A6A6-19C4255AE99D}" presName="parentLin" presStyleCnt="0"/>
      <dgm:spPr/>
    </dgm:pt>
    <dgm:pt modelId="{CC090591-1580-434D-8551-2ED62EBDB1B9}" type="pres">
      <dgm:prSet presAssocID="{6E76C3A2-2CDC-4EB0-A6A6-19C4255AE99D}" presName="parentLeftMargin" presStyleLbl="node1" presStyleIdx="0" presStyleCnt="2"/>
      <dgm:spPr/>
    </dgm:pt>
    <dgm:pt modelId="{3CC36524-55D2-4DB6-8009-FB89E192E810}" type="pres">
      <dgm:prSet presAssocID="{6E76C3A2-2CDC-4EB0-A6A6-19C4255AE9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A8D2B50-E9A3-4115-983A-ECC98643EAC2}" type="pres">
      <dgm:prSet presAssocID="{6E76C3A2-2CDC-4EB0-A6A6-19C4255AE99D}" presName="negativeSpace" presStyleCnt="0"/>
      <dgm:spPr/>
    </dgm:pt>
    <dgm:pt modelId="{2A32F2F5-ACFD-4B72-9EA7-738A7956DEA6}" type="pres">
      <dgm:prSet presAssocID="{6E76C3A2-2CDC-4EB0-A6A6-19C4255AE99D}" presName="childText" presStyleLbl="conFgAcc1" presStyleIdx="0" presStyleCnt="2">
        <dgm:presLayoutVars>
          <dgm:bulletEnabled val="1"/>
        </dgm:presLayoutVars>
      </dgm:prSet>
      <dgm:spPr/>
    </dgm:pt>
    <dgm:pt modelId="{3EE7743B-E614-4055-9C87-ECC46CFFF972}" type="pres">
      <dgm:prSet presAssocID="{C7A4B64D-BC2D-4570-9047-5F674EEEA288}" presName="spaceBetweenRectangles" presStyleCnt="0"/>
      <dgm:spPr/>
    </dgm:pt>
    <dgm:pt modelId="{C9E074EF-C520-4E7A-87D4-B5E97CE80E96}" type="pres">
      <dgm:prSet presAssocID="{643BEA2B-12B1-40A0-BE69-A6FFCD377E27}" presName="parentLin" presStyleCnt="0"/>
      <dgm:spPr/>
    </dgm:pt>
    <dgm:pt modelId="{0C3CCCC9-F8B2-4349-8824-92B92E424ADF}" type="pres">
      <dgm:prSet presAssocID="{643BEA2B-12B1-40A0-BE69-A6FFCD377E27}" presName="parentLeftMargin" presStyleLbl="node1" presStyleIdx="0" presStyleCnt="2"/>
      <dgm:spPr/>
    </dgm:pt>
    <dgm:pt modelId="{5A229AB5-92E3-4329-B2F3-9B51C1ED868C}" type="pres">
      <dgm:prSet presAssocID="{643BEA2B-12B1-40A0-BE69-A6FFCD377E2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AB90D7D-5821-4217-A5E2-30ABD9EA40AF}" type="pres">
      <dgm:prSet presAssocID="{643BEA2B-12B1-40A0-BE69-A6FFCD377E27}" presName="negativeSpace" presStyleCnt="0"/>
      <dgm:spPr/>
    </dgm:pt>
    <dgm:pt modelId="{0C4E1AF2-4861-474E-A9C6-959B27916146}" type="pres">
      <dgm:prSet presAssocID="{643BEA2B-12B1-40A0-BE69-A6FFCD377E2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0C7CA15-3C18-4C3D-AA38-D9876CD3077B}" type="presOf" srcId="{6E76C3A2-2CDC-4EB0-A6A6-19C4255AE99D}" destId="{CC090591-1580-434D-8551-2ED62EBDB1B9}" srcOrd="0" destOrd="0" presId="urn:microsoft.com/office/officeart/2005/8/layout/list1"/>
    <dgm:cxn modelId="{1A126D1A-43B1-4A56-919E-BBB6F67C9AD8}" srcId="{A8D5BB88-DE6D-438A-98D2-D4EE546364BC}" destId="{643BEA2B-12B1-40A0-BE69-A6FFCD377E27}" srcOrd="1" destOrd="0" parTransId="{2B0AE5EF-3A0F-4392-970B-EB12E49BD0E8}" sibTransId="{8782D8C5-2093-4D6F-8EF6-0EFB04CAB432}"/>
    <dgm:cxn modelId="{E5224627-FE06-48B8-ABC2-92CC9A2CE63F}" type="presOf" srcId="{643BEA2B-12B1-40A0-BE69-A6FFCD377E27}" destId="{5A229AB5-92E3-4329-B2F3-9B51C1ED868C}" srcOrd="1" destOrd="0" presId="urn:microsoft.com/office/officeart/2005/8/layout/list1"/>
    <dgm:cxn modelId="{D84E2C29-281C-4026-A495-5D5DD4D7B10A}" srcId="{A8D5BB88-DE6D-438A-98D2-D4EE546364BC}" destId="{6E76C3A2-2CDC-4EB0-A6A6-19C4255AE99D}" srcOrd="0" destOrd="0" parTransId="{053CED1A-97A8-4259-8E4A-67A0595DC234}" sibTransId="{C7A4B64D-BC2D-4570-9047-5F674EEEA288}"/>
    <dgm:cxn modelId="{FBD37C62-B844-46E8-BD46-84871436A9BC}" type="presOf" srcId="{6E76C3A2-2CDC-4EB0-A6A6-19C4255AE99D}" destId="{3CC36524-55D2-4DB6-8009-FB89E192E810}" srcOrd="1" destOrd="0" presId="urn:microsoft.com/office/officeart/2005/8/layout/list1"/>
    <dgm:cxn modelId="{14137865-4702-44DA-8828-48D5FBC2FDDC}" srcId="{6E76C3A2-2CDC-4EB0-A6A6-19C4255AE99D}" destId="{5B5A006A-22E2-4978-AE66-606C1BC658EC}" srcOrd="1" destOrd="0" parTransId="{B80F80AE-7A0E-45B3-BA0F-3AFEFAF001E6}" sibTransId="{7D35BD95-D02D-47A7-BC0E-CB19F1EA8BC2}"/>
    <dgm:cxn modelId="{4E6A6849-3215-46B8-82C0-F70925338FD3}" srcId="{643BEA2B-12B1-40A0-BE69-A6FFCD377E27}" destId="{53D782AB-5CF6-437E-A76B-B8383EA9F736}" srcOrd="1" destOrd="0" parTransId="{A480B98B-61F0-43CF-A61C-2C66023676E4}" sibTransId="{A0B11E10-E65A-4DE7-8C39-FBF205AD57D7}"/>
    <dgm:cxn modelId="{157F1179-3C51-406B-8818-3CC341FBF30F}" type="presOf" srcId="{872B5C7B-BCC4-4EA1-8C4E-338AB8A88FC3}" destId="{2A32F2F5-ACFD-4B72-9EA7-738A7956DEA6}" srcOrd="0" destOrd="2" presId="urn:microsoft.com/office/officeart/2005/8/layout/list1"/>
    <dgm:cxn modelId="{BFE6B97F-B2A4-4EE7-9F03-B955A4FA7BBF}" srcId="{6E76C3A2-2CDC-4EB0-A6A6-19C4255AE99D}" destId="{003C6EB2-D93F-49D3-B8F6-7128BB9CE78D}" srcOrd="0" destOrd="0" parTransId="{9AA68EC0-3628-4DBA-846B-E8C3839B9457}" sibTransId="{6A777B66-3890-4DC2-B7D7-F918682585E4}"/>
    <dgm:cxn modelId="{76A18E8E-F82B-4F16-8B5A-1227D581E16F}" type="presOf" srcId="{003C6EB2-D93F-49D3-B8F6-7128BB9CE78D}" destId="{2A32F2F5-ACFD-4B72-9EA7-738A7956DEA6}" srcOrd="0" destOrd="0" presId="urn:microsoft.com/office/officeart/2005/8/layout/list1"/>
    <dgm:cxn modelId="{8E92B890-3CBD-49F1-A725-3DC6F5EF7541}" type="presOf" srcId="{ED5E6F58-3A27-4460-86B4-04BF93ED2FD1}" destId="{0C4E1AF2-4861-474E-A9C6-959B27916146}" srcOrd="0" destOrd="0" presId="urn:microsoft.com/office/officeart/2005/8/layout/list1"/>
    <dgm:cxn modelId="{DF466A93-5BEB-4220-82FA-918EB0A505FD}" srcId="{6E76C3A2-2CDC-4EB0-A6A6-19C4255AE99D}" destId="{872B5C7B-BCC4-4EA1-8C4E-338AB8A88FC3}" srcOrd="2" destOrd="0" parTransId="{793CA074-DB45-432E-93C8-570539222844}" sibTransId="{20C4D647-115C-4594-841B-60A14FD2DA62}"/>
    <dgm:cxn modelId="{05FFBA98-B479-4815-8E7D-5BE2E74A8FCF}" type="presOf" srcId="{A8D5BB88-DE6D-438A-98D2-D4EE546364BC}" destId="{331735DB-3FC2-4BD5-A543-3067A4396B64}" srcOrd="0" destOrd="0" presId="urn:microsoft.com/office/officeart/2005/8/layout/list1"/>
    <dgm:cxn modelId="{55F60BC3-D078-496E-87A2-FD431530112F}" type="presOf" srcId="{5B5A006A-22E2-4978-AE66-606C1BC658EC}" destId="{2A32F2F5-ACFD-4B72-9EA7-738A7956DEA6}" srcOrd="0" destOrd="1" presId="urn:microsoft.com/office/officeart/2005/8/layout/list1"/>
    <dgm:cxn modelId="{76FE9ECD-CC8A-430C-81AD-D7EDDD03A213}" type="presOf" srcId="{643BEA2B-12B1-40A0-BE69-A6FFCD377E27}" destId="{0C3CCCC9-F8B2-4349-8824-92B92E424ADF}" srcOrd="0" destOrd="0" presId="urn:microsoft.com/office/officeart/2005/8/layout/list1"/>
    <dgm:cxn modelId="{4A1791D1-4A72-4153-8347-E5FE56D562F3}" srcId="{643BEA2B-12B1-40A0-BE69-A6FFCD377E27}" destId="{ED5E6F58-3A27-4460-86B4-04BF93ED2FD1}" srcOrd="0" destOrd="0" parTransId="{FEEDE6D2-E541-470E-9C2C-0FF310852030}" sibTransId="{B2A895B2-46A8-4151-910A-64D480582333}"/>
    <dgm:cxn modelId="{F7713DE9-0B95-472D-8480-108C1F707BA7}" type="presOf" srcId="{53D782AB-5CF6-437E-A76B-B8383EA9F736}" destId="{0C4E1AF2-4861-474E-A9C6-959B27916146}" srcOrd="0" destOrd="1" presId="urn:microsoft.com/office/officeart/2005/8/layout/list1"/>
    <dgm:cxn modelId="{E8BF8D0A-4CDE-4BED-8424-0DA2AC7E3266}" type="presParOf" srcId="{331735DB-3FC2-4BD5-A543-3067A4396B64}" destId="{CEC04270-ABAD-4C46-950D-4B16BF72792B}" srcOrd="0" destOrd="0" presId="urn:microsoft.com/office/officeart/2005/8/layout/list1"/>
    <dgm:cxn modelId="{34CD042E-ED21-405B-85D2-E126062D3AF1}" type="presParOf" srcId="{CEC04270-ABAD-4C46-950D-4B16BF72792B}" destId="{CC090591-1580-434D-8551-2ED62EBDB1B9}" srcOrd="0" destOrd="0" presId="urn:microsoft.com/office/officeart/2005/8/layout/list1"/>
    <dgm:cxn modelId="{4B9C05CC-1E40-423B-B621-D7C9F99C836F}" type="presParOf" srcId="{CEC04270-ABAD-4C46-950D-4B16BF72792B}" destId="{3CC36524-55D2-4DB6-8009-FB89E192E810}" srcOrd="1" destOrd="0" presId="urn:microsoft.com/office/officeart/2005/8/layout/list1"/>
    <dgm:cxn modelId="{02EB39B7-CC3B-44CA-9503-13283943E8DC}" type="presParOf" srcId="{331735DB-3FC2-4BD5-A543-3067A4396B64}" destId="{9A8D2B50-E9A3-4115-983A-ECC98643EAC2}" srcOrd="1" destOrd="0" presId="urn:microsoft.com/office/officeart/2005/8/layout/list1"/>
    <dgm:cxn modelId="{71619489-272E-4020-8635-0E20A0C768E4}" type="presParOf" srcId="{331735DB-3FC2-4BD5-A543-3067A4396B64}" destId="{2A32F2F5-ACFD-4B72-9EA7-738A7956DEA6}" srcOrd="2" destOrd="0" presId="urn:microsoft.com/office/officeart/2005/8/layout/list1"/>
    <dgm:cxn modelId="{CBDA67D9-98E8-48B8-9101-DF0A7133BACD}" type="presParOf" srcId="{331735DB-3FC2-4BD5-A543-3067A4396B64}" destId="{3EE7743B-E614-4055-9C87-ECC46CFFF972}" srcOrd="3" destOrd="0" presId="urn:microsoft.com/office/officeart/2005/8/layout/list1"/>
    <dgm:cxn modelId="{2C40CAD0-A5D7-4895-B3D3-E5648683E716}" type="presParOf" srcId="{331735DB-3FC2-4BD5-A543-3067A4396B64}" destId="{C9E074EF-C520-4E7A-87D4-B5E97CE80E96}" srcOrd="4" destOrd="0" presId="urn:microsoft.com/office/officeart/2005/8/layout/list1"/>
    <dgm:cxn modelId="{456A2B01-D317-4E9B-A764-35411F244549}" type="presParOf" srcId="{C9E074EF-C520-4E7A-87D4-B5E97CE80E96}" destId="{0C3CCCC9-F8B2-4349-8824-92B92E424ADF}" srcOrd="0" destOrd="0" presId="urn:microsoft.com/office/officeart/2005/8/layout/list1"/>
    <dgm:cxn modelId="{62BCEB08-440E-4A4D-A3AF-47B7AA470A2F}" type="presParOf" srcId="{C9E074EF-C520-4E7A-87D4-B5E97CE80E96}" destId="{5A229AB5-92E3-4329-B2F3-9B51C1ED868C}" srcOrd="1" destOrd="0" presId="urn:microsoft.com/office/officeart/2005/8/layout/list1"/>
    <dgm:cxn modelId="{A773FF0D-58BF-427F-BDEA-644859638E2E}" type="presParOf" srcId="{331735DB-3FC2-4BD5-A543-3067A4396B64}" destId="{9AB90D7D-5821-4217-A5E2-30ABD9EA40AF}" srcOrd="5" destOrd="0" presId="urn:microsoft.com/office/officeart/2005/8/layout/list1"/>
    <dgm:cxn modelId="{33B5EC10-DB16-4513-8612-09E5D1BB88EA}" type="presParOf" srcId="{331735DB-3FC2-4BD5-A543-3067A4396B64}" destId="{0C4E1AF2-4861-474E-A9C6-959B2791614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2F2F5-ACFD-4B72-9EA7-738A7956DEA6}">
      <dsp:nvSpPr>
        <dsp:cNvPr id="0" name=""/>
        <dsp:cNvSpPr/>
      </dsp:nvSpPr>
      <dsp:spPr>
        <a:xfrm>
          <a:off x="0" y="409624"/>
          <a:ext cx="7047080" cy="196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932" tIns="541528" rIns="546932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Experiment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Surveys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Archival research</a:t>
          </a:r>
        </a:p>
      </dsp:txBody>
      <dsp:txXfrm>
        <a:off x="0" y="409624"/>
        <a:ext cx="7047080" cy="1965600"/>
      </dsp:txXfrm>
    </dsp:sp>
    <dsp:sp modelId="{3CC36524-55D2-4DB6-8009-FB89E192E810}">
      <dsp:nvSpPr>
        <dsp:cNvPr id="0" name=""/>
        <dsp:cNvSpPr/>
      </dsp:nvSpPr>
      <dsp:spPr>
        <a:xfrm>
          <a:off x="352354" y="25864"/>
          <a:ext cx="4932956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454" tIns="0" rIns="186454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Strategies</a:t>
          </a:r>
        </a:p>
      </dsp:txBody>
      <dsp:txXfrm>
        <a:off x="389821" y="63331"/>
        <a:ext cx="4858022" cy="692586"/>
      </dsp:txXfrm>
    </dsp:sp>
    <dsp:sp modelId="{0C4E1AF2-4861-474E-A9C6-959B27916146}">
      <dsp:nvSpPr>
        <dsp:cNvPr id="0" name=""/>
        <dsp:cNvSpPr/>
      </dsp:nvSpPr>
      <dsp:spPr>
        <a:xfrm>
          <a:off x="0" y="2899385"/>
          <a:ext cx="7047080" cy="1515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932" tIns="541528" rIns="546932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Forms/questionnaires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Statistical software</a:t>
          </a:r>
        </a:p>
      </dsp:txBody>
      <dsp:txXfrm>
        <a:off x="0" y="2899385"/>
        <a:ext cx="7047080" cy="1515150"/>
      </dsp:txXfrm>
    </dsp:sp>
    <dsp:sp modelId="{5A229AB5-92E3-4329-B2F3-9B51C1ED868C}">
      <dsp:nvSpPr>
        <dsp:cNvPr id="0" name=""/>
        <dsp:cNvSpPr/>
      </dsp:nvSpPr>
      <dsp:spPr>
        <a:xfrm>
          <a:off x="352354" y="2515625"/>
          <a:ext cx="4932956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454" tIns="0" rIns="186454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Common tools</a:t>
          </a:r>
        </a:p>
      </dsp:txBody>
      <dsp:txXfrm>
        <a:off x="389821" y="2553092"/>
        <a:ext cx="4858022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B35C5C-1B6C-4709-A326-0ED772B40443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E1A77-28D3-4FDF-A56A-6124B5C67B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151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6ef5bdbf01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6ef5bdbf01_3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15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39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15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9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5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0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4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7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9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81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cs" smtClean="0"/>
              <a:pPr/>
              <a:t>‹#›</a:t>
            </a:fld>
            <a:endParaRPr lang="cs"/>
          </a:p>
        </p:txBody>
      </p:sp>
      <p:sp>
        <p:nvSpPr>
          <p:cNvPr id="24" name="Google Shape;24;p4"/>
          <p:cNvSpPr txBox="1"/>
          <p:nvPr/>
        </p:nvSpPr>
        <p:spPr>
          <a:xfrm>
            <a:off x="263600" y="6260933"/>
            <a:ext cx="2888000" cy="4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467">
                <a:solidFill>
                  <a:srgbClr val="CCCCCC"/>
                </a:solidFill>
                <a:latin typeface="Average"/>
                <a:ea typeface="Average"/>
                <a:cs typeface="Average"/>
                <a:sym typeface="Average"/>
              </a:rPr>
              <a:t>Scientific Research and Literature </a:t>
            </a:r>
            <a:endParaRPr sz="1467">
              <a:solidFill>
                <a:srgbClr val="CCCCCC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  <p:extLst>
      <p:ext uri="{BB962C8B-B14F-4D97-AF65-F5344CB8AC3E}">
        <p14:creationId xmlns:p14="http://schemas.microsoft.com/office/powerpoint/2010/main" val="174774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27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ceptdraw.com/samples/management-stakeholder-onion-diagram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00313830903180786" TargetMode="External"/><Relationship Id="rId2" Type="http://schemas.openxmlformats.org/officeDocument/2006/relationships/hyperlink" Target="https://chemicalstatistician.wordpress.com/2014/01/24/machine-learning-lesson-of-the-day-the-no-free-lunch-theore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3847/1538-3881/ab5b9e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/>
              <a:t>Scientific Research &amp; Literature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70995" y="643467"/>
            <a:ext cx="3341488" cy="50540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GB" dirty="0">
                <a:latin typeface="+mn-lt"/>
              </a:rPr>
              <a:t>Predicting Company ESG Ratings from News Articles Using</a:t>
            </a:r>
          </a:p>
          <a:p>
            <a:r>
              <a:rPr lang="en-GB" dirty="0">
                <a:latin typeface="+mn-lt"/>
              </a:rPr>
              <a:t>Multivariate Timeseries </a:t>
            </a:r>
            <a:r>
              <a:rPr lang="en-GB" dirty="0" err="1">
                <a:latin typeface="+mn-lt"/>
              </a:rPr>
              <a:t>Analysi</a:t>
            </a:r>
            <a:endParaRPr lang="en-US" dirty="0">
              <a:latin typeface="+mn-lt"/>
            </a:endParaRPr>
          </a:p>
        </p:txBody>
      </p:sp>
      <p:cxnSp>
        <p:nvCxnSpPr>
          <p:cNvPr id="28" name="Straight Connector 9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1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82B9-F254-4447-B3C0-2C49EE19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Overview of different Methods/ Common techniques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438FC-B9ED-422D-8409-DC80144A1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745" y="1993408"/>
            <a:ext cx="10058400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Regression analysis (linear, multi linear, polynomial, logistic)</a:t>
            </a:r>
            <a:endParaRPr lang="en-US" dirty="0">
              <a:cs typeface="Calibri" panose="020F0502020204030204"/>
            </a:endParaRP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Statistical analysis (mean, median, mode, etc.)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Association analysis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Sentiment analysis/ opinion mining</a:t>
            </a:r>
          </a:p>
          <a:p>
            <a:pPr marL="342900" indent="-342900">
              <a:buFont typeface="Wingdings,Sans-Serif" panose="020F0502020204030204" pitchFamily="34" charset="0"/>
              <a:buChar char="§"/>
            </a:pPr>
            <a:r>
              <a:rPr lang="en-US" b="1" u="sng" dirty="0">
                <a:ea typeface="+mn-lt"/>
                <a:cs typeface="+mn-lt"/>
              </a:rPr>
              <a:t>Hypothesis testing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Font typeface="Wingdings,Sans-Serif" panose="020F0502020204030204" pitchFamily="34" charset="0"/>
              <a:buChar char="§"/>
            </a:pPr>
            <a:r>
              <a:rPr lang="en-US" b="1" u="sng" dirty="0">
                <a:ea typeface="+mn-lt"/>
                <a:cs typeface="+mn-lt"/>
              </a:rPr>
              <a:t>Clustering analysis</a:t>
            </a:r>
            <a:endParaRPr lang="en-US" dirty="0"/>
          </a:p>
          <a:p>
            <a:pPr marL="342900" indent="-342900">
              <a:buFont typeface="Wingdings,Sans-Serif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Decision trees</a:t>
            </a:r>
          </a:p>
          <a:p>
            <a:pPr marL="342900" indent="-342900">
              <a:buFont typeface="Wingdings,Sans-Serif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Random forest (Ensemble Learning)</a:t>
            </a:r>
            <a:endParaRPr lang="en-US" dirty="0"/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b="1" u="sng" dirty="0">
                <a:ea typeface="+mn-lt"/>
                <a:cs typeface="+mn-lt"/>
              </a:rPr>
              <a:t>Classification</a:t>
            </a:r>
            <a:endParaRPr lang="en-US" b="1" u="sng" dirty="0">
              <a:cs typeface="Calibri" panose="020F0502020204030204"/>
            </a:endParaRPr>
          </a:p>
          <a:p>
            <a:pPr marL="342900" indent="-342900">
              <a:buFont typeface="Wingdings" panose="020F0502020204030204" pitchFamily="34" charset="0"/>
              <a:buChar char="§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6513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7307-338C-491A-9571-5E72CD16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907" y="416556"/>
            <a:ext cx="9780773" cy="1308991"/>
          </a:xfrm>
        </p:spPr>
        <p:txBody>
          <a:bodyPr>
            <a:normAutofit/>
          </a:bodyPr>
          <a:lstStyle/>
          <a:p>
            <a:r>
              <a:rPr lang="en-US">
                <a:cs typeface="Calibri Light"/>
              </a:rPr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68967-A755-438B-85FE-DD58EB0B6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133" y="1894942"/>
            <a:ext cx="5181365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/>
              <a:t> Attempts to classify new observations based on what it learned from the input training data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/>
              <a:t> Supervised learning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/>
              <a:t> Propensity modelling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/>
              <a:t> Finance, healthcare, customer churn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j-lt"/>
                <a:cs typeface="+mj-lt"/>
              </a:rPr>
              <a:t> Positivism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 Mixed-Methods</a:t>
            </a:r>
          </a:p>
          <a:p>
            <a:pPr>
              <a:buFont typeface="Wingdings" panose="020F0502020204030204" pitchFamily="34" charset="0"/>
              <a:buChar char="§"/>
            </a:pPr>
            <a:endParaRPr lang="en-US">
              <a:cs typeface="Calibri Light"/>
            </a:endParaRPr>
          </a:p>
        </p:txBody>
      </p:sp>
      <p:pic>
        <p:nvPicPr>
          <p:cNvPr id="4" name="Picture 4" descr="A picture containing people&#10;&#10;Description generated with very high confidence">
            <a:extLst>
              <a:ext uri="{FF2B5EF4-FFF2-40B4-BE49-F238E27FC236}">
                <a16:creationId xmlns:a16="http://schemas.microsoft.com/office/drawing/2014/main" id="{092D19C2-EA70-4B78-BC75-97DC68B38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89" y="2025131"/>
            <a:ext cx="5828370" cy="3595229"/>
          </a:xfrm>
          <a:prstGeom prst="rect">
            <a:avLst/>
          </a:prstGeom>
        </p:spPr>
      </p:pic>
      <p:pic>
        <p:nvPicPr>
          <p:cNvPr id="6" name="Picture 6" descr="A picture containing drawing, food&#10;&#10;Description generated with very high confidence">
            <a:extLst>
              <a:ext uri="{FF2B5EF4-FFF2-40B4-BE49-F238E27FC236}">
                <a16:creationId xmlns:a16="http://schemas.microsoft.com/office/drawing/2014/main" id="{D9A8DE7B-853B-4B27-A643-05AFD42B2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506" y="4721378"/>
            <a:ext cx="2728796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8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6593-F2D6-40A4-BD8E-FA1D9CD99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Classification</a:t>
            </a:r>
            <a:br>
              <a:rPr lang="en-US" sz="4300">
                <a:ea typeface="+mj-lt"/>
                <a:cs typeface="+mj-lt"/>
              </a:rPr>
            </a:br>
            <a:r>
              <a:rPr lang="en-US" sz="3200">
                <a:ea typeface="+mj-lt"/>
                <a:cs typeface="+mj-lt"/>
              </a:rPr>
              <a:t>Strategies: Experiment</a:t>
            </a:r>
          </a:p>
        </p:txBody>
      </p:sp>
      <p:pic>
        <p:nvPicPr>
          <p:cNvPr id="4" name="Picture 4" descr="A picture containing indoor, wine, bottle, table&#10;&#10;Description generated with very high confidence">
            <a:extLst>
              <a:ext uri="{FF2B5EF4-FFF2-40B4-BE49-F238E27FC236}">
                <a16:creationId xmlns:a16="http://schemas.microsoft.com/office/drawing/2014/main" id="{9A5BD18B-14BA-4034-8018-861869C5CC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75"/>
          <a:stretch/>
        </p:blipFill>
        <p:spPr>
          <a:xfrm>
            <a:off x="130736" y="2230665"/>
            <a:ext cx="4836708" cy="34206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0823-7ACC-4424-AB9E-E154246B5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7215" y="1845734"/>
            <a:ext cx="6515947" cy="4023360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Layer 3 of Research Onion</a:t>
            </a:r>
            <a:endParaRPr lang="en-US" dirty="0">
              <a:cs typeface="Calibri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Experiment:</a:t>
            </a:r>
          </a:p>
          <a:p>
            <a:pPr marL="577850" lvl="1" indent="-285750">
              <a:buFont typeface="Courier New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No one model that works best for every problem</a:t>
            </a:r>
            <a:endParaRPr lang="en-US" sz="2000" dirty="0">
              <a:cs typeface="Calibri" panose="020F0502020204030204"/>
            </a:endParaRPr>
          </a:p>
          <a:p>
            <a:pPr marL="577850" lvl="1" indent="-285750">
              <a:buFont typeface="Courier New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Experiment multiple models and find one that works best for a particular problem (</a:t>
            </a:r>
            <a:r>
              <a:rPr lang="en-GB" sz="2000" dirty="0">
                <a:ea typeface="+mn-lt"/>
                <a:cs typeface="+mn-lt"/>
              </a:rPr>
              <a:t>Cai, 2014).</a:t>
            </a:r>
            <a:endParaRPr lang="en-US" sz="2000" dirty="0">
              <a:cs typeface="Calibri"/>
            </a:endParaRPr>
          </a:p>
          <a:p>
            <a:pPr marL="577850" lvl="1" indent="-285750">
              <a:buFont typeface="Courier New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Statistically analyze results</a:t>
            </a:r>
            <a:endParaRPr lang="en-US" sz="2000" dirty="0">
              <a:cs typeface="Calibri"/>
            </a:endParaRPr>
          </a:p>
          <a:p>
            <a:pPr marL="292100" lvl="1" indent="0">
              <a:buNone/>
            </a:pPr>
            <a:endParaRPr lang="en-US" sz="2000">
              <a:ea typeface="+mn-lt"/>
              <a:cs typeface="+mn-lt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Archival Research:</a:t>
            </a:r>
            <a:endParaRPr lang="en-US" dirty="0">
              <a:cs typeface="Calibri"/>
            </a:endParaRPr>
          </a:p>
          <a:p>
            <a:pPr marL="383540" lvl="1"/>
            <a:r>
              <a:rPr lang="en-US" sz="2000" dirty="0">
                <a:ea typeface="+mn-lt"/>
                <a:cs typeface="+mn-lt"/>
              </a:rPr>
              <a:t>Classification is about explaining the past and predicting the future</a:t>
            </a:r>
          </a:p>
          <a:p>
            <a:pPr marL="383540" lvl="1"/>
            <a:r>
              <a:rPr lang="en-US" sz="2000" dirty="0">
                <a:ea typeface="+mn-lt"/>
                <a:cs typeface="+mn-lt"/>
              </a:rPr>
              <a:t>Exploring past data or existing datasets </a:t>
            </a:r>
          </a:p>
          <a:p>
            <a:pPr marL="383540" lvl="1"/>
            <a:r>
              <a:rPr lang="en-US" sz="2000" dirty="0">
                <a:ea typeface="+mn-lt"/>
                <a:cs typeface="+mn-lt"/>
              </a:rPr>
              <a:t>To predict future values</a:t>
            </a:r>
            <a:endParaRPr lang="en-US" sz="2000" dirty="0">
              <a:cs typeface="Calibri"/>
            </a:endParaRPr>
          </a:p>
          <a:p>
            <a:pPr>
              <a:buFont typeface="Wingdings" panose="020F0502020204030204" pitchFamily="34" charset="0"/>
              <a:buChar char="§"/>
            </a:pPr>
            <a:endParaRPr lang="en-US" sz="1700">
              <a:cs typeface="Calibri"/>
            </a:endParaRPr>
          </a:p>
          <a:p>
            <a:pPr marL="0" indent="0">
              <a:buNone/>
            </a:pPr>
            <a:endParaRPr lang="en-US" sz="1700">
              <a:cs typeface="Calibri"/>
            </a:endParaRPr>
          </a:p>
          <a:p>
            <a:pPr marL="0" indent="0">
              <a:buNone/>
            </a:pPr>
            <a:endParaRPr lang="en-US" sz="1700">
              <a:cs typeface="Calibri"/>
            </a:endParaRPr>
          </a:p>
          <a:p>
            <a:pPr marL="292100" lvl="1" indent="0">
              <a:buNone/>
            </a:pPr>
            <a:endParaRPr lang="en-US" sz="1700">
              <a:cs typeface="Calibri"/>
            </a:endParaRPr>
          </a:p>
          <a:p>
            <a:endParaRPr lang="en-US" sz="17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0984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66A4-444E-408D-940B-93CE06318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135" y="103094"/>
            <a:ext cx="9404723" cy="1400530"/>
          </a:xfrm>
        </p:spPr>
        <p:txBody>
          <a:bodyPr/>
          <a:lstStyle/>
          <a:p>
            <a:r>
              <a:rPr lang="en-US"/>
              <a:t>Classification</a:t>
            </a:r>
            <a:br>
              <a:rPr lang="en-US"/>
            </a:br>
            <a:r>
              <a:rPr lang="en-US" sz="3200"/>
              <a:t>Data Collection, Analysis Methods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EF196-E7A8-4896-BFE5-A9CFFE339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488" y="1506071"/>
            <a:ext cx="8946541" cy="419548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n-US"/>
          </a:p>
          <a:p>
            <a:r>
              <a:rPr lang="en-US"/>
              <a:t>Method: Experiment - Correlation</a:t>
            </a:r>
            <a:endParaRPr lang="en-US">
              <a:cs typeface="Calibri"/>
            </a:endParaRPr>
          </a:p>
          <a:p>
            <a:pPr marL="383540" lvl="1">
              <a:buFont typeface="Wingdings" pitchFamily="34" charset="0"/>
              <a:buChar char="§"/>
            </a:pPr>
            <a:r>
              <a:rPr lang="en-US"/>
              <a:t>Logistic regression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itchFamily="34" charset="0"/>
              <a:buChar char="§"/>
            </a:pPr>
            <a:r>
              <a:rPr lang="en-US"/>
              <a:t>Classification models</a:t>
            </a:r>
            <a:endParaRPr lang="en-US">
              <a:cs typeface="Calibri" panose="020F0502020204030204"/>
            </a:endParaRPr>
          </a:p>
          <a:p>
            <a:r>
              <a:rPr lang="en-US"/>
              <a:t>Analysis: Statistical </a:t>
            </a:r>
            <a:endParaRPr lang="en-US">
              <a:cs typeface="Calibri"/>
            </a:endParaRPr>
          </a:p>
          <a:p>
            <a:r>
              <a:rPr lang="en-US"/>
              <a:t>Tools:</a:t>
            </a:r>
            <a:endParaRPr lang="en-US">
              <a:cs typeface="Calibri"/>
            </a:endParaRPr>
          </a:p>
          <a:p>
            <a:pPr marL="383540" lvl="1">
              <a:buFont typeface="Wingdings" pitchFamily="34" charset="0"/>
              <a:buChar char="§"/>
            </a:pPr>
            <a:r>
              <a:rPr lang="en-US"/>
              <a:t>Decision trees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itchFamily="34" charset="0"/>
              <a:buChar char="§"/>
            </a:pPr>
            <a:r>
              <a:rPr lang="en-US"/>
              <a:t>Random forests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itchFamily="34" charset="0"/>
              <a:buChar char="§"/>
            </a:pPr>
            <a:r>
              <a:rPr lang="en-US"/>
              <a:t>SVM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itchFamily="34" charset="0"/>
              <a:buChar char="§"/>
            </a:pPr>
            <a:r>
              <a:rPr lang="en-US"/>
              <a:t>K-nearest neighbors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itchFamily="34" charset="0"/>
              <a:buChar char="§"/>
            </a:pPr>
            <a:r>
              <a:rPr lang="en-US">
                <a:ea typeface="+mj-lt"/>
                <a:cs typeface="+mj-lt"/>
              </a:rPr>
              <a:t>ANN</a:t>
            </a:r>
          </a:p>
          <a:p>
            <a:pPr marL="383540" lvl="1">
              <a:buFont typeface="Wingdings" pitchFamily="34" charset="0"/>
              <a:buChar char="§"/>
            </a:pPr>
            <a:r>
              <a:rPr lang="en-US">
                <a:ea typeface="+mj-lt"/>
                <a:cs typeface="+mj-lt"/>
              </a:rPr>
              <a:t>Naive Bayes </a:t>
            </a:r>
            <a:endParaRPr lang="en-US">
              <a:cs typeface="Calibri" panose="020F0502020204030204"/>
            </a:endParaRPr>
          </a:p>
          <a:p>
            <a:endParaRPr lang="en-US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8857BFFD-855E-462E-A4B0-388702793E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44" b="20745"/>
          <a:stretch/>
        </p:blipFill>
        <p:spPr>
          <a:xfrm>
            <a:off x="4786894" y="1588494"/>
            <a:ext cx="3649080" cy="1389597"/>
          </a:xfrm>
          <a:prstGeom prst="rect">
            <a:avLst/>
          </a:prstGeom>
        </p:spPr>
      </p:pic>
      <p:pic>
        <p:nvPicPr>
          <p:cNvPr id="6" name="Picture 6" descr="A close up of a map&#10;&#10;Description generated with high confidence">
            <a:extLst>
              <a:ext uri="{FF2B5EF4-FFF2-40B4-BE49-F238E27FC236}">
                <a16:creationId xmlns:a16="http://schemas.microsoft.com/office/drawing/2014/main" id="{15518E88-BB1D-4CBD-AF52-C38B0E1360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699" t="21131" r="17595" b="14583"/>
          <a:stretch/>
        </p:blipFill>
        <p:spPr>
          <a:xfrm>
            <a:off x="8717740" y="1689942"/>
            <a:ext cx="3388958" cy="307512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296ABB-BFF8-4099-95AE-04D89C288FAA}"/>
              </a:ext>
            </a:extLst>
          </p:cNvPr>
          <p:cNvCxnSpPr/>
          <p:nvPr/>
        </p:nvCxnSpPr>
        <p:spPr>
          <a:xfrm flipV="1">
            <a:off x="3146613" y="2263588"/>
            <a:ext cx="1281951" cy="1075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DAFA15-C103-49EE-9D19-F65F30AB6206}"/>
              </a:ext>
            </a:extLst>
          </p:cNvPr>
          <p:cNvCxnSpPr>
            <a:cxnSpLocks/>
          </p:cNvCxnSpPr>
          <p:nvPr/>
        </p:nvCxnSpPr>
        <p:spPr>
          <a:xfrm flipV="1">
            <a:off x="2779060" y="3554507"/>
            <a:ext cx="5513291" cy="4571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10" descr="A close up of a sign&#10;&#10;Description generated with high confidence">
            <a:extLst>
              <a:ext uri="{FF2B5EF4-FFF2-40B4-BE49-F238E27FC236}">
                <a16:creationId xmlns:a16="http://schemas.microsoft.com/office/drawing/2014/main" id="{6F5833BF-44E6-42E1-BF0D-FC5BC94B1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907" y="4088013"/>
            <a:ext cx="4482350" cy="252783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322209-F57B-4D6C-856C-3C3B1FF2A06E}"/>
              </a:ext>
            </a:extLst>
          </p:cNvPr>
          <p:cNvCxnSpPr>
            <a:cxnSpLocks/>
          </p:cNvCxnSpPr>
          <p:nvPr/>
        </p:nvCxnSpPr>
        <p:spPr>
          <a:xfrm flipV="1">
            <a:off x="2599765" y="5275729"/>
            <a:ext cx="1281951" cy="1075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284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23B8-25E8-4D82-B6BF-25E810E9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u="sng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5BAAD-EC38-4E36-A78C-8C42CDEA5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sz="1900">
                <a:ea typeface="+mj-lt"/>
                <a:cs typeface="+mj-lt"/>
              </a:rPr>
              <a:t> Clustering is the process of partitioning a set of data (or objects) into a set of meaningful sub-classes, called clusters  (Kaur &amp; Kumar, 2016). </a:t>
            </a:r>
            <a:endParaRPr lang="en-US"/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sz="1900"/>
              <a:t> Unsupervised Learning</a:t>
            </a:r>
            <a:endParaRPr lang="en-US" sz="1900"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sz="1900"/>
              <a:t> K- Means and Mean –Shift clustering</a:t>
            </a:r>
            <a:endParaRPr lang="en-US" sz="1900"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sz="1900"/>
              <a:t> Good at creating quick logical groupings</a:t>
            </a:r>
            <a:endParaRPr lang="en-US" sz="1900">
              <a:cs typeface="Calibri" panose="020F0502020204030204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sz="1900"/>
              <a:t> Fraud detection, groupings of animals or plants, weather patterns</a:t>
            </a:r>
            <a:endParaRPr lang="en-US" sz="1900"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sz="1900"/>
              <a:t> Useful tool as pre-cursor to classification</a:t>
            </a:r>
            <a:endParaRPr lang="en-US" sz="1900">
              <a:cs typeface="Calibri"/>
            </a:endParaRPr>
          </a:p>
          <a:p>
            <a:endParaRPr lang="en-US"/>
          </a:p>
        </p:txBody>
      </p:sp>
      <p:pic>
        <p:nvPicPr>
          <p:cNvPr id="4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3D10E25-E863-4764-BD9D-AFC8FE27F6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92" r="1" b="1"/>
          <a:stretch/>
        </p:blipFill>
        <p:spPr>
          <a:xfrm>
            <a:off x="7627664" y="2133477"/>
            <a:ext cx="4486468" cy="367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32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D8A0-B315-482C-8D51-D9E06B50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u="sng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22705-0628-4687-9993-C4361A16C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20F0502020204030204" pitchFamily="34" charset="0"/>
              <a:buChar char="§"/>
            </a:pPr>
            <a:r>
              <a:rPr lang="en-US"/>
              <a:t> </a:t>
            </a:r>
            <a:r>
              <a:rPr lang="en-US" sz="1800"/>
              <a:t>Layer 6 of research onion</a:t>
            </a:r>
            <a:endParaRPr lang="en-US">
              <a:cs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20F0502020204030204" pitchFamily="34" charset="0"/>
              <a:buChar char="§"/>
            </a:pPr>
            <a:r>
              <a:rPr lang="en-US" sz="1800"/>
              <a:t> Method: Experiment- Correlational </a:t>
            </a:r>
            <a:endParaRPr lang="en-US" sz="1800">
              <a:cs typeface="Calibri"/>
            </a:endParaRPr>
          </a:p>
          <a:p>
            <a:pPr marL="285750" indent="-285750">
              <a:lnSpc>
                <a:spcPct val="150000"/>
              </a:lnSpc>
              <a:buFont typeface="Wingdings" panose="020F0502020204030204" pitchFamily="34" charset="0"/>
              <a:buChar char="§"/>
            </a:pPr>
            <a:r>
              <a:rPr lang="en-US" sz="1800">
                <a:cs typeface="Calibri"/>
              </a:rPr>
              <a:t> Inductive</a:t>
            </a:r>
          </a:p>
          <a:p>
            <a:pPr marL="285750" indent="-285750">
              <a:lnSpc>
                <a:spcPct val="150000"/>
              </a:lnSpc>
              <a:buFont typeface="Wingdings" panose="020F0502020204030204" pitchFamily="34" charset="0"/>
              <a:buChar char="§"/>
            </a:pPr>
            <a:r>
              <a:rPr lang="en-US" sz="1800"/>
              <a:t> Analysis: Statistical</a:t>
            </a:r>
            <a:endParaRPr lang="en-US" sz="1800">
              <a:cs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20F0502020204030204" pitchFamily="34" charset="0"/>
              <a:buChar char="§"/>
            </a:pPr>
            <a:r>
              <a:rPr lang="en-US" sz="1800"/>
              <a:t> Tools : Machine Learning, SAS Enterprise Miner, </a:t>
            </a:r>
            <a:r>
              <a:rPr lang="en-US" sz="1800" err="1"/>
              <a:t>Cluto</a:t>
            </a:r>
            <a:endParaRPr lang="en-US" sz="1800">
              <a:cs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20F0502020204030204" pitchFamily="34" charset="0"/>
              <a:buChar char="§"/>
            </a:pPr>
            <a:r>
              <a:rPr lang="en-US" sz="1800"/>
              <a:t> Quantitative or qualitative </a:t>
            </a:r>
            <a:endParaRPr lang="en-US" sz="1800">
              <a:cs typeface="Calibri" panose="020F0502020204030204"/>
            </a:endParaRPr>
          </a:p>
          <a:p>
            <a:endParaRPr lang="en-US"/>
          </a:p>
        </p:txBody>
      </p:sp>
      <p:pic>
        <p:nvPicPr>
          <p:cNvPr id="4" name="Picture 4" descr="A picture containing game, ball&#10;&#10;Description generated with very high confidence">
            <a:extLst>
              <a:ext uri="{FF2B5EF4-FFF2-40B4-BE49-F238E27FC236}">
                <a16:creationId xmlns:a16="http://schemas.microsoft.com/office/drawing/2014/main" id="{8FC10323-9FEC-4DE4-B635-286079FA4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204" y="2339128"/>
            <a:ext cx="4478260" cy="244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8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8068D-A370-48FE-AD69-B7C2D5FA8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Hypothesis Testing</a:t>
            </a:r>
            <a:endParaRPr lang="en-US">
              <a:cs typeface="Calibri Light"/>
            </a:endParaRPr>
          </a:p>
        </p:txBody>
      </p:sp>
      <p:cxnSp>
        <p:nvCxnSpPr>
          <p:cNvPr id="16" name="Straight Connector 1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AA081-347C-43EA-8E0F-EE9054638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lvl="1">
              <a:spcBef>
                <a:spcPts val="0"/>
              </a:spcBef>
              <a:buChar char="•"/>
            </a:pPr>
            <a:endParaRPr lang="en-US">
              <a:ea typeface="+mj-lt"/>
              <a:cs typeface="+mj-lt"/>
            </a:endParaRPr>
          </a:p>
          <a:p>
            <a:pPr marL="383540" lvl="1">
              <a:spcBef>
                <a:spcPts val="0"/>
              </a:spcBef>
              <a:buFont typeface="Wingdings" pitchFamily="34" charset="0"/>
              <a:buChar char="§"/>
            </a:pPr>
            <a:r>
              <a:rPr lang="en-US">
                <a:cs typeface="Calibri Light"/>
              </a:rPr>
              <a:t>Method of testing a new theory</a:t>
            </a:r>
          </a:p>
          <a:p>
            <a:pPr marL="383540" lvl="1">
              <a:spcBef>
                <a:spcPts val="0"/>
              </a:spcBef>
              <a:buFont typeface="Wingdings" pitchFamily="34" charset="0"/>
              <a:buChar char="§"/>
            </a:pPr>
            <a:endParaRPr lang="en-US">
              <a:cs typeface="Calibri Light"/>
            </a:endParaRPr>
          </a:p>
          <a:p>
            <a:pPr marL="383540" lvl="1">
              <a:spcBef>
                <a:spcPts val="0"/>
              </a:spcBef>
              <a:buFont typeface="Wingdings" pitchFamily="34" charset="0"/>
              <a:buChar char="§"/>
            </a:pPr>
            <a:r>
              <a:rPr lang="en-US">
                <a:cs typeface="Calibri Light"/>
              </a:rPr>
              <a:t>Relies on gathering information to support the new theory</a:t>
            </a:r>
          </a:p>
          <a:p>
            <a:pPr marL="383540" lvl="1">
              <a:spcBef>
                <a:spcPts val="0"/>
              </a:spcBef>
              <a:buFont typeface="Wingdings" pitchFamily="34" charset="0"/>
              <a:buChar char="§"/>
            </a:pPr>
            <a:endParaRPr lang="en-US">
              <a:cs typeface="Calibri Light"/>
            </a:endParaRPr>
          </a:p>
          <a:p>
            <a:pPr marL="383540" lvl="1">
              <a:spcBef>
                <a:spcPts val="0"/>
              </a:spcBef>
              <a:buFont typeface="Wingdings" pitchFamily="34" charset="0"/>
              <a:buChar char="§"/>
            </a:pPr>
            <a:r>
              <a:rPr lang="en-US">
                <a:cs typeface="Calibri Light"/>
              </a:rPr>
              <a:t>Purely deductive approach</a:t>
            </a:r>
          </a:p>
          <a:p>
            <a:pPr marL="383540" lvl="1">
              <a:spcBef>
                <a:spcPts val="0"/>
              </a:spcBef>
              <a:buFont typeface="Wingdings" pitchFamily="34" charset="0"/>
              <a:buChar char="§"/>
            </a:pPr>
            <a:endParaRPr lang="en-US">
              <a:cs typeface="Calibri Light"/>
            </a:endParaRPr>
          </a:p>
          <a:p>
            <a:pPr marL="383540" lvl="1">
              <a:spcBef>
                <a:spcPts val="0"/>
              </a:spcBef>
              <a:buFont typeface="Wingdings" pitchFamily="34" charset="0"/>
              <a:buChar char="§"/>
            </a:pPr>
            <a:r>
              <a:rPr lang="en-US">
                <a:cs typeface="Calibri Light"/>
              </a:rPr>
              <a:t>Designed for quantitative data – perhaps following qualitative research</a:t>
            </a:r>
          </a:p>
          <a:p>
            <a:pPr marL="383540" lvl="1">
              <a:spcBef>
                <a:spcPts val="0"/>
              </a:spcBef>
              <a:buChar char="•"/>
            </a:pPr>
            <a:endParaRPr lang="en-US">
              <a:cs typeface="Calibri Light"/>
            </a:endParaRPr>
          </a:p>
          <a:p>
            <a:pPr marL="383540" lvl="1">
              <a:spcBef>
                <a:spcPts val="0"/>
              </a:spcBef>
              <a:buChar char="•"/>
            </a:pPr>
            <a:endParaRPr lang="en-US">
              <a:cs typeface="Calibri Light"/>
            </a:endParaRPr>
          </a:p>
          <a:p>
            <a:pPr marL="383540" lvl="1">
              <a:spcBef>
                <a:spcPts val="0"/>
              </a:spcBef>
              <a:buChar char="•"/>
            </a:pPr>
            <a:endParaRPr lang="en-US">
              <a:cs typeface="Calibri Light"/>
            </a:endParaRPr>
          </a:p>
          <a:p>
            <a:pPr marL="383540" lvl="1">
              <a:spcBef>
                <a:spcPts val="0"/>
              </a:spcBef>
              <a:buChar char="•"/>
            </a:pPr>
            <a:endParaRPr lang="en-US">
              <a:cs typeface="Calibri Light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58C694-66F2-4AA4-B498-1C7A351562FE}"/>
              </a:ext>
            </a:extLst>
          </p:cNvPr>
          <p:cNvGrpSpPr/>
          <p:nvPr/>
        </p:nvGrpSpPr>
        <p:grpSpPr>
          <a:xfrm>
            <a:off x="643191" y="1437123"/>
            <a:ext cx="5451628" cy="3667264"/>
            <a:chOff x="643191" y="1437123"/>
            <a:chExt cx="5451628" cy="3667264"/>
          </a:xfrm>
        </p:grpSpPr>
        <p:pic>
          <p:nvPicPr>
            <p:cNvPr id="6" name="Picture 6" descr="A close up of a sign&#10;&#10;Description generated with high confidence">
              <a:extLst>
                <a:ext uri="{FF2B5EF4-FFF2-40B4-BE49-F238E27FC236}">
                  <a16:creationId xmlns:a16="http://schemas.microsoft.com/office/drawing/2014/main" id="{CE27E2C7-E009-4101-96AE-961DC5D245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618" t="23864" r="19523"/>
            <a:stretch/>
          </p:blipFill>
          <p:spPr>
            <a:xfrm>
              <a:off x="643192" y="1437123"/>
              <a:ext cx="5451627" cy="3663712"/>
            </a:xfrm>
            <a:prstGeom prst="rect">
              <a:avLst/>
            </a:prstGeom>
          </p:spPr>
        </p:pic>
        <p:pic>
          <p:nvPicPr>
            <p:cNvPr id="20" name="Picture 6" descr="A close up of a sign&#10;&#10;Description generated with high confidence">
              <a:extLst>
                <a:ext uri="{FF2B5EF4-FFF2-40B4-BE49-F238E27FC236}">
                  <a16:creationId xmlns:a16="http://schemas.microsoft.com/office/drawing/2014/main" id="{DB7E1646-729B-4318-AE53-7C5D3895E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652" t="93688" r="142"/>
            <a:stretch/>
          </p:blipFill>
          <p:spPr>
            <a:xfrm>
              <a:off x="643191" y="4913747"/>
              <a:ext cx="1001202" cy="190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031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068D-A370-48FE-AD69-B7C2D5FA8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Hypothesis Testing</a:t>
            </a:r>
            <a:endParaRPr lang="en-US">
              <a:cs typeface="Calibri Ligh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F241C89-D402-4577-B96A-4AA8C335FB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08939"/>
              </p:ext>
            </p:extLst>
          </p:nvPr>
        </p:nvGraphicFramePr>
        <p:xfrm>
          <a:off x="850144" y="1861180"/>
          <a:ext cx="7047080" cy="444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" name="Picture 21" descr="A picture containing drawing&#10;&#10;Description generated with very high confidence">
            <a:extLst>
              <a:ext uri="{FF2B5EF4-FFF2-40B4-BE49-F238E27FC236}">
                <a16:creationId xmlns:a16="http://schemas.microsoft.com/office/drawing/2014/main" id="{187D6550-0DC3-4294-A4B5-DBA7DED8D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8184" y="4080465"/>
            <a:ext cx="4045808" cy="2249959"/>
          </a:xfrm>
          <a:prstGeom prst="rect">
            <a:avLst/>
          </a:prstGeom>
        </p:spPr>
      </p:pic>
      <p:pic>
        <p:nvPicPr>
          <p:cNvPr id="74" name="Picture 74" descr="A close up of a logo&#10;&#10;Description generated with high confidence">
            <a:extLst>
              <a:ext uri="{FF2B5EF4-FFF2-40B4-BE49-F238E27FC236}">
                <a16:creationId xmlns:a16="http://schemas.microsoft.com/office/drawing/2014/main" id="{102CEA62-3D98-418E-8481-870F5A1521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5992" y="1929488"/>
            <a:ext cx="2391966" cy="238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55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5C8F-6209-444D-B77C-F5FE9BBBC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28" y="224144"/>
            <a:ext cx="10664252" cy="1537600"/>
          </a:xfrm>
        </p:spPr>
        <p:txBody>
          <a:bodyPr>
            <a:normAutofit/>
          </a:bodyPr>
          <a:lstStyle/>
          <a:p>
            <a:r>
              <a:rPr lang="en-US" sz="4000" b="1" cap="all" dirty="0">
                <a:ea typeface="+mj-lt"/>
                <a:cs typeface="+mj-lt"/>
              </a:rPr>
              <a:t>ANN in ROBO Advisory</a:t>
            </a:r>
            <a:br>
              <a:rPr lang="en-US" b="1" cap="all" dirty="0">
                <a:ea typeface="+mj-lt"/>
                <a:cs typeface="+mj-lt"/>
              </a:rPr>
            </a:br>
            <a:r>
              <a:rPr lang="en-US" sz="2400" b="1" cap="all" dirty="0">
                <a:ea typeface="+mj-lt"/>
                <a:cs typeface="+mj-lt"/>
              </a:rPr>
              <a:t>Visualizing in the inner layers of the neural network?</a:t>
            </a:r>
            <a:br>
              <a:rPr lang="en-US" sz="2400" b="1" cap="all" dirty="0">
                <a:ea typeface="+mj-lt"/>
                <a:cs typeface="+mj-lt"/>
              </a:rPr>
            </a:br>
            <a:r>
              <a:rPr lang="en-US" sz="1800" b="1" cap="all" dirty="0">
                <a:cs typeface="Calibri Light" panose="020F0302020204030204"/>
              </a:rPr>
              <a:t>(Senko, 2019)</a:t>
            </a:r>
            <a:br>
              <a:rPr lang="en-US" sz="1800" b="1" cap="all" dirty="0">
                <a:cs typeface="Calibri Light" panose="020F0302020204030204"/>
              </a:rPr>
            </a:br>
            <a:endParaRPr lang="en-US" sz="1800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EF28-EB09-41CF-85DB-8FB421EA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77" y="1845734"/>
            <a:ext cx="10739203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Philosophy:         </a:t>
            </a:r>
            <a:r>
              <a:rPr lang="en-US" b="1">
                <a:ea typeface="+mn-lt"/>
                <a:cs typeface="+mn-lt"/>
              </a:rPr>
              <a:t>Positivist epistemological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Approach:           </a:t>
            </a:r>
            <a:r>
              <a:rPr lang="en-US" b="1">
                <a:ea typeface="+mn-lt"/>
                <a:cs typeface="+mn-lt"/>
              </a:rPr>
              <a:t>Deductive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Strategy:             </a:t>
            </a:r>
            <a:r>
              <a:rPr lang="en-US" b="1">
                <a:ea typeface="+mn-lt"/>
                <a:cs typeface="+mn-lt"/>
              </a:rPr>
              <a:t>Experiment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Choice:                </a:t>
            </a:r>
            <a:r>
              <a:rPr lang="en-US" b="1">
                <a:ea typeface="+mn-lt"/>
                <a:cs typeface="+mn-lt"/>
              </a:rPr>
              <a:t>Mixed-methods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Time-horizon:    </a:t>
            </a:r>
            <a:r>
              <a:rPr lang="en-US" b="1">
                <a:ea typeface="+mn-lt"/>
                <a:cs typeface="+mn-lt"/>
              </a:rPr>
              <a:t>Cross-sectional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Data Collection and Analysis: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Experiment:     </a:t>
            </a:r>
            <a:r>
              <a:rPr lang="en-US" b="1">
                <a:ea typeface="+mn-lt"/>
                <a:cs typeface="+mn-lt"/>
              </a:rPr>
              <a:t>Correlation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Analysis:           </a:t>
            </a:r>
            <a:r>
              <a:rPr lang="en-US" b="1">
                <a:ea typeface="+mn-lt"/>
                <a:cs typeface="+mn-lt"/>
              </a:rPr>
              <a:t>Statistical and Sensitivity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Tool:                  </a:t>
            </a:r>
            <a:r>
              <a:rPr lang="en-US" b="1">
                <a:ea typeface="+mn-lt"/>
                <a:cs typeface="+mn-lt"/>
              </a:rPr>
              <a:t>Artificial Neural Network</a:t>
            </a:r>
            <a:endParaRPr lang="en-US">
              <a:cs typeface="Calibri"/>
            </a:endParaRPr>
          </a:p>
        </p:txBody>
      </p:sp>
      <p:pic>
        <p:nvPicPr>
          <p:cNvPr id="8" name="Picture 8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6C74116E-C892-4E07-8823-59AA9D3AF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992" y="1978377"/>
            <a:ext cx="6581135" cy="3931494"/>
          </a:xfrm>
          <a:prstGeom prst="rect">
            <a:avLst/>
          </a:prstGeom>
        </p:spPr>
      </p:pic>
      <p:pic>
        <p:nvPicPr>
          <p:cNvPr id="10" name="Picture 10" descr="A person in a suit and tie&#10;&#10;Description generated with very high confidence">
            <a:extLst>
              <a:ext uri="{FF2B5EF4-FFF2-40B4-BE49-F238E27FC236}">
                <a16:creationId xmlns:a16="http://schemas.microsoft.com/office/drawing/2014/main" id="{BD320D65-EF49-4C34-869A-A693E15CB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154" y="143928"/>
            <a:ext cx="2836889" cy="1562607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5C0AD851-C720-4934-A194-3F58CF184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6847" y="6023866"/>
            <a:ext cx="590550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69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cs" sz="3200">
                <a:solidFill>
                  <a:schemeClr val="accent5"/>
                </a:solidFill>
              </a:rPr>
              <a:t>Research Method </a:t>
            </a:r>
            <a:r>
              <a:rPr lang="cs" sz="3200">
                <a:solidFill>
                  <a:schemeClr val="accent6"/>
                </a:solidFill>
              </a:rPr>
              <a:t>- Benchmarking</a:t>
            </a:r>
            <a:endParaRPr sz="3200">
              <a:solidFill>
                <a:schemeClr val="accent6"/>
              </a:solidFill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415600" y="1285467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423323">
              <a:buSzPts val="1400"/>
            </a:pPr>
            <a:r>
              <a:rPr lang="cs" sz="1867" u="sng"/>
              <a:t>Epistemology</a:t>
            </a:r>
            <a:endParaRPr sz="1867" u="sng"/>
          </a:p>
          <a:p>
            <a:pPr lvl="1" indent="-397923">
              <a:spcBef>
                <a:spcPts val="0"/>
              </a:spcBef>
              <a:buSzPts val="1100"/>
            </a:pPr>
            <a:r>
              <a:rPr lang="cs" sz="1467"/>
              <a:t>Concerns ‘hard’ data rather than opinions</a:t>
            </a:r>
            <a:endParaRPr sz="1467"/>
          </a:p>
          <a:p>
            <a:pPr indent="-423323">
              <a:buSzPts val="1400"/>
            </a:pPr>
            <a:r>
              <a:rPr lang="cs" sz="1867" u="sng"/>
              <a:t>Positivism &amp; Realism</a:t>
            </a:r>
            <a:endParaRPr sz="1867" u="sng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cs" sz="1467"/>
              <a:t>Quantifiable, reproducible results</a:t>
            </a:r>
            <a:endParaRPr sz="1867"/>
          </a:p>
          <a:p>
            <a:pPr indent="-423323">
              <a:buSzPts val="1400"/>
            </a:pPr>
            <a:r>
              <a:rPr lang="cs" sz="1867" u="sng"/>
              <a:t>Deductive</a:t>
            </a:r>
            <a:endParaRPr sz="1867" u="sng"/>
          </a:p>
          <a:p>
            <a:pPr lvl="1" indent="-397923">
              <a:spcBef>
                <a:spcPts val="0"/>
              </a:spcBef>
              <a:buSzPts val="1100"/>
            </a:pPr>
            <a:r>
              <a:rPr lang="cs" sz="1467"/>
              <a:t>Confirm hypothesis through</a:t>
            </a:r>
            <a:endParaRPr sz="1467"/>
          </a:p>
          <a:p>
            <a:pPr marL="1219170" indent="0">
              <a:buNone/>
            </a:pPr>
            <a:r>
              <a:rPr lang="cs" sz="1467"/>
              <a:t>quantitative research</a:t>
            </a:r>
            <a:endParaRPr sz="1467"/>
          </a:p>
          <a:p>
            <a:pPr indent="-423323">
              <a:buSzPts val="1400"/>
            </a:pPr>
            <a:r>
              <a:rPr lang="cs" sz="1867" u="sng"/>
              <a:t>Experiment</a:t>
            </a:r>
            <a:endParaRPr sz="1867" u="sng"/>
          </a:p>
          <a:p>
            <a:pPr lvl="1" indent="-397923">
              <a:spcBef>
                <a:spcPts val="0"/>
              </a:spcBef>
              <a:buSzPts val="1100"/>
            </a:pPr>
            <a:r>
              <a:rPr lang="cs" sz="1467"/>
              <a:t>Reproducible results</a:t>
            </a:r>
            <a:endParaRPr sz="1467"/>
          </a:p>
          <a:p>
            <a:pPr lvl="1" indent="-397923">
              <a:spcBef>
                <a:spcPts val="0"/>
              </a:spcBef>
              <a:buSzPts val="1100"/>
            </a:pPr>
            <a:r>
              <a:rPr lang="cs" sz="1467"/>
              <a:t>Statistical data</a:t>
            </a:r>
            <a:endParaRPr sz="1467"/>
          </a:p>
          <a:p>
            <a:pPr indent="-423323">
              <a:buSzPts val="1400"/>
            </a:pPr>
            <a:r>
              <a:rPr lang="cs" sz="1867" u="sng"/>
              <a:t>Mono-Method</a:t>
            </a:r>
            <a:endParaRPr sz="1867" u="sng"/>
          </a:p>
          <a:p>
            <a:pPr lvl="1" indent="-397923">
              <a:spcBef>
                <a:spcPts val="0"/>
              </a:spcBef>
              <a:buSzPts val="1100"/>
            </a:pPr>
            <a:r>
              <a:rPr lang="cs" sz="1467"/>
              <a:t>Quantitative</a:t>
            </a:r>
            <a:endParaRPr sz="1467"/>
          </a:p>
          <a:p>
            <a:pPr indent="-423323">
              <a:buSzPts val="1400"/>
            </a:pPr>
            <a:r>
              <a:rPr lang="cs" sz="1867" u="sng"/>
              <a:t>Cross-sectional</a:t>
            </a:r>
            <a:endParaRPr sz="1867" u="sng"/>
          </a:p>
          <a:p>
            <a:pPr indent="-423323">
              <a:buSzPts val="1400"/>
            </a:pPr>
            <a:r>
              <a:rPr lang="cs" sz="1867" u="sng"/>
              <a:t>Data Collection &amp; Analysis</a:t>
            </a:r>
            <a:endParaRPr sz="1867" u="sng"/>
          </a:p>
          <a:p>
            <a:pPr lvl="1" indent="-397923">
              <a:spcBef>
                <a:spcPts val="0"/>
              </a:spcBef>
              <a:buSzPts val="1100"/>
            </a:pPr>
            <a:r>
              <a:rPr lang="cs" sz="1467"/>
              <a:t>Profiling tools</a:t>
            </a:r>
            <a:endParaRPr sz="1467"/>
          </a:p>
          <a:p>
            <a:pPr lvl="1" indent="-397923">
              <a:spcBef>
                <a:spcPts val="0"/>
              </a:spcBef>
              <a:buSzPts val="1100"/>
            </a:pPr>
            <a:r>
              <a:rPr lang="cs" sz="1467"/>
              <a:t>Comparing results to draw a conclusion</a:t>
            </a:r>
            <a:endParaRPr sz="1467"/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cs"/>
              <a:pPr/>
              <a:t>11</a:t>
            </a:fld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6179833" y="6437733"/>
            <a:ext cx="40116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cs" sz="800" u="sng">
                <a:solidFill>
                  <a:srgbClr val="4A86E8"/>
                </a:solidFill>
                <a:hlinkClick r:id="rId3"/>
              </a:rPr>
              <a:t>https://www.conceptdraw.com/samples/management-stakeholder-onion-diagrams</a:t>
            </a:r>
            <a:endParaRPr sz="800">
              <a:solidFill>
                <a:srgbClr val="4A86E8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435" y="593367"/>
            <a:ext cx="6752397" cy="5763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5657-E10A-E653-29F9-898F70C8B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98FB3-7B3D-44DA-CC43-F3BC7AA64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DA14D-4F82-AC5B-1389-7FD20ABAF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238" y="2238524"/>
            <a:ext cx="7009524" cy="2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373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5C8F-6209-444D-B77C-F5FE9BBBC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28" y="224144"/>
            <a:ext cx="10664252" cy="1537600"/>
          </a:xfrm>
        </p:spPr>
        <p:txBody>
          <a:bodyPr>
            <a:normAutofit fontScale="90000"/>
          </a:bodyPr>
          <a:lstStyle/>
          <a:p>
            <a:br>
              <a:rPr lang="en-US" sz="4000" b="1" cap="all" dirty="0">
                <a:ea typeface="+mj-lt"/>
                <a:cs typeface="+mj-lt"/>
              </a:rPr>
            </a:br>
            <a:br>
              <a:rPr lang="en-US" sz="4000" b="1" cap="all" dirty="0">
                <a:ea typeface="+mj-lt"/>
                <a:cs typeface="+mj-lt"/>
              </a:rPr>
            </a:br>
            <a:br>
              <a:rPr lang="en-US" sz="4000" b="1" cap="all" dirty="0">
                <a:ea typeface="+mj-lt"/>
                <a:cs typeface="+mj-lt"/>
              </a:rPr>
            </a:br>
            <a:br>
              <a:rPr lang="en-US" b="1" cap="all" dirty="0">
                <a:ea typeface="+mj-lt"/>
                <a:cs typeface="+mj-lt"/>
              </a:rPr>
            </a:br>
            <a:r>
              <a:rPr lang="en-US" sz="2400" b="1" cap="all" dirty="0"/>
              <a:t>Are riders of electric two-wheelers safer than cyclists in </a:t>
            </a:r>
            <a:br>
              <a:rPr lang="en-US" sz="2400" b="1" cap="all" dirty="0"/>
            </a:br>
            <a:r>
              <a:rPr lang="en-US" sz="2400" b="1" cap="all" dirty="0"/>
              <a:t>collisions with motor vehicles?</a:t>
            </a:r>
            <a:br>
              <a:rPr lang="en-US" sz="2400" b="1" cap="all" dirty="0"/>
            </a:br>
            <a:r>
              <a:rPr lang="en-US" sz="1800" b="1" cap="all" dirty="0">
                <a:ea typeface="+mj-lt"/>
                <a:cs typeface="+mj-lt"/>
              </a:rPr>
              <a:t>(</a:t>
            </a:r>
            <a:r>
              <a:rPr lang="en-US" sz="1800" b="1" cap="all" dirty="0" err="1">
                <a:ea typeface="+mj-lt"/>
                <a:cs typeface="+mj-lt"/>
              </a:rPr>
              <a:t>huang</a:t>
            </a:r>
            <a:r>
              <a:rPr lang="en-US" sz="1800" b="1" cap="all" dirty="0">
                <a:ea typeface="+mj-lt"/>
                <a:cs typeface="+mj-lt"/>
              </a:rPr>
              <a:t>, </a:t>
            </a:r>
            <a:r>
              <a:rPr lang="en-US" sz="1800" b="1" cap="all" dirty="0" err="1">
                <a:ea typeface="+mj-lt"/>
                <a:cs typeface="+mj-lt"/>
              </a:rPr>
              <a:t>zhou</a:t>
            </a:r>
            <a:r>
              <a:rPr lang="en-US" sz="1800" b="1" cap="all" dirty="0">
                <a:ea typeface="+mj-lt"/>
                <a:cs typeface="+mj-lt"/>
              </a:rPr>
              <a:t>, </a:t>
            </a:r>
            <a:r>
              <a:rPr lang="en-US" sz="1800" b="1" cap="all" dirty="0" err="1">
                <a:ea typeface="+mj-lt"/>
                <a:cs typeface="+mj-lt"/>
              </a:rPr>
              <a:t>koelper</a:t>
            </a:r>
            <a:r>
              <a:rPr lang="en-US" sz="1800" b="1" cap="all" dirty="0">
                <a:ea typeface="+mj-lt"/>
                <a:cs typeface="+mj-lt"/>
              </a:rPr>
              <a:t>, li, &amp; </a:t>
            </a:r>
            <a:r>
              <a:rPr lang="en-US" sz="1800" b="1" cap="all" dirty="0" err="1">
                <a:ea typeface="+mj-lt"/>
                <a:cs typeface="+mj-lt"/>
              </a:rPr>
              <a:t>ni</a:t>
            </a:r>
            <a:r>
              <a:rPr lang="en-US" sz="1800" b="1" cap="all" dirty="0">
                <a:ea typeface="+mj-lt"/>
                <a:cs typeface="+mj-lt"/>
              </a:rPr>
              <a:t>, 2020)</a:t>
            </a:r>
          </a:p>
          <a:p>
            <a:endParaRPr lang="en-US" b="1" cap="all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EF28-EB09-41CF-85DB-8FB421EA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77" y="1845734"/>
            <a:ext cx="10739203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Philosophy:	</a:t>
            </a:r>
            <a:r>
              <a:rPr lang="en-US" b="1" dirty="0">
                <a:ea typeface="+mn-lt"/>
                <a:cs typeface="+mn-lt"/>
              </a:rPr>
              <a:t>Positivist epistemological</a:t>
            </a:r>
            <a:endParaRPr lang="en-US" dirty="0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Approach:	</a:t>
            </a:r>
            <a:r>
              <a:rPr lang="en-US" b="1" dirty="0">
                <a:ea typeface="+mn-lt"/>
                <a:cs typeface="+mn-lt"/>
              </a:rPr>
              <a:t>Deductive</a:t>
            </a:r>
            <a:endParaRPr lang="en-US" dirty="0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Strategy:	</a:t>
            </a:r>
            <a:r>
              <a:rPr lang="en-US" b="1" dirty="0">
                <a:ea typeface="+mn-lt"/>
                <a:cs typeface="+mn-lt"/>
              </a:rPr>
              <a:t>Experiment</a:t>
            </a:r>
            <a:endParaRPr lang="en-US" dirty="0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Choice:           	</a:t>
            </a:r>
            <a:r>
              <a:rPr lang="en-US" b="1" dirty="0">
                <a:ea typeface="+mn-lt"/>
                <a:cs typeface="+mn-lt"/>
              </a:rPr>
              <a:t>Mixed-methods</a:t>
            </a:r>
            <a:endParaRPr lang="en-US" dirty="0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Time-horizon:  	</a:t>
            </a:r>
            <a:r>
              <a:rPr lang="en-US" b="1" dirty="0">
                <a:ea typeface="+mn-lt"/>
                <a:cs typeface="+mn-lt"/>
              </a:rPr>
              <a:t>Cross-sectional</a:t>
            </a:r>
            <a:endParaRPr lang="en-US" dirty="0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Data Collection and Analysis:</a:t>
            </a:r>
            <a:endParaRPr lang="en-US" dirty="0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Experiment:       </a:t>
            </a:r>
            <a:r>
              <a:rPr lang="en-US" b="1" dirty="0">
                <a:ea typeface="+mn-lt"/>
                <a:cs typeface="+mn-lt"/>
              </a:rPr>
              <a:t>Formal Modelling</a:t>
            </a:r>
            <a:endParaRPr lang="en-US" dirty="0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Analysis:             </a:t>
            </a:r>
            <a:r>
              <a:rPr lang="en-US" b="1" dirty="0">
                <a:ea typeface="+mn-lt"/>
                <a:cs typeface="+mn-lt"/>
              </a:rPr>
              <a:t>Statistical</a:t>
            </a:r>
            <a:endParaRPr lang="en-US" dirty="0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Tool:                    </a:t>
            </a:r>
            <a:r>
              <a:rPr lang="en-US" b="1" dirty="0">
                <a:ea typeface="+mn-lt"/>
                <a:cs typeface="+mn-lt"/>
              </a:rPr>
              <a:t>Simulation Package - MADYMO</a:t>
            </a:r>
            <a:endParaRPr lang="en-US" dirty="0">
              <a:cs typeface="Calibri"/>
            </a:endParaRPr>
          </a:p>
        </p:txBody>
      </p:sp>
      <p:pic>
        <p:nvPicPr>
          <p:cNvPr id="4" name="Picture 4" descr="A picture containing lamp, mirror&#10;&#10;Description generated with very high confidence">
            <a:extLst>
              <a:ext uri="{FF2B5EF4-FFF2-40B4-BE49-F238E27FC236}">
                <a16:creationId xmlns:a16="http://schemas.microsoft.com/office/drawing/2014/main" id="{86DCBAEF-4B9A-48A4-B9CD-5F5EC2728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588" y="2234674"/>
            <a:ext cx="5313881" cy="3530583"/>
          </a:xfrm>
          <a:prstGeom prst="rect">
            <a:avLst/>
          </a:prstGeom>
        </p:spPr>
      </p:pic>
      <p:pic>
        <p:nvPicPr>
          <p:cNvPr id="6" name="Picture 6" descr="A picture containing outdoor, person, road, riding&#10;&#10;Description generated with very high confidence">
            <a:extLst>
              <a:ext uri="{FF2B5EF4-FFF2-40B4-BE49-F238E27FC236}">
                <a16:creationId xmlns:a16="http://schemas.microsoft.com/office/drawing/2014/main" id="{F6C554EA-AC0B-49C5-BEEB-F4628EAF5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262" y="173598"/>
            <a:ext cx="2528888" cy="142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5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5C8F-6209-444D-B77C-F5FE9BBBC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28" y="224144"/>
            <a:ext cx="10664252" cy="1537600"/>
          </a:xfrm>
        </p:spPr>
        <p:txBody>
          <a:bodyPr>
            <a:normAutofit/>
          </a:bodyPr>
          <a:lstStyle/>
          <a:p>
            <a:r>
              <a:rPr lang="en-US" sz="2400" b="1" cap="all" dirty="0">
                <a:ea typeface="+mj-lt"/>
                <a:cs typeface="+mj-lt"/>
              </a:rPr>
              <a:t>Can clustering help to identify health insurance fraud?</a:t>
            </a:r>
            <a:br>
              <a:rPr lang="en-US" sz="2400" b="1" cap="all" dirty="0">
                <a:ea typeface="+mj-lt"/>
                <a:cs typeface="+mj-lt"/>
              </a:rPr>
            </a:br>
            <a:r>
              <a:rPr lang="en-US" sz="1800" b="1" cap="all" dirty="0">
                <a:cs typeface="Calibri Light" panose="020F0302020204030204"/>
              </a:rPr>
              <a:t>(Peng et al., 2006)</a:t>
            </a:r>
          </a:p>
          <a:p>
            <a:endParaRPr lang="en-US" b="1" cap="all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EF28-EB09-41CF-85DB-8FB421EA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77" y="1845734"/>
            <a:ext cx="10739203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Philosophy:        </a:t>
            </a:r>
            <a:r>
              <a:rPr lang="en-US" b="1">
                <a:ea typeface="+mn-lt"/>
                <a:cs typeface="+mn-lt"/>
              </a:rPr>
              <a:t>Positivist epistemological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Approach:          </a:t>
            </a:r>
            <a:r>
              <a:rPr lang="en-US" b="1">
                <a:ea typeface="+mn-lt"/>
                <a:cs typeface="+mn-lt"/>
              </a:rPr>
              <a:t>Inductive</a:t>
            </a:r>
            <a:endParaRPr lang="en-US" b="1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Strategy:             </a:t>
            </a:r>
            <a:r>
              <a:rPr lang="en-US" b="1">
                <a:ea typeface="+mn-lt"/>
                <a:cs typeface="+mn-lt"/>
              </a:rPr>
              <a:t>Experiment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Choice:               </a:t>
            </a:r>
            <a:r>
              <a:rPr lang="en-US" b="1">
                <a:ea typeface="+mn-lt"/>
                <a:cs typeface="+mn-lt"/>
              </a:rPr>
              <a:t>Quantitative</a:t>
            </a:r>
            <a:endParaRPr lang="en-US" b="1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Time-horizon:   </a:t>
            </a:r>
            <a:r>
              <a:rPr lang="en-US" b="1">
                <a:ea typeface="+mn-lt"/>
                <a:cs typeface="+mn-lt"/>
              </a:rPr>
              <a:t>Cross-sectional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Data Collection and Analysis: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Experiment:    </a:t>
            </a:r>
            <a:r>
              <a:rPr lang="en-US" b="1">
                <a:ea typeface="+mn-lt"/>
                <a:cs typeface="+mn-lt"/>
              </a:rPr>
              <a:t>Correlation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Analysis:          </a:t>
            </a:r>
            <a:r>
              <a:rPr lang="en-US" b="1">
                <a:ea typeface="+mn-lt"/>
                <a:cs typeface="+mn-lt"/>
              </a:rPr>
              <a:t>Statistical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Tool:                 </a:t>
            </a:r>
            <a:r>
              <a:rPr lang="en-US" b="1">
                <a:ea typeface="+mn-lt"/>
                <a:cs typeface="+mn-lt"/>
              </a:rPr>
              <a:t>Machine Learning- SAS Enterprise Miner, </a:t>
            </a:r>
            <a:r>
              <a:rPr lang="en-US" b="1" err="1">
                <a:ea typeface="+mn-lt"/>
                <a:cs typeface="+mn-lt"/>
              </a:rPr>
              <a:t>Cluto</a:t>
            </a:r>
            <a:endParaRPr lang="en-US">
              <a:cs typeface="Calibri"/>
            </a:endParaRPr>
          </a:p>
        </p:txBody>
      </p:sp>
      <p:pic>
        <p:nvPicPr>
          <p:cNvPr id="6" name="Picture 6" descr="A close up of electronics&#10;&#10;Description generated with high confidence">
            <a:extLst>
              <a:ext uri="{FF2B5EF4-FFF2-40B4-BE49-F238E27FC236}">
                <a16:creationId xmlns:a16="http://schemas.microsoft.com/office/drawing/2014/main" id="{C2AB7721-4F55-44A2-AFF8-00B78DC7D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740" y="2869095"/>
            <a:ext cx="3720860" cy="2845094"/>
          </a:xfrm>
          <a:prstGeom prst="rect">
            <a:avLst/>
          </a:prstGeom>
        </p:spPr>
      </p:pic>
      <p:pic>
        <p:nvPicPr>
          <p:cNvPr id="9" name="Picture 10" descr="A close up of a logo&#10;&#10;Description generated with high confidence">
            <a:extLst>
              <a:ext uri="{FF2B5EF4-FFF2-40B4-BE49-F238E27FC236}">
                <a16:creationId xmlns:a16="http://schemas.microsoft.com/office/drawing/2014/main" id="{252979D9-FB79-42D9-B0ED-2AFB73D80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3419" y="226700"/>
            <a:ext cx="1621767" cy="189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9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5C8F-6209-444D-B77C-F5FE9BBBC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28" y="224144"/>
            <a:ext cx="10664252" cy="1537600"/>
          </a:xfrm>
        </p:spPr>
        <p:txBody>
          <a:bodyPr>
            <a:normAutofit/>
          </a:bodyPr>
          <a:lstStyle/>
          <a:p>
            <a:r>
              <a:rPr lang="en-US" sz="2400" b="1" cap="all" dirty="0">
                <a:ea typeface="+mj-lt"/>
                <a:cs typeface="+mj-lt"/>
              </a:rPr>
              <a:t>Can exoplanetary Mass be estimated with Deep Learning</a:t>
            </a:r>
            <a:r>
              <a:rPr lang="en-US" sz="2400" b="1" cap="all" dirty="0">
                <a:cs typeface="Calibri Light" panose="020F0302020204030204"/>
              </a:rPr>
              <a:t>?</a:t>
            </a:r>
            <a:br>
              <a:rPr lang="en-US" sz="2400" b="1" cap="all" dirty="0">
                <a:cs typeface="Calibri Light" panose="020F0302020204030204"/>
              </a:rPr>
            </a:br>
            <a:r>
              <a:rPr lang="en-US" sz="1800" b="1" cap="all" dirty="0">
                <a:cs typeface="Calibri Light" panose="020F0302020204030204"/>
              </a:rPr>
              <a:t>( Tasker, </a:t>
            </a:r>
            <a:r>
              <a:rPr lang="en-US" sz="1800" b="1" cap="all" dirty="0" err="1">
                <a:cs typeface="Calibri Light" panose="020F0302020204030204"/>
              </a:rPr>
              <a:t>Laneuville</a:t>
            </a:r>
            <a:r>
              <a:rPr lang="en-US" sz="1800" b="1" cap="all" dirty="0">
                <a:cs typeface="Calibri Light" panose="020F0302020204030204"/>
              </a:rPr>
              <a:t>, &amp; Guttenberg, 2020)</a:t>
            </a:r>
          </a:p>
          <a:p>
            <a:endParaRPr lang="en-US" b="1" cap="all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EF28-EB09-41CF-85DB-8FB421EA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77" y="1845734"/>
            <a:ext cx="10739203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Philosophy: 	</a:t>
            </a:r>
            <a:r>
              <a:rPr lang="en-US" b="1">
                <a:ea typeface="+mn-lt"/>
                <a:cs typeface="+mn-lt"/>
              </a:rPr>
              <a:t>Realist Epistemological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Approach:	</a:t>
            </a:r>
            <a:r>
              <a:rPr lang="en-US" b="1">
                <a:ea typeface="+mn-lt"/>
                <a:cs typeface="+mn-lt"/>
              </a:rPr>
              <a:t>Inductive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Strategy:	</a:t>
            </a:r>
            <a:r>
              <a:rPr lang="en-US" b="1">
                <a:ea typeface="+mn-lt"/>
                <a:cs typeface="+mn-lt"/>
              </a:rPr>
              <a:t>Grounded Theory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Choice:		</a:t>
            </a:r>
            <a:r>
              <a:rPr lang="en-US" b="1">
                <a:ea typeface="+mn-lt"/>
                <a:cs typeface="+mn-lt"/>
              </a:rPr>
              <a:t>Mono-Method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Time-horizon:	</a:t>
            </a:r>
            <a:r>
              <a:rPr lang="en-US" b="1">
                <a:ea typeface="+mn-lt"/>
                <a:cs typeface="+mn-lt"/>
              </a:rPr>
              <a:t>Cross-Sectional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Data Collection and Analysis: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Data: 	</a:t>
            </a:r>
            <a:r>
              <a:rPr lang="en-US" b="1">
                <a:ea typeface="+mn-lt"/>
                <a:cs typeface="+mn-lt"/>
              </a:rPr>
              <a:t>Observation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Analysis: 	</a:t>
            </a:r>
            <a:r>
              <a:rPr lang="en-US" b="1">
                <a:ea typeface="+mn-lt"/>
                <a:cs typeface="+mn-lt"/>
              </a:rPr>
              <a:t>Statistical 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Tool: 		</a:t>
            </a:r>
            <a:r>
              <a:rPr lang="en-US" b="1">
                <a:ea typeface="+mn-lt"/>
                <a:cs typeface="+mn-lt"/>
              </a:rPr>
              <a:t>Neural Network</a:t>
            </a:r>
            <a:endParaRPr lang="en-US"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0C39E-7CA7-4C59-9349-03BF8DBEC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384" y="1845735"/>
            <a:ext cx="4049314" cy="286173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13ED733-DF85-4BCC-878D-9D7EC51A3BC2}"/>
              </a:ext>
            </a:extLst>
          </p:cNvPr>
          <p:cNvGrpSpPr/>
          <p:nvPr/>
        </p:nvGrpSpPr>
        <p:grpSpPr>
          <a:xfrm>
            <a:off x="4899991" y="1761746"/>
            <a:ext cx="3114393" cy="3650842"/>
            <a:chOff x="8759300" y="2682585"/>
            <a:chExt cx="3159105" cy="349785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60FEF3-1CA1-452C-BB70-43187459B501}"/>
                </a:ext>
              </a:extLst>
            </p:cNvPr>
            <p:cNvSpPr txBox="1"/>
            <p:nvPr/>
          </p:nvSpPr>
          <p:spPr>
            <a:xfrm>
              <a:off x="9132328" y="5679141"/>
              <a:ext cx="2786077" cy="501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E" sz="1400"/>
                <a:t>Known planetary properties (black) and predicted properties (green).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8069793-CDC5-4A79-9378-7CDDF06FC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9300" y="2682585"/>
              <a:ext cx="3159105" cy="2996556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9A33A57-744A-4EA0-8B65-39EEF7569D35}"/>
              </a:ext>
            </a:extLst>
          </p:cNvPr>
          <p:cNvSpPr txBox="1"/>
          <p:nvPr/>
        </p:nvSpPr>
        <p:spPr>
          <a:xfrm>
            <a:off x="8575813" y="4889363"/>
            <a:ext cx="2947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E" sz="1400"/>
              <a:t>Various observed/derived properties of exoplanets.</a:t>
            </a:r>
          </a:p>
        </p:txBody>
      </p:sp>
      <p:pic>
        <p:nvPicPr>
          <p:cNvPr id="10" name="Graphic 9" descr="Solar system">
            <a:extLst>
              <a:ext uri="{FF2B5EF4-FFF2-40B4-BE49-F238E27FC236}">
                <a16:creationId xmlns:a16="http://schemas.microsoft.com/office/drawing/2014/main" id="{59AA23E2-0CDF-4ADD-843D-FD299AE67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42537" y="-80835"/>
            <a:ext cx="1794680" cy="179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027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5C8F-6209-444D-B77C-F5FE9BBBC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28" y="224144"/>
            <a:ext cx="10664252" cy="1537600"/>
          </a:xfrm>
        </p:spPr>
        <p:txBody>
          <a:bodyPr>
            <a:normAutofit/>
          </a:bodyPr>
          <a:lstStyle/>
          <a:p>
            <a:r>
              <a:rPr lang="en-US" sz="2400" b="1" cap="all" dirty="0">
                <a:ea typeface="+mj-lt"/>
                <a:cs typeface="+mj-lt"/>
              </a:rPr>
              <a:t>Can machine Learning Predict risk of suicide attempts over time?</a:t>
            </a:r>
            <a:br>
              <a:rPr lang="en-US" sz="2400" b="1" cap="all" dirty="0">
                <a:ea typeface="+mj-lt"/>
                <a:cs typeface="+mj-lt"/>
              </a:rPr>
            </a:br>
            <a:r>
              <a:rPr lang="en-US" sz="1800" b="1" cap="all" dirty="0">
                <a:ea typeface="+mj-lt"/>
                <a:cs typeface="+mj-lt"/>
              </a:rPr>
              <a:t>(Walsh, Rebeiro, &amp; Franklin, 2017)</a:t>
            </a:r>
          </a:p>
          <a:p>
            <a:endParaRPr lang="en-US" b="1" u="sng" cap="all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EF28-EB09-41CF-85DB-8FB421EA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77" y="1845734"/>
            <a:ext cx="10739203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,Sans-Serif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Philosophy:         </a:t>
            </a:r>
            <a:r>
              <a:rPr lang="en-US" b="1">
                <a:ea typeface="+mn-lt"/>
                <a:cs typeface="+mn-lt"/>
              </a:rPr>
              <a:t>Positivism</a:t>
            </a:r>
          </a:p>
          <a:p>
            <a:pPr>
              <a:buFont typeface="Wingdings,Sans-Serif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Approach:           </a:t>
            </a:r>
            <a:r>
              <a:rPr lang="en-US" b="1">
                <a:ea typeface="+mn-lt"/>
                <a:cs typeface="+mn-lt"/>
              </a:rPr>
              <a:t>Inductive</a:t>
            </a:r>
          </a:p>
          <a:p>
            <a:pPr>
              <a:buFont typeface="Wingdings,Sans-Serif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Strategy:              </a:t>
            </a:r>
            <a:r>
              <a:rPr lang="en-US" b="1">
                <a:ea typeface="+mn-lt"/>
                <a:cs typeface="+mn-lt"/>
              </a:rPr>
              <a:t>Archival Research/Experiment</a:t>
            </a:r>
          </a:p>
          <a:p>
            <a:pPr>
              <a:buFont typeface="Wingdings,Sans-Serif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Choice:                </a:t>
            </a:r>
            <a:r>
              <a:rPr lang="en-US" b="1">
                <a:ea typeface="+mn-lt"/>
                <a:cs typeface="+mn-lt"/>
              </a:rPr>
              <a:t>Mixed-methods</a:t>
            </a:r>
            <a:endParaRPr lang="en-US">
              <a:ea typeface="+mn-lt"/>
              <a:cs typeface="+mn-lt"/>
            </a:endParaRPr>
          </a:p>
          <a:p>
            <a:pPr>
              <a:buFont typeface="Wingdings,Sans-Serif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Time-horizon:    </a:t>
            </a:r>
            <a:r>
              <a:rPr lang="en-US" b="1">
                <a:ea typeface="+mn-lt"/>
                <a:cs typeface="+mn-lt"/>
              </a:rPr>
              <a:t>Longitudinal</a:t>
            </a:r>
          </a:p>
          <a:p>
            <a:pPr>
              <a:buFont typeface="Wingdings,Sans-Serif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Data Collection and Analysis:</a:t>
            </a:r>
          </a:p>
          <a:p>
            <a:pPr marL="383540" lvl="1">
              <a:buFont typeface="Wingdings,Sans-Serif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Experiment:      </a:t>
            </a:r>
            <a:r>
              <a:rPr lang="en-US" b="1">
                <a:ea typeface="+mn-lt"/>
                <a:cs typeface="+mn-lt"/>
              </a:rPr>
              <a:t>Classification</a:t>
            </a:r>
          </a:p>
          <a:p>
            <a:pPr marL="383540" lvl="1">
              <a:buFont typeface="Wingdings,Sans-Serif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Analysis:            </a:t>
            </a:r>
            <a:r>
              <a:rPr lang="en-US" b="1">
                <a:ea typeface="+mn-lt"/>
                <a:cs typeface="+mn-lt"/>
              </a:rPr>
              <a:t>Statistical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Wingdings,Sans-Serif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Tool:                   </a:t>
            </a:r>
            <a:r>
              <a:rPr lang="en-US" b="1">
                <a:ea typeface="+mn-lt"/>
                <a:cs typeface="+mn-lt"/>
              </a:rPr>
              <a:t>R and Python</a:t>
            </a:r>
            <a:endParaRPr lang="en-US"/>
          </a:p>
          <a:p>
            <a:pPr>
              <a:buFont typeface="Wingdings" panose="020F0502020204030204" pitchFamily="34" charset="0"/>
              <a:buChar char="§"/>
            </a:pPr>
            <a:endParaRPr lang="en-US" b="1">
              <a:cs typeface="Calibri"/>
            </a:endParaRPr>
          </a:p>
        </p:txBody>
      </p:sp>
      <p:pic>
        <p:nvPicPr>
          <p:cNvPr id="4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8AEF7024-1AA3-4F97-A2EC-DDA8F229D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438" y="1844094"/>
            <a:ext cx="5531028" cy="3744633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B762EDD2-20D6-40AB-A6A3-102C6989A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4710" y="4965163"/>
            <a:ext cx="1634218" cy="1268351"/>
          </a:xfrm>
          <a:prstGeom prst="rect">
            <a:avLst/>
          </a:prstGeom>
        </p:spPr>
      </p:pic>
      <p:pic>
        <p:nvPicPr>
          <p:cNvPr id="9" name="Picture 10" descr="A picture containing clock&#10;&#10;Description generated with very high confidence">
            <a:extLst>
              <a:ext uri="{FF2B5EF4-FFF2-40B4-BE49-F238E27FC236}">
                <a16:creationId xmlns:a16="http://schemas.microsoft.com/office/drawing/2014/main" id="{D0126DDB-2473-4F2B-BDDC-8E9B8CD3D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96" y="4962525"/>
            <a:ext cx="1457325" cy="134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49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5C8F-6209-444D-B77C-F5FE9BBBC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28" y="224144"/>
            <a:ext cx="10664252" cy="1537600"/>
          </a:xfrm>
        </p:spPr>
        <p:txBody>
          <a:bodyPr>
            <a:normAutofit/>
          </a:bodyPr>
          <a:lstStyle/>
          <a:p>
            <a:r>
              <a:rPr lang="en-US" sz="2400" b="1" cap="all" dirty="0">
                <a:ea typeface="+mj-lt"/>
                <a:cs typeface="+mj-lt"/>
              </a:rPr>
              <a:t>DO BOYS AND GIRLS RECEIVE DIFFERENT AMOUNT OF PARENTAL SUPPORT, PARENTAL MONITORING, AND TIME SPENT WITH THEIR PARENTS?</a:t>
            </a:r>
            <a:br>
              <a:rPr lang="en-US" sz="2400" b="1" cap="all" dirty="0">
                <a:ea typeface="+mj-lt"/>
                <a:cs typeface="+mj-lt"/>
              </a:rPr>
            </a:br>
            <a:r>
              <a:rPr lang="en-US" sz="1800" b="1" cap="all" dirty="0">
                <a:ea typeface="+mj-lt"/>
                <a:cs typeface="+mj-lt"/>
              </a:rPr>
              <a:t>(</a:t>
            </a:r>
            <a:r>
              <a:rPr lang="en-US" sz="1800" b="1" cap="all" dirty="0" err="1">
                <a:ea typeface="+mj-lt"/>
                <a:cs typeface="+mj-lt"/>
              </a:rPr>
              <a:t>Kristjánsson</a:t>
            </a:r>
            <a:r>
              <a:rPr lang="en-US" sz="1800" b="1" cap="all" dirty="0">
                <a:ea typeface="+mj-lt"/>
                <a:cs typeface="+mj-lt"/>
              </a:rPr>
              <a:t> &amp; </a:t>
            </a:r>
            <a:r>
              <a:rPr lang="en-US" sz="1800" b="1" cap="all" dirty="0" err="1">
                <a:ea typeface="+mj-lt"/>
                <a:cs typeface="+mj-lt"/>
              </a:rPr>
              <a:t>Sigfúsdóttir</a:t>
            </a:r>
            <a:r>
              <a:rPr lang="en-US" sz="1800" b="1" cap="all" dirty="0">
                <a:ea typeface="+mj-lt"/>
                <a:cs typeface="+mj-lt"/>
              </a:rPr>
              <a:t>, 2009)</a:t>
            </a:r>
            <a:r>
              <a:rPr lang="en-US" sz="2400" b="1" cap="all" dirty="0">
                <a:ea typeface="+mj-lt"/>
                <a:cs typeface="+mj-lt"/>
              </a:rPr>
              <a:t> </a:t>
            </a:r>
            <a:br>
              <a:rPr lang="en-US" sz="2400" b="1" cap="all" dirty="0">
                <a:ea typeface="+mj-lt"/>
                <a:cs typeface="+mj-lt"/>
              </a:rPr>
            </a:br>
            <a:endParaRPr lang="en-US" sz="2400" b="1" cap="all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EF28-EB09-41CF-85DB-8FB421EA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77" y="1845734"/>
            <a:ext cx="10739203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Philosophy:         </a:t>
            </a:r>
            <a:r>
              <a:rPr lang="en-US" b="1">
                <a:ea typeface="+mn-lt"/>
                <a:cs typeface="+mn-lt"/>
              </a:rPr>
              <a:t>Positivist epistemological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Approach:           </a:t>
            </a:r>
            <a:r>
              <a:rPr lang="en-US" b="1">
                <a:ea typeface="+mn-lt"/>
                <a:cs typeface="+mn-lt"/>
              </a:rPr>
              <a:t>Deductive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Strategy:              </a:t>
            </a:r>
            <a:r>
              <a:rPr lang="en-US" b="1">
                <a:ea typeface="+mn-lt"/>
                <a:cs typeface="+mn-lt"/>
              </a:rPr>
              <a:t>Survey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Choice:                </a:t>
            </a:r>
            <a:r>
              <a:rPr lang="en-US" b="1">
                <a:ea typeface="+mn-lt"/>
                <a:cs typeface="+mn-lt"/>
              </a:rPr>
              <a:t>Mixed-methods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Time-horizon:    </a:t>
            </a:r>
            <a:r>
              <a:rPr lang="en-US" b="1">
                <a:ea typeface="+mn-lt"/>
                <a:cs typeface="+mn-lt"/>
              </a:rPr>
              <a:t>Cross-sectional</a:t>
            </a:r>
            <a:endParaRPr lang="en-US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Data Collection and Analysis: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Data:                  </a:t>
            </a:r>
            <a:r>
              <a:rPr lang="en-US" b="1">
                <a:ea typeface="+mn-lt"/>
                <a:cs typeface="+mn-lt"/>
              </a:rPr>
              <a:t>National Survey</a:t>
            </a:r>
            <a:endParaRPr lang="en-US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Analysis:            </a:t>
            </a:r>
            <a:r>
              <a:rPr lang="en-US" b="1">
                <a:ea typeface="+mn-lt"/>
                <a:cs typeface="+mn-lt"/>
              </a:rPr>
              <a:t>Statistical</a:t>
            </a:r>
            <a:endParaRPr lang="en-US" b="1">
              <a:cs typeface="Calibri" panose="020F0502020204030204"/>
            </a:endParaRP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>
                <a:ea typeface="+mn-lt"/>
                <a:cs typeface="+mn-lt"/>
              </a:rPr>
              <a:t>Tool:                   </a:t>
            </a:r>
            <a:r>
              <a:rPr lang="en-US" b="1">
                <a:ea typeface="+mn-lt"/>
                <a:cs typeface="+mn-lt"/>
              </a:rPr>
              <a:t>Independent Samples T-Test</a:t>
            </a:r>
            <a:endParaRPr lang="en-US">
              <a:cs typeface="Calibri"/>
            </a:endParaRPr>
          </a:p>
        </p:txBody>
      </p:sp>
      <p:pic>
        <p:nvPicPr>
          <p:cNvPr id="4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DEE287A-A3D6-4C86-BAF9-11B026BE2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97753"/>
            <a:ext cx="3879271" cy="341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49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13D5-8ED8-4D9A-A087-BD1BD2FCA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6020"/>
            <a:ext cx="10058400" cy="1450757"/>
          </a:xfrm>
        </p:spPr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1248D-6002-4E69-967A-8193F511A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885" y="1798352"/>
            <a:ext cx="8946541" cy="41954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dirty="0">
                <a:ea typeface="+mj-lt"/>
                <a:cs typeface="+mj-lt"/>
              </a:rPr>
              <a:t>Kaur, N., &amp; Kumar, K. (2016). Normalization Based K-means Data Analysis Algorithm. </a:t>
            </a:r>
            <a:r>
              <a:rPr lang="en-US" sz="1200" i="1" dirty="0">
                <a:ea typeface="+mj-lt"/>
                <a:cs typeface="+mj-lt"/>
              </a:rPr>
              <a:t>International Journal of Advanced Research in Computer Science and Software Engineering</a:t>
            </a:r>
            <a:r>
              <a:rPr lang="en-US" sz="1200" dirty="0">
                <a:ea typeface="+mj-lt"/>
                <a:cs typeface="+mj-lt"/>
              </a:rPr>
              <a:t>, </a:t>
            </a:r>
            <a:r>
              <a:rPr lang="en-US" sz="1200" i="1" dirty="0">
                <a:ea typeface="+mj-lt"/>
                <a:cs typeface="+mj-lt"/>
              </a:rPr>
              <a:t>6</a:t>
            </a:r>
            <a:r>
              <a:rPr lang="en-US" sz="1200" dirty="0">
                <a:ea typeface="+mj-lt"/>
                <a:cs typeface="+mj-lt"/>
              </a:rPr>
              <a:t>.</a:t>
            </a:r>
            <a:endParaRPr lang="en-US" sz="1200" dirty="0">
              <a:ea typeface="+mj-lt"/>
              <a:cs typeface="Calibri"/>
            </a:endParaRPr>
          </a:p>
          <a:p>
            <a:r>
              <a:rPr lang="en-US" sz="1200" dirty="0">
                <a:ea typeface="+mj-lt"/>
                <a:cs typeface="+mj-lt"/>
              </a:rPr>
              <a:t>Peng, Y., Kou, G., </a:t>
            </a:r>
            <a:r>
              <a:rPr lang="en-US" sz="1200" dirty="0" err="1">
                <a:ea typeface="+mj-lt"/>
                <a:cs typeface="+mj-lt"/>
              </a:rPr>
              <a:t>Sabatka</a:t>
            </a:r>
            <a:r>
              <a:rPr lang="en-US" sz="1200" dirty="0">
                <a:ea typeface="+mj-lt"/>
                <a:cs typeface="+mj-lt"/>
              </a:rPr>
              <a:t>, A., Chen, Z., </a:t>
            </a:r>
            <a:r>
              <a:rPr lang="en-US" sz="1200" dirty="0" err="1">
                <a:ea typeface="+mj-lt"/>
                <a:cs typeface="+mj-lt"/>
              </a:rPr>
              <a:t>Khazanchi</a:t>
            </a:r>
            <a:r>
              <a:rPr lang="en-US" sz="1200" dirty="0">
                <a:ea typeface="+mj-lt"/>
                <a:cs typeface="+mj-lt"/>
              </a:rPr>
              <a:t>, D., &amp; Shi, Y. (2006, October). Application of clustering methods to health insurance fraud detection. In </a:t>
            </a:r>
            <a:r>
              <a:rPr lang="en-US" sz="1200" i="1" dirty="0">
                <a:ea typeface="+mj-lt"/>
                <a:cs typeface="+mj-lt"/>
              </a:rPr>
              <a:t>2006 International Conference on Service Systems and Service Management</a:t>
            </a:r>
            <a:r>
              <a:rPr lang="en-US" sz="1200" dirty="0">
                <a:ea typeface="+mj-lt"/>
                <a:cs typeface="+mj-lt"/>
              </a:rPr>
              <a:t> (Vol. 1, pp. 116-120). IEEE.</a:t>
            </a:r>
            <a:endParaRPr lang="en-US" sz="1200" dirty="0">
              <a:cs typeface="Calibri"/>
            </a:endParaRPr>
          </a:p>
          <a:p>
            <a:r>
              <a:rPr lang="en-GB" sz="1200" dirty="0">
                <a:ea typeface="+mj-lt"/>
                <a:cs typeface="+mj-lt"/>
              </a:rPr>
              <a:t>Senko, R. (2019). Machine learning for </a:t>
            </a:r>
            <a:r>
              <a:rPr lang="en-GB" sz="1200" dirty="0" err="1">
                <a:ea typeface="+mj-lt"/>
                <a:cs typeface="+mj-lt"/>
              </a:rPr>
              <a:t>robo</a:t>
            </a:r>
            <a:r>
              <a:rPr lang="en-GB" sz="1200" dirty="0">
                <a:ea typeface="+mj-lt"/>
                <a:cs typeface="+mj-lt"/>
              </a:rPr>
              <a:t>-advisors: testing for neurons specialization. </a:t>
            </a:r>
            <a:r>
              <a:rPr lang="en-GB" sz="1200" i="1" dirty="0">
                <a:ea typeface="+mj-lt"/>
                <a:cs typeface="+mj-lt"/>
              </a:rPr>
              <a:t>Investment Management and Financial Solutions</a:t>
            </a:r>
            <a:r>
              <a:rPr lang="en-GB" sz="1200" dirty="0">
                <a:ea typeface="+mj-lt"/>
                <a:cs typeface="+mj-lt"/>
              </a:rPr>
              <a:t>, 205-214. </a:t>
            </a:r>
            <a:endParaRPr lang="en-US" sz="1200" dirty="0">
              <a:ea typeface="+mj-lt"/>
              <a:cs typeface="+mj-lt"/>
            </a:endParaRPr>
          </a:p>
          <a:p>
            <a:r>
              <a:rPr lang="en-GB" sz="1200" dirty="0">
                <a:ea typeface="+mj-lt"/>
                <a:cs typeface="+mj-lt"/>
              </a:rPr>
              <a:t>Xu, S. (2018). Bayesian Naive Nayes classifiers to text classification. </a:t>
            </a:r>
            <a:r>
              <a:rPr lang="en-GB" sz="1200" i="1" dirty="0">
                <a:ea typeface="+mj-lt"/>
                <a:cs typeface="+mj-lt"/>
              </a:rPr>
              <a:t>Journal of Information Science</a:t>
            </a:r>
            <a:r>
              <a:rPr lang="en-GB" sz="1200" dirty="0">
                <a:ea typeface="+mj-lt"/>
                <a:cs typeface="+mj-lt"/>
              </a:rPr>
              <a:t>, 48-59. </a:t>
            </a:r>
            <a:endParaRPr lang="en-US" sz="1200" dirty="0">
              <a:ea typeface="+mj-lt"/>
              <a:cs typeface="Calibri"/>
            </a:endParaRPr>
          </a:p>
          <a:p>
            <a:r>
              <a:rPr lang="en-GB" sz="1200" dirty="0">
                <a:ea typeface="+mj-lt"/>
                <a:cs typeface="Calibri"/>
              </a:rPr>
              <a:t>Walsh, C. G., Ribeiro, J. D., &amp; Franklin, J. C. (2017). Predicting Risk of Suicide Attempts Over Time Through Machine Learning. </a:t>
            </a:r>
            <a:r>
              <a:rPr lang="en-GB" sz="1200" i="1" dirty="0">
                <a:ea typeface="+mj-lt"/>
                <a:cs typeface="Calibri"/>
              </a:rPr>
              <a:t>Clinical Psychological Science</a:t>
            </a:r>
            <a:r>
              <a:rPr lang="en-GB" sz="1200" dirty="0">
                <a:ea typeface="+mj-lt"/>
                <a:cs typeface="Calibri"/>
              </a:rPr>
              <a:t>, </a:t>
            </a:r>
            <a:r>
              <a:rPr lang="en-GB" sz="1200" i="1" dirty="0">
                <a:ea typeface="+mj-lt"/>
                <a:cs typeface="Calibri"/>
              </a:rPr>
              <a:t>5</a:t>
            </a:r>
            <a:r>
              <a:rPr lang="en-GB" sz="1200" dirty="0">
                <a:ea typeface="+mj-lt"/>
                <a:cs typeface="Calibri"/>
              </a:rPr>
              <a:t>(3), 457–469.</a:t>
            </a:r>
            <a:endParaRPr lang="en-GB" sz="1200" dirty="0">
              <a:ea typeface="+mj-lt"/>
              <a:cs typeface="+mj-lt"/>
            </a:endParaRPr>
          </a:p>
          <a:p>
            <a:r>
              <a:rPr lang="en-GB" sz="1200" dirty="0">
                <a:ea typeface="+mj-lt"/>
                <a:cs typeface="Calibri"/>
              </a:rPr>
              <a:t>Cai, E. (2014). </a:t>
            </a:r>
            <a:r>
              <a:rPr lang="en-GB" sz="1200" i="1" dirty="0">
                <a:ea typeface="+mj-lt"/>
                <a:cs typeface="Calibri"/>
              </a:rPr>
              <a:t>Machine Learning Lesson of the Day – The “No Free Lunch” Theorem</a:t>
            </a:r>
            <a:r>
              <a:rPr lang="en-GB" sz="1200" dirty="0">
                <a:ea typeface="+mj-lt"/>
                <a:cs typeface="Calibri"/>
              </a:rPr>
              <a:t>. Retrieved from </a:t>
            </a:r>
            <a:r>
              <a:rPr lang="en-GB" sz="1200" dirty="0">
                <a:ea typeface="+mj-lt"/>
                <a:cs typeface="Calibri"/>
                <a:hlinkClick r:id="rId2"/>
              </a:rPr>
              <a:t>https://chemicalstatistician.wordpress.com/2014/01/24/machine-learning-lesson-of-the-day-the-no-free-lunch-theorem/</a:t>
            </a:r>
            <a:endParaRPr lang="en-GB" sz="1200" dirty="0">
              <a:ea typeface="+mj-lt"/>
              <a:cs typeface="+mj-lt"/>
            </a:endParaRPr>
          </a:p>
          <a:p>
            <a:r>
              <a:rPr lang="en-GB" sz="1200" dirty="0" err="1">
                <a:ea typeface="+mj-lt"/>
                <a:cs typeface="Calibri"/>
              </a:rPr>
              <a:t>Kristjánsson</a:t>
            </a:r>
            <a:r>
              <a:rPr lang="en-GB" sz="1200" dirty="0">
                <a:ea typeface="+mj-lt"/>
                <a:cs typeface="Calibri"/>
              </a:rPr>
              <a:t>, Á. L., &amp; </a:t>
            </a:r>
            <a:r>
              <a:rPr lang="en-GB" sz="1200" dirty="0" err="1">
                <a:ea typeface="+mj-lt"/>
                <a:cs typeface="Calibri"/>
              </a:rPr>
              <a:t>Sigfúsdóttir</a:t>
            </a:r>
            <a:r>
              <a:rPr lang="en-GB" sz="1200" dirty="0">
                <a:ea typeface="+mj-lt"/>
                <a:cs typeface="Calibri"/>
              </a:rPr>
              <a:t>, I. D. (2009). The role of parental support, parental monitoring, and time spent with parents in adolescent academic achievement in </a:t>
            </a:r>
            <a:r>
              <a:rPr lang="en-GB" sz="1200" dirty="0" err="1">
                <a:ea typeface="+mj-lt"/>
                <a:cs typeface="Calibri"/>
              </a:rPr>
              <a:t>iceland</a:t>
            </a:r>
            <a:r>
              <a:rPr lang="en-GB" sz="1200" dirty="0">
                <a:ea typeface="+mj-lt"/>
                <a:cs typeface="Calibri"/>
              </a:rPr>
              <a:t>: A structural model of gender differences. </a:t>
            </a:r>
            <a:r>
              <a:rPr lang="en-GB" sz="1200" i="1" dirty="0">
                <a:ea typeface="+mj-lt"/>
                <a:cs typeface="Calibri"/>
              </a:rPr>
              <a:t>Scandinavian Journal of Educational Research</a:t>
            </a:r>
            <a:r>
              <a:rPr lang="en-GB" sz="1200" dirty="0">
                <a:ea typeface="+mj-lt"/>
                <a:cs typeface="Calibri"/>
              </a:rPr>
              <a:t>, </a:t>
            </a:r>
            <a:r>
              <a:rPr lang="en-GB" sz="1200" i="1" dirty="0">
                <a:ea typeface="+mj-lt"/>
                <a:cs typeface="Calibri"/>
              </a:rPr>
              <a:t>53</a:t>
            </a:r>
            <a:r>
              <a:rPr lang="en-GB" sz="1200" dirty="0">
                <a:ea typeface="+mj-lt"/>
                <a:cs typeface="Calibri"/>
              </a:rPr>
              <a:t>(5), 481–496. </a:t>
            </a:r>
            <a:r>
              <a:rPr lang="en-GB" sz="1200" dirty="0">
                <a:ea typeface="+mj-lt"/>
                <a:cs typeface="Calibri"/>
                <a:hlinkClick r:id="rId3"/>
              </a:rPr>
              <a:t>https://doi.org/10.1080/00313830903180786</a:t>
            </a:r>
            <a:endParaRPr lang="en-GB" sz="1200" dirty="0">
              <a:ea typeface="+mj-lt"/>
              <a:cs typeface="+mj-lt"/>
            </a:endParaRPr>
          </a:p>
          <a:p>
            <a:r>
              <a:rPr lang="en-GB" sz="1200" dirty="0">
                <a:ea typeface="+mj-lt"/>
                <a:cs typeface="Calibri"/>
              </a:rPr>
              <a:t>Huang, Y., Zhou, Q., </a:t>
            </a:r>
            <a:r>
              <a:rPr lang="en-GB" sz="1200" dirty="0" err="1">
                <a:ea typeface="+mj-lt"/>
                <a:cs typeface="Calibri"/>
              </a:rPr>
              <a:t>Koelper</a:t>
            </a:r>
            <a:r>
              <a:rPr lang="en-GB" sz="1200" dirty="0">
                <a:ea typeface="+mj-lt"/>
                <a:cs typeface="Calibri"/>
              </a:rPr>
              <a:t>, C., Li, Q. and Nie, B. (2020). Are riders of electric two-wheelers safer than bicyclists in collisions with motor vehicles?. </a:t>
            </a:r>
            <a:r>
              <a:rPr lang="en-GB" sz="1200" i="1" dirty="0">
                <a:ea typeface="+mj-lt"/>
                <a:cs typeface="Calibri"/>
              </a:rPr>
              <a:t>Accident Analysis &amp; Prevention</a:t>
            </a:r>
            <a:r>
              <a:rPr lang="en-GB" sz="1200" dirty="0">
                <a:ea typeface="+mj-lt"/>
                <a:cs typeface="Calibri"/>
              </a:rPr>
              <a:t>, 134, p.105336.</a:t>
            </a:r>
            <a:endParaRPr lang="en-GB" sz="1200" dirty="0">
              <a:cs typeface="Calibri Light"/>
            </a:endParaRPr>
          </a:p>
          <a:p>
            <a:r>
              <a:rPr lang="en-GB" sz="1200" dirty="0">
                <a:ea typeface="+mn-lt"/>
                <a:cs typeface="+mn-lt"/>
              </a:rPr>
              <a:t>Tasker, E. J., </a:t>
            </a:r>
            <a:r>
              <a:rPr lang="en-GB" sz="1200" dirty="0" err="1">
                <a:ea typeface="+mn-lt"/>
                <a:cs typeface="+mn-lt"/>
              </a:rPr>
              <a:t>Laneuville</a:t>
            </a:r>
            <a:r>
              <a:rPr lang="en-GB" sz="1200" dirty="0">
                <a:ea typeface="+mn-lt"/>
                <a:cs typeface="+mn-lt"/>
              </a:rPr>
              <a:t>, M., &amp; Guttenberg, N. (2020). Estimating Planetary Mass with Deep Learning. </a:t>
            </a:r>
            <a:r>
              <a:rPr lang="en-GB" sz="1200" i="1" dirty="0">
                <a:ea typeface="+mn-lt"/>
                <a:cs typeface="+mn-lt"/>
              </a:rPr>
              <a:t>The Astronomical Journal</a:t>
            </a:r>
            <a:r>
              <a:rPr lang="en-GB" sz="1200" dirty="0">
                <a:ea typeface="+mn-lt"/>
                <a:cs typeface="+mn-lt"/>
              </a:rPr>
              <a:t>, </a:t>
            </a:r>
            <a:r>
              <a:rPr lang="en-GB" sz="1200" i="1" dirty="0">
                <a:ea typeface="+mn-lt"/>
                <a:cs typeface="+mn-lt"/>
              </a:rPr>
              <a:t>159</a:t>
            </a:r>
            <a:r>
              <a:rPr lang="en-GB" sz="1200" dirty="0">
                <a:ea typeface="+mn-lt"/>
                <a:cs typeface="+mn-lt"/>
              </a:rPr>
              <a:t>(2), 41. </a:t>
            </a:r>
            <a:r>
              <a:rPr lang="en-GB" sz="1200" dirty="0">
                <a:ea typeface="+mn-lt"/>
                <a:cs typeface="+mn-lt"/>
                <a:hlinkClick r:id="rId4"/>
              </a:rPr>
              <a:t>https://doi.org/10.3847/1538-3881/ab5b9e</a:t>
            </a:r>
            <a:endParaRPr lang="en-GB" sz="1200" dirty="0">
              <a:cs typeface="Calibri" panose="020F0502020204030204"/>
            </a:endParaRPr>
          </a:p>
          <a:p>
            <a:endParaRPr lang="en-GB" sz="1200" dirty="0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26808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close up of text on a black background&#10;&#10;Description generated with high confidence">
            <a:extLst>
              <a:ext uri="{FF2B5EF4-FFF2-40B4-BE49-F238E27FC236}">
                <a16:creationId xmlns:a16="http://schemas.microsoft.com/office/drawing/2014/main" id="{6F870D13-7273-465D-AB94-5AB023011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183" y="643467"/>
            <a:ext cx="6733633" cy="505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574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</TotalTime>
  <Words>1157</Words>
  <Application>Microsoft Office PowerPoint</Application>
  <PresentationFormat>Widescreen</PresentationFormat>
  <Paragraphs>171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Average</vt:lpstr>
      <vt:lpstr>Calibri</vt:lpstr>
      <vt:lpstr>Calibri Light</vt:lpstr>
      <vt:lpstr>Courier New</vt:lpstr>
      <vt:lpstr>Wingdings</vt:lpstr>
      <vt:lpstr>Wingdings,Sans-Serif</vt:lpstr>
      <vt:lpstr>Retrospect</vt:lpstr>
      <vt:lpstr>Scientific Research &amp; Literature</vt:lpstr>
      <vt:lpstr>Overview of different Methods/ Common techniques</vt:lpstr>
      <vt:lpstr>Classification</vt:lpstr>
      <vt:lpstr>Classification Strategies: Experiment</vt:lpstr>
      <vt:lpstr>Classification Data Collection, Analysis Methods and Tools</vt:lpstr>
      <vt:lpstr>Clustering</vt:lpstr>
      <vt:lpstr>Clustering</vt:lpstr>
      <vt:lpstr>Hypothesis Testing</vt:lpstr>
      <vt:lpstr>Hypothesis Testing</vt:lpstr>
      <vt:lpstr>ANN in ROBO Advisory Visualizing in the inner layers of the neural network? (Senko, 2019) </vt:lpstr>
      <vt:lpstr>Research Method - Benchmarking</vt:lpstr>
      <vt:lpstr>PowerPoint Presentation</vt:lpstr>
      <vt:lpstr>    Are riders of electric two-wheelers safer than cyclists in  collisions with motor vehicles? (huang, zhou, koelper, li, &amp; ni, 2020) </vt:lpstr>
      <vt:lpstr>Can clustering help to identify health insurance fraud? (Peng et al., 2006) </vt:lpstr>
      <vt:lpstr>Can exoplanetary Mass be estimated with Deep Learning? ( Tasker, Laneuville, &amp; Guttenberg, 2020) </vt:lpstr>
      <vt:lpstr>Can machine Learning Predict risk of suicide attempts over time? (Walsh, Rebeiro, &amp; Franklin, 2017) </vt:lpstr>
      <vt:lpstr>DO BOYS AND GIRLS RECEIVE DIFFERENT AMOUNT OF PARENTAL SUPPORT, PARENTAL MONITORING, AND TIME SPENT WITH THEIR PARENTS? (Kristjánsson &amp; Sigfúsdóttir, 2009) 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Gilligan</dc:creator>
  <cp:lastModifiedBy>Eamonn Kelly</cp:lastModifiedBy>
  <cp:revision>124</cp:revision>
  <dcterms:created xsi:type="dcterms:W3CDTF">2020-02-10T18:00:56Z</dcterms:created>
  <dcterms:modified xsi:type="dcterms:W3CDTF">2026-02-07T09:51:05Z</dcterms:modified>
</cp:coreProperties>
</file>