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4"/>
  </p:sldMasterIdLst>
  <p:notesMasterIdLst>
    <p:notesMasterId r:id="rId41"/>
  </p:notesMasterIdLst>
  <p:sldIdLst>
    <p:sldId id="294" r:id="rId5"/>
    <p:sldId id="343" r:id="rId6"/>
    <p:sldId id="278" r:id="rId7"/>
    <p:sldId id="279" r:id="rId8"/>
    <p:sldId id="308" r:id="rId9"/>
    <p:sldId id="309" r:id="rId10"/>
    <p:sldId id="310" r:id="rId11"/>
    <p:sldId id="311" r:id="rId12"/>
    <p:sldId id="312" r:id="rId13"/>
    <p:sldId id="313" r:id="rId14"/>
    <p:sldId id="314" r:id="rId15"/>
    <p:sldId id="315" r:id="rId16"/>
    <p:sldId id="316" r:id="rId17"/>
    <p:sldId id="339" r:id="rId18"/>
    <p:sldId id="317" r:id="rId19"/>
    <p:sldId id="320" r:id="rId20"/>
    <p:sldId id="322" r:id="rId21"/>
    <p:sldId id="323" r:id="rId22"/>
    <p:sldId id="324" r:id="rId23"/>
    <p:sldId id="325" r:id="rId24"/>
    <p:sldId id="326" r:id="rId25"/>
    <p:sldId id="332" r:id="rId26"/>
    <p:sldId id="333" r:id="rId27"/>
    <p:sldId id="334" r:id="rId28"/>
    <p:sldId id="335" r:id="rId29"/>
    <p:sldId id="336" r:id="rId30"/>
    <p:sldId id="337" r:id="rId31"/>
    <p:sldId id="328" r:id="rId32"/>
    <p:sldId id="330" r:id="rId33"/>
    <p:sldId id="331" r:id="rId34"/>
    <p:sldId id="321" r:id="rId35"/>
    <p:sldId id="270" r:id="rId36"/>
    <p:sldId id="290" r:id="rId37"/>
    <p:sldId id="340" r:id="rId38"/>
    <p:sldId id="341" r:id="rId39"/>
    <p:sldId id="342" r:id="rId40"/>
  </p:sldIdLst>
  <p:sldSz cx="12192000" cy="6858000"/>
  <p:notesSz cx="6858000" cy="9144000"/>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187" autoAdjust="0"/>
    <p:restoredTop sz="95407" autoAdjust="0"/>
  </p:normalViewPr>
  <p:slideViewPr>
    <p:cSldViewPr snapToGrid="0">
      <p:cViewPr>
        <p:scale>
          <a:sx n="80" d="100"/>
          <a:sy n="80" d="100"/>
        </p:scale>
        <p:origin x="6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FF80E-FE01-479F-9FC2-075B3977819B}"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473FF-6D87-4F74-A5F4-85DBF4181AFE}" type="slidenum">
              <a:rPr lang="en-GB" smtClean="0"/>
              <a:t>‹#›</a:t>
            </a:fld>
            <a:endParaRPr lang="en-GB"/>
          </a:p>
        </p:txBody>
      </p:sp>
    </p:spTree>
    <p:extLst>
      <p:ext uri="{BB962C8B-B14F-4D97-AF65-F5344CB8AC3E}">
        <p14:creationId xmlns:p14="http://schemas.microsoft.com/office/powerpoint/2010/main" val="101510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2473FF-6D87-4F74-A5F4-85DBF4181AFE}" type="slidenum">
              <a:rPr lang="en-GB" smtClean="0"/>
              <a:t>35</a:t>
            </a:fld>
            <a:endParaRPr lang="en-GB"/>
          </a:p>
        </p:txBody>
      </p:sp>
    </p:spTree>
    <p:extLst>
      <p:ext uri="{BB962C8B-B14F-4D97-AF65-F5344CB8AC3E}">
        <p14:creationId xmlns:p14="http://schemas.microsoft.com/office/powerpoint/2010/main" val="625025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267420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06662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864024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452539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712022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032839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826572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69511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092214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11331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27207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18967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04952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375354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05712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63469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814430937"/>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blp.org/" TargetMode="External"/><Relationship Id="rId3" Type="http://schemas.openxmlformats.org/officeDocument/2006/relationships/hyperlink" Target="https://ieeexplore-ieee-org.tudublin.idm.oclc.org/Xplore/home.jsp" TargetMode="External"/><Relationship Id="rId7" Type="http://schemas.openxmlformats.org/officeDocument/2006/relationships/hyperlink" Target="https://scholar.google.com/" TargetMode="External"/><Relationship Id="rId2" Type="http://schemas.openxmlformats.org/officeDocument/2006/relationships/hyperlink" Target="https://dl-acm-org.tudublin.idm.oclc.org/" TargetMode="External"/><Relationship Id="rId1" Type="http://schemas.openxmlformats.org/officeDocument/2006/relationships/slideLayout" Target="../slideLayouts/slideLayout2.xml"/><Relationship Id="rId6" Type="http://schemas.openxmlformats.org/officeDocument/2006/relationships/hyperlink" Target="https://link-springer-com.tudublin.idm.oclc.org/" TargetMode="External"/><Relationship Id="rId5" Type="http://schemas.openxmlformats.org/officeDocument/2006/relationships/hyperlink" Target="https://www-cambridge-org.tudublin.idm.oclc.org/core/" TargetMode="External"/><Relationship Id="rId4" Type="http://schemas.openxmlformats.org/officeDocument/2006/relationships/hyperlink" Target="https://journals-sagepub-com.tudublin.idm.oclc.org/"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l-acm-org.tudublin.idm.oclc.org/doi/10.1145/3701716.3717509"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tif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deltproject.org/" TargetMode="External"/><Relationship Id="rId2" Type="http://schemas.openxmlformats.org/officeDocument/2006/relationships/hyperlink" Target="https://www.lseg.com/en/data-analytics" TargetMode="External"/><Relationship Id="rId1" Type="http://schemas.openxmlformats.org/officeDocument/2006/relationships/slideLayout" Target="../slideLayouts/slideLayout2.xml"/><Relationship Id="rId4" Type="http://schemas.openxmlformats.org/officeDocument/2006/relationships/hyperlink" Target="https://pypi.org/project/gdeltdo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 TargetMode="External"/><Relationship Id="rId2" Type="http://schemas.openxmlformats.org/officeDocument/2006/relationships/hyperlink" Target="https://corporatefinanceinstitut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huggingface.co/" TargetMode="External"/><Relationship Id="rId3" Type="http://schemas.openxmlformats.org/officeDocument/2006/relationships/hyperlink" Target="https://dl-acm-org.tudublin.idm.oclc.org/doi/10.1145/3701716.3717509" TargetMode="External"/><Relationship Id="rId7" Type="http://schemas.openxmlformats.org/officeDocument/2006/relationships/hyperlink" Target="https://pypi.org/project/gdeltdoc/"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lseg.com/en/data-analytics" TargetMode="External"/><Relationship Id="rId5" Type="http://schemas.openxmlformats.org/officeDocument/2006/relationships/hyperlink" Target="https://www.gdeltproject.org/" TargetMode="External"/><Relationship Id="rId10" Type="http://schemas.openxmlformats.org/officeDocument/2006/relationships/hyperlink" Target="https://doi-org.tudublin.idm.oclc.org/10.1109/ICAICTA67604.2025.11335140" TargetMode="External"/><Relationship Id="rId4" Type="http://schemas.openxmlformats.org/officeDocument/2006/relationships/hyperlink" Target="https://corporatefinanceinstitute.com/" TargetMode="External"/><Relationship Id="rId9" Type="http://schemas.openxmlformats.org/officeDocument/2006/relationships/hyperlink" Target="https://ieeexplore-ieee-org.tudublin.idm.oclc.org/document/8100646"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4707444" cy="5811837"/>
          </a:xfrm>
        </p:spPr>
        <p:txBody>
          <a:bodyPr>
            <a:normAutofit/>
          </a:bodyPr>
          <a:lstStyle/>
          <a:p>
            <a:r>
              <a:rPr lang="en-US" u="sng" dirty="0">
                <a:solidFill>
                  <a:srgbClr val="FFFFFF"/>
                </a:solidFill>
                <a:cs typeface="Calibri Light"/>
              </a:rPr>
              <a:t>Research Methods</a:t>
            </a:r>
            <a:br>
              <a:rPr lang="en-US" dirty="0">
                <a:cs typeface="Calibri Light"/>
              </a:rPr>
            </a:br>
            <a:r>
              <a:rPr lang="en-US" dirty="0">
                <a:solidFill>
                  <a:srgbClr val="FFFFFF"/>
                </a:solidFill>
                <a:cs typeface="Calibri Light"/>
              </a:rPr>
              <a:t>Data Analytics</a:t>
            </a:r>
          </a:p>
        </p:txBody>
      </p:sp>
      <p:sp>
        <p:nvSpPr>
          <p:cNvPr id="3" name="Content Placeholder 2">
            <a:extLst>
              <a:ext uri="{FF2B5EF4-FFF2-40B4-BE49-F238E27FC236}">
                <a16:creationId xmlns:a16="http://schemas.microsoft.com/office/drawing/2014/main" id="{F0E303BD-A1A4-498E-97B4-F73BB5DF70FC}"/>
              </a:ext>
            </a:extLst>
          </p:cNvPr>
          <p:cNvSpPr>
            <a:spLocks noGrp="1"/>
          </p:cNvSpPr>
          <p:nvPr>
            <p:ph idx="1"/>
          </p:nvPr>
        </p:nvSpPr>
        <p:spPr>
          <a:xfrm>
            <a:off x="5356927" y="365125"/>
            <a:ext cx="5996871" cy="5811837"/>
          </a:xfrm>
        </p:spPr>
        <p:txBody>
          <a:bodyPr vert="horz" lIns="91440" tIns="45720" rIns="91440" bIns="45720" rtlCol="0" anchor="ctr">
            <a:normAutofit/>
          </a:bodyPr>
          <a:lstStyle/>
          <a:p>
            <a:pPr marL="0" indent="0">
              <a:buNone/>
            </a:pPr>
            <a:endParaRPr lang="en-US" sz="2000" dirty="0">
              <a:solidFill>
                <a:srgbClr val="FFFFFF"/>
              </a:solidFill>
              <a:cs typeface="Calibri"/>
            </a:endParaRPr>
          </a:p>
          <a:p>
            <a:pPr lvl="1"/>
            <a:endParaRPr lang="en-US" sz="2000" dirty="0">
              <a:solidFill>
                <a:srgbClr val="FFFFFF"/>
              </a:solidFill>
              <a:cs typeface="Calibri"/>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88C-E3C2-D21F-0930-1BD0DE7EB3B6}"/>
              </a:ext>
            </a:extLst>
          </p:cNvPr>
          <p:cNvSpPr>
            <a:spLocks noGrp="1"/>
          </p:cNvSpPr>
          <p:nvPr>
            <p:ph type="title"/>
          </p:nvPr>
        </p:nvSpPr>
        <p:spPr>
          <a:xfrm>
            <a:off x="838200" y="365125"/>
            <a:ext cx="7956884" cy="789907"/>
          </a:xfrm>
        </p:spPr>
        <p:txBody>
          <a:bodyPr/>
          <a:lstStyle/>
          <a:p>
            <a:r>
              <a:rPr lang="en-GB" dirty="0"/>
              <a:t>Database and Journals checked</a:t>
            </a:r>
          </a:p>
        </p:txBody>
      </p:sp>
      <p:sp>
        <p:nvSpPr>
          <p:cNvPr id="3" name="Content Placeholder 2">
            <a:extLst>
              <a:ext uri="{FF2B5EF4-FFF2-40B4-BE49-F238E27FC236}">
                <a16:creationId xmlns:a16="http://schemas.microsoft.com/office/drawing/2014/main" id="{F0FE553C-F6AE-1F89-91EC-062CAA7C4679}"/>
              </a:ext>
            </a:extLst>
          </p:cNvPr>
          <p:cNvSpPr>
            <a:spLocks noGrp="1"/>
          </p:cNvSpPr>
          <p:nvPr>
            <p:ph idx="1"/>
          </p:nvPr>
        </p:nvSpPr>
        <p:spPr>
          <a:xfrm>
            <a:off x="537410" y="1428583"/>
            <a:ext cx="10515600" cy="4351338"/>
          </a:xfrm>
        </p:spPr>
        <p:txBody>
          <a:bodyPr>
            <a:normAutofit/>
          </a:bodyPr>
          <a:lstStyle/>
          <a:p>
            <a:r>
              <a:rPr lang="en-GB" dirty="0">
                <a:hlinkClick r:id="rId2"/>
              </a:rPr>
              <a:t>ACM Digital Library </a:t>
            </a:r>
            <a:r>
              <a:rPr lang="en-GB" dirty="0"/>
              <a:t>– Have access via </a:t>
            </a:r>
            <a:r>
              <a:rPr lang="en-GB" dirty="0" err="1"/>
              <a:t>TUDublin</a:t>
            </a:r>
            <a:r>
              <a:rPr lang="en-GB" dirty="0"/>
              <a:t> institutional licence</a:t>
            </a:r>
          </a:p>
          <a:p>
            <a:r>
              <a:rPr lang="en-GB" dirty="0">
                <a:hlinkClick r:id="rId3"/>
              </a:rPr>
              <a:t>IEEE Xplore </a:t>
            </a:r>
            <a:r>
              <a:rPr lang="en-GB" dirty="0"/>
              <a:t>- Have access via </a:t>
            </a:r>
            <a:r>
              <a:rPr lang="en-GB" dirty="0" err="1"/>
              <a:t>TUDublin</a:t>
            </a:r>
            <a:r>
              <a:rPr lang="en-GB" dirty="0"/>
              <a:t> institutional licence</a:t>
            </a:r>
          </a:p>
          <a:p>
            <a:r>
              <a:rPr lang="en-GB" dirty="0">
                <a:hlinkClick r:id="rId4"/>
              </a:rPr>
              <a:t>Sage Journals </a:t>
            </a:r>
            <a:r>
              <a:rPr lang="en-GB" dirty="0"/>
              <a:t>- Have access via </a:t>
            </a:r>
            <a:r>
              <a:rPr lang="en-GB" dirty="0" err="1"/>
              <a:t>TUDublin</a:t>
            </a:r>
            <a:r>
              <a:rPr lang="en-GB" dirty="0"/>
              <a:t> institutional licence</a:t>
            </a:r>
          </a:p>
          <a:p>
            <a:r>
              <a:rPr lang="en-GB" dirty="0">
                <a:hlinkClick r:id="rId5"/>
              </a:rPr>
              <a:t>Cambridge Core </a:t>
            </a:r>
            <a:r>
              <a:rPr lang="en-GB" dirty="0"/>
              <a:t>- Have access via </a:t>
            </a:r>
            <a:r>
              <a:rPr lang="en-GB" dirty="0" err="1"/>
              <a:t>TUDublin</a:t>
            </a:r>
            <a:r>
              <a:rPr lang="en-GB" dirty="0"/>
              <a:t> institutional licence</a:t>
            </a:r>
          </a:p>
          <a:p>
            <a:r>
              <a:rPr lang="en-GB" dirty="0">
                <a:hlinkClick r:id="rId6"/>
              </a:rPr>
              <a:t>Springer Nature Link </a:t>
            </a:r>
            <a:r>
              <a:rPr lang="en-GB" dirty="0"/>
              <a:t>– Have access via </a:t>
            </a:r>
            <a:r>
              <a:rPr lang="en-GB" dirty="0" err="1"/>
              <a:t>TUDublin</a:t>
            </a:r>
            <a:r>
              <a:rPr lang="en-GB" dirty="0"/>
              <a:t> institutional licence, but have to register to get </a:t>
            </a:r>
            <a:r>
              <a:rPr lang="en-GB" dirty="0" err="1"/>
              <a:t>ORCid</a:t>
            </a:r>
            <a:r>
              <a:rPr lang="en-GB" dirty="0"/>
              <a:t> wit college account</a:t>
            </a:r>
          </a:p>
          <a:p>
            <a:r>
              <a:rPr lang="en-GB" dirty="0">
                <a:hlinkClick r:id="rId7"/>
              </a:rPr>
              <a:t>Google Scholar</a:t>
            </a:r>
            <a:r>
              <a:rPr lang="en-GB" dirty="0"/>
              <a:t> – don’t always have access to the articles it references, can be a mixed bag, need to narrow searches with more specificity</a:t>
            </a:r>
          </a:p>
          <a:p>
            <a:r>
              <a:rPr lang="en-GB" dirty="0">
                <a:hlinkClick r:id="rId8"/>
              </a:rPr>
              <a:t>DBLP</a:t>
            </a:r>
            <a:r>
              <a:rPr lang="en-GB" dirty="0"/>
              <a:t> – was very slow, not available through TU Dublin library</a:t>
            </a:r>
          </a:p>
          <a:p>
            <a:r>
              <a:rPr lang="en-GB" dirty="0"/>
              <a:t>Use of the TU Dublin library was probably the greatest resource and allows for institutional access</a:t>
            </a:r>
          </a:p>
          <a:p>
            <a:endParaRPr lang="en-GB" dirty="0"/>
          </a:p>
        </p:txBody>
      </p:sp>
    </p:spTree>
    <p:extLst>
      <p:ext uri="{BB962C8B-B14F-4D97-AF65-F5344CB8AC3E}">
        <p14:creationId xmlns:p14="http://schemas.microsoft.com/office/powerpoint/2010/main" val="43814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422751" y="1670311"/>
            <a:ext cx="7614169" cy="1547323"/>
          </a:xfrm>
        </p:spPr>
        <p:txBody>
          <a:bodyPr anchor="ctr">
            <a:normAutofit fontScale="90000"/>
          </a:bodyPr>
          <a:lstStyle/>
          <a:p>
            <a:pPr algn="ctr"/>
            <a:r>
              <a:rPr lang="en-GB" sz="4200" dirty="0">
                <a:solidFill>
                  <a:schemeClr val="tx1"/>
                </a:solidFill>
                <a:hlinkClick r:id="rId2">
                  <a:extLst>
                    <a:ext uri="{A12FA001-AC4F-418D-AE19-62706E023703}">
                      <ahyp:hlinkClr xmlns:ahyp="http://schemas.microsoft.com/office/drawing/2018/hyperlinkcolor" val="tx"/>
                    </a:ext>
                  </a:extLst>
                </a:hlinkClick>
              </a:rPr>
              <a:t>Predicting Company ESG Ratings from News Articles Using</a:t>
            </a:r>
            <a:br>
              <a:rPr lang="en-GB" sz="4200" dirty="0">
                <a:solidFill>
                  <a:schemeClr val="tx1"/>
                </a:solidFill>
                <a:hlinkClick r:id="rId2">
                  <a:extLst>
                    <a:ext uri="{A12FA001-AC4F-418D-AE19-62706E023703}">
                      <ahyp:hlinkClr xmlns:ahyp="http://schemas.microsoft.com/office/drawing/2018/hyperlinkcolor" val="tx"/>
                    </a:ext>
                  </a:extLst>
                </a:hlinkClick>
              </a:rPr>
            </a:br>
            <a:r>
              <a:rPr lang="en-GB" sz="4200" dirty="0">
                <a:solidFill>
                  <a:schemeClr val="tx1"/>
                </a:solidFill>
                <a:hlinkClick r:id="rId2">
                  <a:extLst>
                    <a:ext uri="{A12FA001-AC4F-418D-AE19-62706E023703}">
                      <ahyp:hlinkClr xmlns:ahyp="http://schemas.microsoft.com/office/drawing/2018/hyperlinkcolor" val="tx"/>
                    </a:ext>
                  </a:extLst>
                </a:hlinkClick>
              </a:rPr>
              <a:t>Multivariate Timeseries Analysis</a:t>
            </a:r>
            <a:endParaRPr lang="en-IE" sz="4200" dirty="0">
              <a:solidFill>
                <a:schemeClr val="tx1"/>
              </a:solidFill>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3639840" y="4128305"/>
            <a:ext cx="4001851" cy="1737360"/>
          </a:xfrm>
        </p:spPr>
        <p:txBody>
          <a:bodyPr anchor="ctr">
            <a:normAutofit fontScale="92500" lnSpcReduction="20000"/>
          </a:bodyPr>
          <a:lstStyle/>
          <a:p>
            <a:pPr algn="l"/>
            <a:endParaRPr lang="en-US" dirty="0"/>
          </a:p>
          <a:p>
            <a:pPr algn="l"/>
            <a:r>
              <a:rPr lang="en-US" dirty="0">
                <a:solidFill>
                  <a:schemeClr val="tx1"/>
                </a:solidFill>
              </a:rPr>
              <a:t>Publish on: ACM Digital Library</a:t>
            </a:r>
          </a:p>
          <a:p>
            <a:pPr marL="342900" indent="-342900" algn="l">
              <a:buFont typeface="Arial" panose="020B0604020202020204" pitchFamily="34" charset="0"/>
              <a:buChar char="•"/>
            </a:pPr>
            <a:r>
              <a:rPr lang="en-US" sz="1800" dirty="0">
                <a:solidFill>
                  <a:schemeClr val="tx1"/>
                </a:solidFill>
                <a:cs typeface="Calibri"/>
              </a:rPr>
              <a:t>Date Published = 23</a:t>
            </a:r>
            <a:r>
              <a:rPr lang="en-US" sz="1800" baseline="30000" dirty="0">
                <a:solidFill>
                  <a:schemeClr val="tx1"/>
                </a:solidFill>
                <a:cs typeface="Calibri"/>
              </a:rPr>
              <a:t>rd</a:t>
            </a:r>
            <a:r>
              <a:rPr lang="en-US" sz="1800" dirty="0">
                <a:solidFill>
                  <a:schemeClr val="tx1"/>
                </a:solidFill>
                <a:cs typeface="Calibri"/>
              </a:rPr>
              <a:t> May ‘2025</a:t>
            </a:r>
          </a:p>
          <a:p>
            <a:pPr marL="342900" indent="-342900" algn="l">
              <a:buFont typeface="Arial" panose="020B0604020202020204" pitchFamily="34" charset="0"/>
              <a:buChar char="•"/>
            </a:pPr>
            <a:r>
              <a:rPr lang="en-US" sz="1800" dirty="0">
                <a:solidFill>
                  <a:schemeClr val="tx1"/>
                </a:solidFill>
                <a:cs typeface="Calibri"/>
              </a:rPr>
              <a:t>Number of Citations = 1</a:t>
            </a:r>
          </a:p>
          <a:p>
            <a:pPr marL="342900" indent="-342900" algn="l">
              <a:buFont typeface="Arial" panose="020B0604020202020204" pitchFamily="34" charset="0"/>
              <a:buChar char="•"/>
            </a:pPr>
            <a:r>
              <a:rPr lang="en-US" sz="1800" dirty="0">
                <a:solidFill>
                  <a:schemeClr val="tx1"/>
                </a:solidFill>
                <a:cs typeface="Calibri"/>
              </a:rPr>
              <a:t>Total Downloads =1,350</a:t>
            </a:r>
          </a:p>
          <a:p>
            <a:pPr algn="l"/>
            <a:endParaRPr lang="en-US" dirty="0"/>
          </a:p>
        </p:txBody>
      </p:sp>
    </p:spTree>
    <p:extLst>
      <p:ext uri="{BB962C8B-B14F-4D97-AF65-F5344CB8AC3E}">
        <p14:creationId xmlns:p14="http://schemas.microsoft.com/office/powerpoint/2010/main" val="136345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fontScale="90000"/>
          </a:bodyPr>
          <a:lstStyle/>
          <a:p>
            <a:r>
              <a:rPr lang="en-US" sz="3400">
                <a:ea typeface="+mj-lt"/>
                <a:cs typeface="+mj-lt"/>
              </a:rPr>
              <a:t>The Purpose of the Research</a:t>
            </a:r>
            <a:endParaRPr lang="en-US"/>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446351"/>
            <a:ext cx="4502858" cy="3730612"/>
          </a:xfrm>
        </p:spPr>
        <p:txBody>
          <a:bodyPr vert="horz" lIns="91440" tIns="45720" rIns="91440" bIns="45720" rtlCol="0" anchor="t">
            <a:normAutofit fontScale="92500" lnSpcReduction="20000"/>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Company Environmental Social Governance (ESG) rating predictions </a:t>
            </a:r>
            <a:endParaRPr lang="en-US" sz="1800" dirty="0">
              <a:cs typeface="Calibri"/>
            </a:endParaRPr>
          </a:p>
          <a:p>
            <a:r>
              <a:rPr lang="en-US" sz="1800" dirty="0"/>
              <a:t>Can a model be created that will accurately predict ESG ratings based of existing and accessible (not company reported) data ?</a:t>
            </a:r>
          </a:p>
          <a:p>
            <a:r>
              <a:rPr lang="en-US" sz="1800" dirty="0"/>
              <a:t>Improvement on existing methodologies</a:t>
            </a:r>
            <a:endParaRPr lang="en-US" sz="1800" dirty="0">
              <a:cs typeface="Calibri"/>
            </a:endParaRPr>
          </a:p>
          <a:p>
            <a:r>
              <a:rPr lang="en-US" sz="1800" dirty="0"/>
              <a:t>ESG reporting is a legal governance requirement.</a:t>
            </a:r>
          </a:p>
          <a:p>
            <a:r>
              <a:rPr lang="en-US" sz="1800" dirty="0"/>
              <a:t>ESG is an Important are as has financial performance / market implications for companies and investors</a:t>
            </a:r>
          </a:p>
          <a:p>
            <a:pPr marL="0" indent="0">
              <a:buNone/>
            </a:pPr>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GB" sz="1800" b="1" dirty="0"/>
              <a:t>Predicting Company ESG Ratings from News Articles Using Multivariate Timeseries Analysis</a:t>
            </a:r>
            <a:r>
              <a:rPr lang="en-IE" sz="1800" b="1" dirty="0"/>
              <a:t>?</a:t>
            </a:r>
            <a:endParaRPr kumimoji="0" lang="en-US" sz="1800" b="1" i="0" u="none" strike="noStrike" kern="1200" cap="none" spc="0" normalizeH="0" baseline="0" noProof="0" dirty="0">
              <a:ln>
                <a:noFill/>
              </a:ln>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101930" y="868680"/>
            <a:ext cx="9840203" cy="5346074"/>
          </a:xfrm>
          <a:prstGeom prst="rect">
            <a:avLst/>
          </a:prstGeom>
        </p:spPr>
      </p:pic>
      <p:pic>
        <p:nvPicPr>
          <p:cNvPr id="9" name="Picture 8">
            <a:extLst>
              <a:ext uri="{FF2B5EF4-FFF2-40B4-BE49-F238E27FC236}">
                <a16:creationId xmlns:a16="http://schemas.microsoft.com/office/drawing/2014/main" id="{F2A1B6BC-6BA5-84AC-05E8-343B6E47D5EF}"/>
              </a:ext>
            </a:extLst>
          </p:cNvPr>
          <p:cNvPicPr>
            <a:picLocks noChangeAspect="1"/>
          </p:cNvPicPr>
          <p:nvPr/>
        </p:nvPicPr>
        <p:blipFill>
          <a:blip r:embed="rId3"/>
          <a:stretch>
            <a:fillRect/>
          </a:stretch>
        </p:blipFill>
        <p:spPr>
          <a:xfrm>
            <a:off x="9725331" y="3777421"/>
            <a:ext cx="1771897" cy="2867425"/>
          </a:xfrm>
          <a:prstGeom prst="rect">
            <a:avLst/>
          </a:prstGeom>
        </p:spPr>
      </p:pic>
    </p:spTree>
    <p:extLst>
      <p:ext uri="{BB962C8B-B14F-4D97-AF65-F5344CB8AC3E}">
        <p14:creationId xmlns:p14="http://schemas.microsoft.com/office/powerpoint/2010/main" val="5774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a:xfrm>
            <a:off x="463216" y="18255"/>
            <a:ext cx="11265568" cy="1325563"/>
          </a:xfrm>
        </p:spPr>
        <p:txBody>
          <a:bodyPr/>
          <a:lstStyle/>
          <a:p>
            <a:r>
              <a:rPr lang="en-GB" dirty="0"/>
              <a:t>Philosophy – Epistemology </a:t>
            </a:r>
            <a:r>
              <a:rPr lang="en-GB" sz="2400" dirty="0"/>
              <a:t>(what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a:xfrm>
            <a:off x="463215" y="1343818"/>
            <a:ext cx="11265567" cy="5117140"/>
          </a:xfrm>
        </p:spPr>
        <p:txBody>
          <a:bodyPr>
            <a:normAutofit fontScale="775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r>
              <a:rPr lang="en-GB" dirty="0"/>
              <a:t>It is not</a:t>
            </a:r>
          </a:p>
          <a:p>
            <a:pPr lvl="1"/>
            <a:r>
              <a:rPr lang="en-GB" b="1" u="sng" dirty="0"/>
              <a:t>Realism </a:t>
            </a:r>
            <a:r>
              <a:rPr lang="en-GB" b="1" dirty="0"/>
              <a:t>– </a:t>
            </a:r>
          </a:p>
          <a:p>
            <a:pPr lvl="2"/>
            <a:r>
              <a:rPr lang="en-GB" dirty="0"/>
              <a:t>realism thinks that scientific methods are not perfect, could be realism?</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a:xfrm>
            <a:off x="838200" y="18256"/>
            <a:ext cx="10515600" cy="968334"/>
          </a:xfrm>
        </p:spPr>
        <p:txBody>
          <a:bodyPr/>
          <a:lstStyle/>
          <a:p>
            <a:r>
              <a:rPr lang="en-GB" dirty="0"/>
              <a:t>Philosophy – Ontology </a:t>
            </a:r>
            <a:r>
              <a:rPr lang="en-GB" sz="2800" dirty="0"/>
              <a:t>(what is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a:xfrm>
            <a:off x="649705" y="1130968"/>
            <a:ext cx="10704095" cy="5045995"/>
          </a:xfrm>
        </p:spPr>
        <p:txBody>
          <a:bodyPr>
            <a:normAutofit lnSpcReduction="10000"/>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We are being objective in our assessment…. </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So I could be objectivism!!!</a:t>
            </a:r>
          </a:p>
          <a:p>
            <a:pPr lvl="1"/>
            <a:r>
              <a:rPr lang="en-GB" b="1" u="sng" dirty="0"/>
              <a:t>It could be Pragmatism</a:t>
            </a:r>
            <a:r>
              <a:rPr lang="en-GB" dirty="0"/>
              <a:t> –!!</a:t>
            </a:r>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a:xfrm>
            <a:off x="741948" y="18255"/>
            <a:ext cx="10515600" cy="1325563"/>
          </a:xfrm>
        </p:spPr>
        <p:txBody>
          <a:bodyPr/>
          <a:lstStyle/>
          <a:p>
            <a:r>
              <a:rPr lang="en-GB" dirty="0"/>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a:xfrm>
            <a:off x="481263" y="1179095"/>
            <a:ext cx="10872537" cy="4997868"/>
          </a:xfrm>
        </p:spPr>
        <p:txBody>
          <a:bodyPr>
            <a:normAutofit/>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t>Layer 3. Strategy - </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p:txBody>
          <a:bodyPr>
            <a:normAutofit fontScale="92500" lnSpcReduction="20000"/>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4DC-AFCA-9EF9-D0EC-5E9E40F468BF}"/>
              </a:ext>
            </a:extLst>
          </p:cNvPr>
          <p:cNvSpPr>
            <a:spLocks noGrp="1"/>
          </p:cNvSpPr>
          <p:nvPr>
            <p:ph type="title"/>
          </p:nvPr>
        </p:nvSpPr>
        <p:spPr/>
        <p:txBody>
          <a:bodyPr/>
          <a:lstStyle/>
          <a:p>
            <a:r>
              <a:rPr lang="en-GB" dirty="0"/>
              <a:t>Layer 6. Techniques and procedures</a:t>
            </a:r>
          </a:p>
        </p:txBody>
      </p:sp>
      <p:sp>
        <p:nvSpPr>
          <p:cNvPr id="3" name="Content Placeholder 2">
            <a:extLst>
              <a:ext uri="{FF2B5EF4-FFF2-40B4-BE49-F238E27FC236}">
                <a16:creationId xmlns:a16="http://schemas.microsoft.com/office/drawing/2014/main" id="{42F24BDD-64CE-CC33-76FA-8DDBACF98DA1}"/>
              </a:ext>
            </a:extLst>
          </p:cNvPr>
          <p:cNvSpPr>
            <a:spLocks noGrp="1"/>
          </p:cNvSpPr>
          <p:nvPr>
            <p:ph idx="1"/>
          </p:nvPr>
        </p:nvSpPr>
        <p:spPr/>
        <p:txBody>
          <a:bodyPr>
            <a:normAutofit/>
          </a:bodyPr>
          <a:lstStyle/>
          <a:p>
            <a:r>
              <a:rPr lang="en-GB" dirty="0"/>
              <a:t>It is a combination of both of the following.</a:t>
            </a:r>
          </a:p>
          <a:p>
            <a:pPr lvl="1"/>
            <a:r>
              <a:rPr lang="en-GB" dirty="0"/>
              <a:t>Experimental</a:t>
            </a:r>
          </a:p>
          <a:p>
            <a:pPr lvl="2"/>
            <a:r>
              <a:rPr lang="en-GB" dirty="0"/>
              <a:t>Methods = Correlational, regressions classification models</a:t>
            </a:r>
          </a:p>
          <a:p>
            <a:pPr lvl="2"/>
            <a:r>
              <a:rPr lang="en-GB" dirty="0"/>
              <a:t>Tools = python, ML, neural networks (CNNs) x2  and transformer-based x2, </a:t>
            </a:r>
            <a:r>
              <a:rPr lang="en-GB" dirty="0" err="1"/>
              <a:t>DistilBERT</a:t>
            </a:r>
            <a:r>
              <a:rPr lang="en-GB" dirty="0"/>
              <a:t> model, k-means clustering</a:t>
            </a:r>
          </a:p>
          <a:p>
            <a:pPr lvl="1"/>
            <a:r>
              <a:rPr lang="en-GB" dirty="0"/>
              <a:t>Formal Modelling</a:t>
            </a:r>
          </a:p>
          <a:p>
            <a:pPr lvl="2"/>
            <a:r>
              <a:rPr lang="en-GB" dirty="0"/>
              <a:t>Methods = analytical, mathematical</a:t>
            </a:r>
          </a:p>
          <a:p>
            <a:pPr lvl="2"/>
            <a:r>
              <a:rPr lang="en-GB" dirty="0"/>
              <a:t>Tools / Models = Neural Networks</a:t>
            </a:r>
          </a:p>
          <a:p>
            <a:pPr lvl="2"/>
            <a:endParaRPr lang="en-GB" dirty="0"/>
          </a:p>
          <a:p>
            <a:r>
              <a:rPr lang="en-GB" dirty="0"/>
              <a:t>There is no use of </a:t>
            </a:r>
            <a:r>
              <a:rPr lang="en-GB" b="1" dirty="0"/>
              <a:t>Surveys</a:t>
            </a:r>
            <a:r>
              <a:rPr lang="en-GB" dirty="0"/>
              <a:t>, </a:t>
            </a:r>
            <a:r>
              <a:rPr lang="en-GB" b="1" dirty="0"/>
              <a:t>Action Research</a:t>
            </a:r>
            <a:r>
              <a:rPr lang="en-GB" dirty="0"/>
              <a:t>, </a:t>
            </a:r>
            <a:r>
              <a:rPr lang="en-GB" b="1" dirty="0"/>
              <a:t>Case Studies</a:t>
            </a:r>
            <a:r>
              <a:rPr lang="en-GB" dirty="0"/>
              <a:t>, </a:t>
            </a:r>
            <a:r>
              <a:rPr lang="en-GB" b="1" dirty="0"/>
              <a:t>Grounded theory</a:t>
            </a:r>
            <a:r>
              <a:rPr lang="en-GB" dirty="0"/>
              <a:t> or </a:t>
            </a:r>
            <a:r>
              <a:rPr lang="en-GB" b="1" dirty="0"/>
              <a:t>Ethnography</a:t>
            </a:r>
          </a:p>
        </p:txBody>
      </p:sp>
    </p:spTree>
    <p:extLst>
      <p:ext uri="{BB962C8B-B14F-4D97-AF65-F5344CB8AC3E}">
        <p14:creationId xmlns:p14="http://schemas.microsoft.com/office/powerpoint/2010/main" val="1641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A1E8-103D-7EBA-4EB3-CFA5775DCE2F}"/>
              </a:ext>
            </a:extLst>
          </p:cNvPr>
          <p:cNvSpPr>
            <a:spLocks noGrp="1"/>
          </p:cNvSpPr>
          <p:nvPr>
            <p:ph type="title"/>
          </p:nvPr>
        </p:nvSpPr>
        <p:spPr>
          <a:xfrm>
            <a:off x="4312679" y="2766218"/>
            <a:ext cx="3279248" cy="662782"/>
          </a:xfrm>
        </p:spPr>
        <p:txBody>
          <a:bodyPr>
            <a:normAutofit/>
          </a:bodyPr>
          <a:lstStyle/>
          <a:p>
            <a:r>
              <a:rPr lang="en-GB" dirty="0"/>
              <a:t>Methodology</a:t>
            </a:r>
          </a:p>
        </p:txBody>
      </p:sp>
      <p:sp>
        <p:nvSpPr>
          <p:cNvPr id="5" name="TextBox 4">
            <a:extLst>
              <a:ext uri="{FF2B5EF4-FFF2-40B4-BE49-F238E27FC236}">
                <a16:creationId xmlns:a16="http://schemas.microsoft.com/office/drawing/2014/main" id="{1F3EFDB6-25BD-2A18-D057-BD0127537CF2}"/>
              </a:ext>
            </a:extLst>
          </p:cNvPr>
          <p:cNvSpPr txBox="1"/>
          <p:nvPr/>
        </p:nvSpPr>
        <p:spPr>
          <a:xfrm>
            <a:off x="4168300" y="3581219"/>
            <a:ext cx="3279248" cy="369332"/>
          </a:xfrm>
          <a:prstGeom prst="rect">
            <a:avLst/>
          </a:prstGeom>
          <a:noFill/>
        </p:spPr>
        <p:txBody>
          <a:bodyPr wrap="square">
            <a:spAutoFit/>
          </a:bodyPr>
          <a:lstStyle/>
          <a:p>
            <a:r>
              <a:rPr lang="en-GB" dirty="0"/>
              <a:t>Data collection and Data Analysis</a:t>
            </a:r>
          </a:p>
        </p:txBody>
      </p:sp>
    </p:spTree>
    <p:extLst>
      <p:ext uri="{BB962C8B-B14F-4D97-AF65-F5344CB8AC3E}">
        <p14:creationId xmlns:p14="http://schemas.microsoft.com/office/powerpoint/2010/main" val="20882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D5BB-737E-7782-7536-B21B5BC3E50E}"/>
              </a:ext>
            </a:extLst>
          </p:cNvPr>
          <p:cNvSpPr>
            <a:spLocks noGrp="1"/>
          </p:cNvSpPr>
          <p:nvPr>
            <p:ph type="title"/>
          </p:nvPr>
        </p:nvSpPr>
        <p:spPr>
          <a:xfrm>
            <a:off x="688297" y="0"/>
            <a:ext cx="6695913" cy="1325563"/>
          </a:xfrm>
        </p:spPr>
        <p:txBody>
          <a:bodyPr/>
          <a:lstStyle/>
          <a:p>
            <a:r>
              <a:rPr lang="en-GB" dirty="0"/>
              <a:t>Step 1. Build the Datasets</a:t>
            </a:r>
          </a:p>
        </p:txBody>
      </p:sp>
      <p:sp>
        <p:nvSpPr>
          <p:cNvPr id="3" name="Content Placeholder 2">
            <a:extLst>
              <a:ext uri="{FF2B5EF4-FFF2-40B4-BE49-F238E27FC236}">
                <a16:creationId xmlns:a16="http://schemas.microsoft.com/office/drawing/2014/main" id="{D39C5B43-0343-3840-2ECF-8B292FBCD2E1}"/>
              </a:ext>
            </a:extLst>
          </p:cNvPr>
          <p:cNvSpPr>
            <a:spLocks noGrp="1"/>
          </p:cNvSpPr>
          <p:nvPr>
            <p:ph idx="1"/>
          </p:nvPr>
        </p:nvSpPr>
        <p:spPr>
          <a:xfrm>
            <a:off x="838199" y="1214203"/>
            <a:ext cx="10665504" cy="5462642"/>
          </a:xfrm>
        </p:spPr>
        <p:txBody>
          <a:bodyPr>
            <a:normAutofit fontScale="92500" lnSpcReduction="10000"/>
          </a:bodyPr>
          <a:lstStyle/>
          <a:p>
            <a:r>
              <a:rPr lang="en-GB" dirty="0"/>
              <a:t>1. Build Dataset</a:t>
            </a:r>
          </a:p>
          <a:p>
            <a:pPr lvl="1"/>
            <a:r>
              <a:rPr lang="en-GB" dirty="0"/>
              <a:t>1.1 ESG ratings dataset creation</a:t>
            </a:r>
          </a:p>
          <a:p>
            <a:pPr lvl="2"/>
            <a:r>
              <a:rPr lang="en-GB" dirty="0"/>
              <a:t>Used &gt; Asset4 ESG ratings from Refinitiv1, - collected yearly ratings for 3,343 U.S. companies rated by Refinitiv from 2018 to 2020</a:t>
            </a:r>
          </a:p>
          <a:p>
            <a:pPr lvl="2"/>
            <a:r>
              <a:rPr lang="en-GB" dirty="0"/>
              <a:t>Refinitiv scores based around E, S and G + 3 ratings, each 0-100) &gt; higher = better</a:t>
            </a:r>
          </a:p>
          <a:p>
            <a:pPr lvl="3"/>
            <a:r>
              <a:rPr lang="en-GB" dirty="0"/>
              <a:t>1 basic ESG score (based around company reports)</a:t>
            </a:r>
          </a:p>
          <a:p>
            <a:pPr lvl="3"/>
            <a:r>
              <a:rPr lang="en-GB" dirty="0"/>
              <a:t>2. Controversy Score (based off external coverage, media etc)</a:t>
            </a:r>
          </a:p>
          <a:p>
            <a:pPr lvl="3"/>
            <a:r>
              <a:rPr lang="en-GB" dirty="0"/>
              <a:t>3. combined score (controversy adjusted) (paper used this score for prediction)</a:t>
            </a:r>
          </a:p>
          <a:p>
            <a:pPr lvl="3"/>
            <a:r>
              <a:rPr lang="en-GB" dirty="0"/>
              <a:t>Included some financials &gt; test for company size (</a:t>
            </a:r>
            <a:r>
              <a:rPr lang="en-GB" dirty="0" err="1"/>
              <a:t>mrkt</a:t>
            </a:r>
            <a:r>
              <a:rPr lang="en-GB" dirty="0"/>
              <a:t> cap influence on ESG)</a:t>
            </a:r>
          </a:p>
          <a:p>
            <a:pPr lvl="3"/>
            <a:r>
              <a:rPr lang="en-GB" dirty="0"/>
              <a:t>NOTE &gt; Refinitiv no linger exists was bought and no private company &gt; </a:t>
            </a:r>
            <a:r>
              <a:rPr lang="en-GB" dirty="0">
                <a:hlinkClick r:id="rId2"/>
              </a:rPr>
              <a:t>https://www.lseg.com/en/data-analytics</a:t>
            </a:r>
            <a:r>
              <a:rPr lang="en-GB" dirty="0"/>
              <a:t> </a:t>
            </a:r>
          </a:p>
          <a:p>
            <a:pPr lvl="1"/>
            <a:r>
              <a:rPr lang="en-GB" dirty="0"/>
              <a:t>1.2 News Dataset creation</a:t>
            </a:r>
          </a:p>
          <a:p>
            <a:pPr lvl="2"/>
            <a:r>
              <a:rPr lang="en-GB" b="1" dirty="0"/>
              <a:t>GDELT</a:t>
            </a:r>
            <a:r>
              <a:rPr lang="en-GB" dirty="0"/>
              <a:t> project database &gt; </a:t>
            </a:r>
            <a:r>
              <a:rPr lang="en-GB" dirty="0">
                <a:hlinkClick r:id="rId3"/>
              </a:rPr>
              <a:t>https://www.gdeltproject.org/</a:t>
            </a:r>
            <a:endParaRPr lang="en-GB" dirty="0"/>
          </a:p>
          <a:p>
            <a:pPr lvl="3"/>
            <a:r>
              <a:rPr lang="en-GB" dirty="0"/>
              <a:t>extensive database of news covering print, web, broadcast, and television sources from most countries around the world in over 100 languages, with updates every 15 minutes.</a:t>
            </a:r>
          </a:p>
          <a:p>
            <a:pPr lvl="3"/>
            <a:r>
              <a:rPr lang="en-GB" b="1" dirty="0"/>
              <a:t>GDELT Doc API Client</a:t>
            </a:r>
          </a:p>
          <a:p>
            <a:pPr lvl="4"/>
            <a:r>
              <a:rPr lang="en-GB" b="1" dirty="0"/>
              <a:t>‘from </a:t>
            </a:r>
            <a:r>
              <a:rPr lang="en-GB" b="1" dirty="0" err="1"/>
              <a:t>gdeltdoc</a:t>
            </a:r>
            <a:r>
              <a:rPr lang="en-GB" b="1" dirty="0"/>
              <a:t> import </a:t>
            </a:r>
            <a:r>
              <a:rPr lang="en-GB" b="1" dirty="0" err="1"/>
              <a:t>GdeltDoc</a:t>
            </a:r>
            <a:r>
              <a:rPr lang="en-GB" b="1" dirty="0"/>
              <a:t>, Filters’</a:t>
            </a:r>
          </a:p>
          <a:p>
            <a:pPr lvl="4"/>
            <a:r>
              <a:rPr lang="en-GB" dirty="0">
                <a:hlinkClick r:id="rId4"/>
              </a:rPr>
              <a:t>https://pypi.org/project/gdeltdoc/</a:t>
            </a:r>
            <a:endParaRPr lang="en-GB" b="1" dirty="0"/>
          </a:p>
          <a:p>
            <a:pPr lvl="2"/>
            <a:r>
              <a:rPr lang="en-GB" dirty="0"/>
              <a:t>Performed a keyword search to include the 10 primary themes within the three ESG dimensions and company names (variations) </a:t>
            </a:r>
            <a:r>
              <a:rPr lang="en-GB" dirty="0" err="1"/>
              <a:t>Ieach</a:t>
            </a:r>
            <a:r>
              <a:rPr lang="en-GB" dirty="0"/>
              <a:t> company name to appear twice to ensure focussed content and exclude incidental mentions</a:t>
            </a:r>
          </a:p>
        </p:txBody>
      </p:sp>
    </p:spTree>
    <p:extLst>
      <p:ext uri="{BB962C8B-B14F-4D97-AF65-F5344CB8AC3E}">
        <p14:creationId xmlns:p14="http://schemas.microsoft.com/office/powerpoint/2010/main" val="51146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B89F-E9A5-2476-D486-874FCC85683C}"/>
              </a:ext>
            </a:extLst>
          </p:cNvPr>
          <p:cNvSpPr>
            <a:spLocks noGrp="1"/>
          </p:cNvSpPr>
          <p:nvPr>
            <p:ph type="title"/>
          </p:nvPr>
        </p:nvSpPr>
        <p:spPr>
          <a:xfrm>
            <a:off x="478772" y="0"/>
            <a:ext cx="10515600" cy="1325563"/>
          </a:xfrm>
        </p:spPr>
        <p:txBody>
          <a:bodyPr/>
          <a:lstStyle/>
          <a:p>
            <a:pPr algn="ctr"/>
            <a:r>
              <a:rPr lang="en-GB" dirty="0"/>
              <a:t>Overview of the News Article Dataset</a:t>
            </a:r>
          </a:p>
        </p:txBody>
      </p:sp>
      <p:graphicFrame>
        <p:nvGraphicFramePr>
          <p:cNvPr id="4" name="Content Placeholder 3">
            <a:extLst>
              <a:ext uri="{FF2B5EF4-FFF2-40B4-BE49-F238E27FC236}">
                <a16:creationId xmlns:a16="http://schemas.microsoft.com/office/drawing/2014/main" id="{565B64EA-84E2-E9FB-9D9D-7EFB4E387095}"/>
              </a:ext>
            </a:extLst>
          </p:cNvPr>
          <p:cNvGraphicFramePr>
            <a:graphicFrameLocks noGrp="1"/>
          </p:cNvGraphicFramePr>
          <p:nvPr>
            <p:ph idx="1"/>
            <p:extLst>
              <p:ext uri="{D42A27DB-BD31-4B8C-83A1-F6EECF244321}">
                <p14:modId xmlns:p14="http://schemas.microsoft.com/office/powerpoint/2010/main" val="181744425"/>
              </p:ext>
            </p:extLst>
          </p:nvPr>
        </p:nvGraphicFramePr>
        <p:xfrm>
          <a:off x="1039992" y="999457"/>
          <a:ext cx="9393159" cy="2817342"/>
        </p:xfrm>
        <a:graphic>
          <a:graphicData uri="http://schemas.openxmlformats.org/drawingml/2006/table">
            <a:tbl>
              <a:tblPr>
                <a:tableStyleId>{5C22544A-7EE6-4342-B048-85BDC9FD1C3A}</a:tableStyleId>
              </a:tblPr>
              <a:tblGrid>
                <a:gridCol w="4287895">
                  <a:extLst>
                    <a:ext uri="{9D8B030D-6E8A-4147-A177-3AD203B41FA5}">
                      <a16:colId xmlns:a16="http://schemas.microsoft.com/office/drawing/2014/main" val="2309226637"/>
                    </a:ext>
                  </a:extLst>
                </a:gridCol>
                <a:gridCol w="1276316">
                  <a:extLst>
                    <a:ext uri="{9D8B030D-6E8A-4147-A177-3AD203B41FA5}">
                      <a16:colId xmlns:a16="http://schemas.microsoft.com/office/drawing/2014/main" val="38900310"/>
                    </a:ext>
                  </a:extLst>
                </a:gridCol>
                <a:gridCol w="1276316">
                  <a:extLst>
                    <a:ext uri="{9D8B030D-6E8A-4147-A177-3AD203B41FA5}">
                      <a16:colId xmlns:a16="http://schemas.microsoft.com/office/drawing/2014/main" val="2255698935"/>
                    </a:ext>
                  </a:extLst>
                </a:gridCol>
                <a:gridCol w="1276316">
                  <a:extLst>
                    <a:ext uri="{9D8B030D-6E8A-4147-A177-3AD203B41FA5}">
                      <a16:colId xmlns:a16="http://schemas.microsoft.com/office/drawing/2014/main" val="4121032835"/>
                    </a:ext>
                  </a:extLst>
                </a:gridCol>
                <a:gridCol w="1276316">
                  <a:extLst>
                    <a:ext uri="{9D8B030D-6E8A-4147-A177-3AD203B41FA5}">
                      <a16:colId xmlns:a16="http://schemas.microsoft.com/office/drawing/2014/main" val="1177465436"/>
                    </a:ext>
                  </a:extLst>
                </a:gridCol>
              </a:tblGrid>
              <a:tr h="469557">
                <a:tc>
                  <a:txBody>
                    <a:bodyPr/>
                    <a:lstStyle/>
                    <a:p>
                      <a:pPr algn="l" fontAlgn="b">
                        <a:buNone/>
                      </a:pP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2018</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2019</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2020</a:t>
                      </a:r>
                      <a:endParaRPr lang="en-GB" sz="2400" b="0" i="0" u="none" strike="noStrike">
                        <a:solidFill>
                          <a:srgbClr val="FFFFFF"/>
                        </a:solidFill>
                        <a:effectLst/>
                        <a:latin typeface="+mn-lt"/>
                      </a:endParaRPr>
                    </a:p>
                  </a:txBody>
                  <a:tcPr marL="9525" marR="9525" marT="9525" marB="0" anchor="b"/>
                </a:tc>
                <a:tc>
                  <a:txBody>
                    <a:bodyPr/>
                    <a:lstStyle/>
                    <a:p>
                      <a:pPr algn="ctr" fontAlgn="b">
                        <a:buNone/>
                      </a:pPr>
                      <a:r>
                        <a:rPr lang="en-GB" sz="2400" u="none" strike="noStrike">
                          <a:effectLst/>
                          <a:latin typeface="+mn-lt"/>
                        </a:rPr>
                        <a:t>In Total</a:t>
                      </a:r>
                      <a:endParaRPr lang="en-GB" sz="2400" b="0" i="0" u="none" strike="noStrike">
                        <a:solidFill>
                          <a:srgbClr val="FFFFFF"/>
                        </a:solidFill>
                        <a:effectLst/>
                        <a:latin typeface="+mn-lt"/>
                      </a:endParaRPr>
                    </a:p>
                  </a:txBody>
                  <a:tcPr marL="9525" marR="9525" marT="9525" marB="0" anchor="b"/>
                </a:tc>
                <a:extLst>
                  <a:ext uri="{0D108BD9-81ED-4DB2-BD59-A6C34878D82A}">
                    <a16:rowId xmlns:a16="http://schemas.microsoft.com/office/drawing/2014/main" val="79986689"/>
                  </a:ext>
                </a:extLst>
              </a:tr>
              <a:tr h="469557">
                <a:tc>
                  <a:txBody>
                    <a:bodyPr/>
                    <a:lstStyle/>
                    <a:p>
                      <a:pPr algn="l" fontAlgn="b">
                        <a:buNone/>
                      </a:pPr>
                      <a:r>
                        <a:rPr lang="en-GB" sz="2400" u="none" strike="noStrike" dirty="0">
                          <a:effectLst/>
                          <a:latin typeface="+mn-lt"/>
                        </a:rPr>
                        <a:t># of companies </a:t>
                      </a:r>
                      <a:endParaRPr lang="en-GB" sz="2400" b="1"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2665</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2940</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2879</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8484</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546111596"/>
                  </a:ext>
                </a:extLst>
              </a:tr>
              <a:tr h="469557">
                <a:tc>
                  <a:txBody>
                    <a:bodyPr/>
                    <a:lstStyle/>
                    <a:p>
                      <a:pPr algn="l" fontAlgn="b">
                        <a:buNone/>
                      </a:pPr>
                      <a:r>
                        <a:rPr lang="en-GB" sz="2400" u="none" strike="noStrike">
                          <a:effectLst/>
                          <a:latin typeface="+mn-lt"/>
                        </a:rPr>
                        <a:t># of articles</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1,165,840</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1,399,277</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1,174,754</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3,739,871</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81858849"/>
                  </a:ext>
                </a:extLst>
              </a:tr>
              <a:tr h="469557">
                <a:tc>
                  <a:txBody>
                    <a:bodyPr/>
                    <a:lstStyle/>
                    <a:p>
                      <a:pPr algn="l" fontAlgn="b">
                        <a:buNone/>
                      </a:pPr>
                      <a:r>
                        <a:rPr lang="en-GB" sz="2400" u="none" strike="noStrike" dirty="0">
                          <a:effectLst/>
                          <a:latin typeface="+mn-lt"/>
                        </a:rPr>
                        <a:t># of articles per company</a:t>
                      </a:r>
                      <a:endParaRPr lang="en-GB" sz="2400" b="1"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39262158"/>
                  </a:ext>
                </a:extLst>
              </a:tr>
              <a:tr h="469557">
                <a:tc>
                  <a:txBody>
                    <a:bodyPr/>
                    <a:lstStyle/>
                    <a:p>
                      <a:pPr algn="l" fontAlgn="b">
                        <a:buNone/>
                      </a:pPr>
                      <a:r>
                        <a:rPr lang="en-GB" sz="2400" u="none" strike="noStrike">
                          <a:effectLst/>
                          <a:latin typeface="+mn-lt"/>
                        </a:rPr>
                        <a:t>average</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435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473</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406</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440</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28726761"/>
                  </a:ext>
                </a:extLst>
              </a:tr>
              <a:tr h="469557">
                <a:tc>
                  <a:txBody>
                    <a:bodyPr/>
                    <a:lstStyle/>
                    <a:p>
                      <a:pPr algn="l" fontAlgn="b">
                        <a:buNone/>
                      </a:pPr>
                      <a:r>
                        <a:rPr lang="en-GB" sz="2400" u="none" strike="noStrike">
                          <a:effectLst/>
                          <a:latin typeface="+mn-lt"/>
                        </a:rPr>
                        <a:t>max</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1984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2154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2005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2154</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093617978"/>
                  </a:ext>
                </a:extLst>
              </a:tr>
            </a:tbl>
          </a:graphicData>
        </a:graphic>
      </p:graphicFrame>
      <p:sp>
        <p:nvSpPr>
          <p:cNvPr id="6" name="TextBox 5">
            <a:extLst>
              <a:ext uri="{FF2B5EF4-FFF2-40B4-BE49-F238E27FC236}">
                <a16:creationId xmlns:a16="http://schemas.microsoft.com/office/drawing/2014/main" id="{E971A523-777E-101A-B2C1-3EC2493A8173}"/>
              </a:ext>
            </a:extLst>
          </p:cNvPr>
          <p:cNvSpPr txBox="1"/>
          <p:nvPr/>
        </p:nvSpPr>
        <p:spPr>
          <a:xfrm>
            <a:off x="478772" y="4126700"/>
            <a:ext cx="11062741" cy="2308324"/>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baseline="0" dirty="0"/>
              <a:t>We removed articles shorter than 200 characters and </a:t>
            </a:r>
            <a:r>
              <a:rPr lang="en-GB" b="0" i="0" u="none" strike="noStrike" baseline="0" dirty="0" err="1"/>
              <a:t>thos</a:t>
            </a:r>
            <a:r>
              <a:rPr lang="en-GB" b="0" i="0" u="none" strike="noStrike" baseline="0" dirty="0"/>
              <a:t> with HTML errors, then extracted text content using the Beautiful Soup library3#</a:t>
            </a:r>
          </a:p>
          <a:p>
            <a:pPr marL="285750" indent="-285750">
              <a:buFont typeface="Arial" panose="020B0604020202020204" pitchFamily="34" charset="0"/>
              <a:buChar char="•"/>
            </a:pPr>
            <a:r>
              <a:rPr lang="en-GB" dirty="0"/>
              <a:t>excluded companies with fewer than five collected articles to maintain a robust sample for each entity</a:t>
            </a:r>
          </a:p>
          <a:p>
            <a:pPr marL="285750" indent="-285750">
              <a:buFont typeface="Arial" panose="020B0604020202020204" pitchFamily="34" charset="0"/>
              <a:buChar char="•"/>
            </a:pPr>
            <a:r>
              <a:rPr lang="en-GB" dirty="0"/>
              <a:t>removed extraneous noise, such as links, email addresses, dates, Unicode characters, and newline representations, which are common byproducts of scraping. </a:t>
            </a:r>
          </a:p>
          <a:p>
            <a:pPr marL="285750" indent="-285750">
              <a:buFont typeface="Arial" panose="020B0604020202020204" pitchFamily="34" charset="0"/>
              <a:buChar char="•"/>
            </a:pPr>
            <a:r>
              <a:rPr lang="en-GB" dirty="0"/>
              <a:t>Due to the length limitations of the BERT models we employ, each article was reduced to its title and the first five sentences, ensuring manageable input size while retaining core content</a:t>
            </a:r>
            <a:r>
              <a:rPr lang="en-GB" sz="1100" dirty="0"/>
              <a:t>.</a:t>
            </a:r>
          </a:p>
          <a:p>
            <a:pPr marL="285750" indent="-285750">
              <a:buFont typeface="Arial" panose="020B0604020202020204" pitchFamily="34" charset="0"/>
              <a:buChar char="•"/>
            </a:pPr>
            <a:r>
              <a:rPr lang="en-GB" dirty="0"/>
              <a:t>72% were US sourced</a:t>
            </a:r>
          </a:p>
        </p:txBody>
      </p:sp>
    </p:spTree>
    <p:extLst>
      <p:ext uri="{BB962C8B-B14F-4D97-AF65-F5344CB8AC3E}">
        <p14:creationId xmlns:p14="http://schemas.microsoft.com/office/powerpoint/2010/main" val="386735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B1C-99E5-3831-5B9A-EFE6A5FCF961}"/>
              </a:ext>
            </a:extLst>
          </p:cNvPr>
          <p:cNvSpPr>
            <a:spLocks noGrp="1"/>
          </p:cNvSpPr>
          <p:nvPr>
            <p:ph type="title"/>
          </p:nvPr>
        </p:nvSpPr>
        <p:spPr/>
        <p:txBody>
          <a:bodyPr/>
          <a:lstStyle/>
          <a:p>
            <a:r>
              <a:rPr lang="en-GB" dirty="0"/>
              <a:t>Step 2. Create labelled ESG training data</a:t>
            </a:r>
          </a:p>
        </p:txBody>
      </p:sp>
      <p:sp>
        <p:nvSpPr>
          <p:cNvPr id="3" name="Content Placeholder 2">
            <a:extLst>
              <a:ext uri="{FF2B5EF4-FFF2-40B4-BE49-F238E27FC236}">
                <a16:creationId xmlns:a16="http://schemas.microsoft.com/office/drawing/2014/main" id="{41E8CCA7-4F6B-9C79-50FA-EFA79FD9F96E}"/>
              </a:ext>
            </a:extLst>
          </p:cNvPr>
          <p:cNvSpPr>
            <a:spLocks noGrp="1"/>
          </p:cNvSpPr>
          <p:nvPr>
            <p:ph idx="1"/>
          </p:nvPr>
        </p:nvSpPr>
        <p:spPr/>
        <p:txBody>
          <a:bodyPr>
            <a:normAutofit/>
          </a:bodyPr>
          <a:lstStyle/>
          <a:p>
            <a:r>
              <a:rPr lang="en-GB" dirty="0"/>
              <a:t>1. Pre-label subset of articles by assessing semantic similarities to standard definitions of 3 ESG dimensions, ESG definitions from Corporate Finance Institute (CFI),to guide the labelling. </a:t>
            </a:r>
            <a:r>
              <a:rPr lang="en-GB" dirty="0">
                <a:hlinkClick r:id="rId2"/>
              </a:rPr>
              <a:t>https://corporatefinanceinstitute.com/</a:t>
            </a:r>
            <a:endParaRPr lang="en-GB" dirty="0"/>
          </a:p>
          <a:p>
            <a:pPr lvl="1"/>
            <a:r>
              <a:rPr lang="en-GB" dirty="0"/>
              <a:t>Note : This site no longer exists in this form. No specific definitions available any longer here.</a:t>
            </a:r>
          </a:p>
          <a:p>
            <a:r>
              <a:rPr lang="en-GB" dirty="0"/>
              <a:t>100 articles randomly selected from the GDELT data  in step 1, served as training, validation and testing base for classifier.</a:t>
            </a:r>
          </a:p>
          <a:p>
            <a:r>
              <a:rPr lang="en-GB" dirty="0"/>
              <a:t>create pre-trained text embeddings for these ESG definitions and the news articles using the sentence transformer model </a:t>
            </a:r>
            <a:r>
              <a:rPr lang="en-GB" b="1" dirty="0"/>
              <a:t>’all-distilroberta-v1’ (SBERT</a:t>
            </a:r>
            <a:r>
              <a:rPr lang="en-GB" dirty="0"/>
              <a:t>) from </a:t>
            </a:r>
            <a:r>
              <a:rPr lang="en-GB" b="1" dirty="0" err="1"/>
              <a:t>Huggingface</a:t>
            </a:r>
            <a:r>
              <a:rPr lang="en-GB" b="1" dirty="0"/>
              <a:t> </a:t>
            </a:r>
            <a:r>
              <a:rPr lang="en-GB" dirty="0"/>
              <a:t>(</a:t>
            </a:r>
            <a:r>
              <a:rPr lang="en-GB" dirty="0">
                <a:hlinkClick r:id="rId3"/>
              </a:rPr>
              <a:t>https://huggingface.co/</a:t>
            </a:r>
            <a:endParaRPr lang="en-GB" dirty="0"/>
          </a:p>
          <a:p>
            <a:r>
              <a:rPr lang="en-GB" dirty="0"/>
              <a:t>Pairwise cosine similarity with &gt; 0.1  labelled as relevant</a:t>
            </a:r>
          </a:p>
        </p:txBody>
      </p:sp>
    </p:spTree>
    <p:extLst>
      <p:ext uri="{BB962C8B-B14F-4D97-AF65-F5344CB8AC3E}">
        <p14:creationId xmlns:p14="http://schemas.microsoft.com/office/powerpoint/2010/main" val="54190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B8A-B3C5-364D-AABF-678BF04A5FB6}"/>
              </a:ext>
            </a:extLst>
          </p:cNvPr>
          <p:cNvSpPr>
            <a:spLocks noGrp="1"/>
          </p:cNvSpPr>
          <p:nvPr>
            <p:ph type="title"/>
          </p:nvPr>
        </p:nvSpPr>
        <p:spPr/>
        <p:txBody>
          <a:bodyPr>
            <a:normAutofit/>
          </a:bodyPr>
          <a:lstStyle/>
          <a:p>
            <a:r>
              <a:rPr lang="en-GB" dirty="0"/>
              <a:t>Step 3. Train ESG classifier to predict relevant and non relevant ESG articles </a:t>
            </a:r>
          </a:p>
        </p:txBody>
      </p:sp>
      <p:sp>
        <p:nvSpPr>
          <p:cNvPr id="3" name="Content Placeholder 2">
            <a:extLst>
              <a:ext uri="{FF2B5EF4-FFF2-40B4-BE49-F238E27FC236}">
                <a16:creationId xmlns:a16="http://schemas.microsoft.com/office/drawing/2014/main" id="{1DC5BF10-2BCA-CE8D-7B23-1F0E1C3D0CE4}"/>
              </a:ext>
            </a:extLst>
          </p:cNvPr>
          <p:cNvSpPr>
            <a:spLocks noGrp="1"/>
          </p:cNvSpPr>
          <p:nvPr>
            <p:ph idx="1"/>
          </p:nvPr>
        </p:nvSpPr>
        <p:spPr/>
        <p:txBody>
          <a:bodyPr>
            <a:normAutofit/>
          </a:bodyPr>
          <a:lstStyle/>
          <a:p>
            <a:r>
              <a:rPr lang="en-GB" dirty="0"/>
              <a:t>fine-tune a pre-trained </a:t>
            </a:r>
            <a:r>
              <a:rPr lang="en-GB" b="1" dirty="0" err="1"/>
              <a:t>DistilBERT</a:t>
            </a:r>
            <a:r>
              <a:rPr lang="en-GB" dirty="0"/>
              <a:t> model on this pre-</a:t>
            </a:r>
            <a:r>
              <a:rPr lang="en-GB" dirty="0" err="1"/>
              <a:t>labeled</a:t>
            </a:r>
            <a:r>
              <a:rPr lang="en-GB" dirty="0"/>
              <a:t> dataset to predict labels for the entire corpus</a:t>
            </a:r>
          </a:p>
          <a:p>
            <a:r>
              <a:rPr lang="en-GB" dirty="0"/>
              <a:t>Articles are tokenized with the </a:t>
            </a:r>
            <a:r>
              <a:rPr lang="en-GB" b="1" dirty="0" err="1"/>
              <a:t>DistilBertTokenizer</a:t>
            </a:r>
            <a:r>
              <a:rPr lang="en-GB" b="1" dirty="0"/>
              <a:t> </a:t>
            </a:r>
            <a:r>
              <a:rPr lang="en-GB" dirty="0"/>
              <a:t>from </a:t>
            </a:r>
            <a:r>
              <a:rPr lang="en-GB" b="1" dirty="0" err="1"/>
              <a:t>Huggingface</a:t>
            </a:r>
            <a:r>
              <a:rPr lang="en-GB" dirty="0"/>
              <a:t>, and the tokenized inputs are then fed into </a:t>
            </a:r>
            <a:r>
              <a:rPr lang="en-GB" b="1" dirty="0" err="1"/>
              <a:t>DistilBERT</a:t>
            </a:r>
            <a:r>
              <a:rPr lang="en-GB" b="1" dirty="0"/>
              <a:t>.</a:t>
            </a:r>
          </a:p>
          <a:p>
            <a:r>
              <a:rPr lang="en-GB" dirty="0" err="1"/>
              <a:t>DistilBERT</a:t>
            </a:r>
            <a:r>
              <a:rPr lang="en-GB" dirty="0"/>
              <a:t> classifier is fine-tuned in two stages</a:t>
            </a:r>
          </a:p>
          <a:p>
            <a:pPr lvl="1"/>
            <a:r>
              <a:rPr lang="en-GB" dirty="0"/>
              <a:t>1. customized classification layers are optimized</a:t>
            </a:r>
          </a:p>
          <a:p>
            <a:pPr lvl="1"/>
            <a:r>
              <a:rPr lang="en-GB" dirty="0"/>
              <a:t>2. entire network is fine-tuned using a lower learning rate to ensure stability</a:t>
            </a:r>
          </a:p>
          <a:p>
            <a:r>
              <a:rPr lang="en-GB" dirty="0"/>
              <a:t>Using the trained classifier, we then predict the relevance label for each article</a:t>
            </a:r>
          </a:p>
          <a:p>
            <a:r>
              <a:rPr lang="en-GB" dirty="0"/>
              <a:t>Not bag-of-words/</a:t>
            </a:r>
            <a:r>
              <a:rPr lang="en-GB" dirty="0" err="1"/>
              <a:t>tf</a:t>
            </a:r>
            <a:r>
              <a:rPr lang="en-GB" dirty="0"/>
              <a:t>-IDF/One-Hot/Word2vec… but BERT</a:t>
            </a:r>
          </a:p>
        </p:txBody>
      </p:sp>
    </p:spTree>
    <p:extLst>
      <p:ext uri="{BB962C8B-B14F-4D97-AF65-F5344CB8AC3E}">
        <p14:creationId xmlns:p14="http://schemas.microsoft.com/office/powerpoint/2010/main" val="1152834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AF63-662E-F005-7E63-1F1949BA7002}"/>
              </a:ext>
            </a:extLst>
          </p:cNvPr>
          <p:cNvSpPr>
            <a:spLocks noGrp="1"/>
          </p:cNvSpPr>
          <p:nvPr>
            <p:ph type="title"/>
          </p:nvPr>
        </p:nvSpPr>
        <p:spPr/>
        <p:txBody>
          <a:bodyPr>
            <a:normAutofit fontScale="90000"/>
          </a:bodyPr>
          <a:lstStyle/>
          <a:p>
            <a:r>
              <a:rPr lang="en-GB" dirty="0"/>
              <a:t>Step 4. generate the “</a:t>
            </a:r>
            <a:r>
              <a:rPr lang="en-GB" b="1" dirty="0"/>
              <a:t>Article2ESG</a:t>
            </a:r>
            <a:r>
              <a:rPr lang="en-GB" dirty="0"/>
              <a:t> </a:t>
            </a:r>
            <a:r>
              <a:rPr lang="en-GB" b="1" dirty="0"/>
              <a:t>Relevance</a:t>
            </a:r>
            <a:r>
              <a:rPr lang="en-GB" dirty="0"/>
              <a:t>” time series – filter all articles in the news articles corpus</a:t>
            </a:r>
          </a:p>
        </p:txBody>
      </p:sp>
      <p:sp>
        <p:nvSpPr>
          <p:cNvPr id="3" name="Content Placeholder 2">
            <a:extLst>
              <a:ext uri="{FF2B5EF4-FFF2-40B4-BE49-F238E27FC236}">
                <a16:creationId xmlns:a16="http://schemas.microsoft.com/office/drawing/2014/main" id="{B3756F40-A0A4-F2B9-1683-6A24E54AA18B}"/>
              </a:ext>
            </a:extLst>
          </p:cNvPr>
          <p:cNvSpPr>
            <a:spLocks noGrp="1"/>
          </p:cNvSpPr>
          <p:nvPr>
            <p:ph idx="1"/>
          </p:nvPr>
        </p:nvSpPr>
        <p:spPr/>
        <p:txBody>
          <a:bodyPr>
            <a:normAutofit/>
          </a:bodyPr>
          <a:lstStyle/>
          <a:p>
            <a:r>
              <a:rPr lang="en-GB" dirty="0"/>
              <a:t>Reflects the monthly relevance of articles to ESG topics</a:t>
            </a:r>
          </a:p>
          <a:p>
            <a:r>
              <a:rPr lang="en-GB" dirty="0"/>
              <a:t>group the articles by month and by company</a:t>
            </a:r>
          </a:p>
          <a:p>
            <a:r>
              <a:rPr lang="en-GB" dirty="0"/>
              <a:t>The monthly relevance value, 𝑟𝑒𝑙 −𝑛𝑜𝑖𝑠𝑒𝑚, is calculated according to the following formula:</a:t>
            </a:r>
          </a:p>
          <a:p>
            <a:pPr marL="0" indent="0">
              <a:buNone/>
            </a:pPr>
            <a:r>
              <a:rPr lang="en-GB" dirty="0"/>
              <a:t>	𝑟𝑒𝑙 − 𝑛𝑜𝑖𝑠𝑒𝑚 = (𝑅𝑒𝑙𝑒𝑣𝑎𝑛𝑡𝑚/𝑁𝑚) − (𝑁𝑜𝑖𝑠𝑒𝑚/𝑁𝑚)</a:t>
            </a:r>
          </a:p>
          <a:p>
            <a:r>
              <a:rPr lang="en-GB" dirty="0"/>
              <a:t>The resulting values range between -1 (indicating only noise articles) and 1 (indicating only relevant articles). Thus, for each company,</a:t>
            </a:r>
          </a:p>
          <a:p>
            <a:r>
              <a:rPr lang="en-GB" dirty="0"/>
              <a:t>the </a:t>
            </a:r>
            <a:r>
              <a:rPr lang="en-GB" b="1" dirty="0"/>
              <a:t>Article2ESG</a:t>
            </a:r>
            <a:r>
              <a:rPr lang="en-GB" dirty="0"/>
              <a:t> Relevance time series comprises 12 𝑟𝑒𝑙−𝑛𝑜𝑖𝑠𝑒𝑚 values, one for each month of the </a:t>
            </a:r>
            <a:r>
              <a:rPr lang="en-GB" dirty="0" err="1"/>
              <a:t>analyzed</a:t>
            </a:r>
            <a:r>
              <a:rPr lang="en-GB" dirty="0"/>
              <a:t> year.</a:t>
            </a:r>
          </a:p>
        </p:txBody>
      </p:sp>
    </p:spTree>
    <p:extLst>
      <p:ext uri="{BB962C8B-B14F-4D97-AF65-F5344CB8AC3E}">
        <p14:creationId xmlns:p14="http://schemas.microsoft.com/office/powerpoint/2010/main" val="383681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7A55-3A06-44DB-52E6-0C8672061035}"/>
              </a:ext>
            </a:extLst>
          </p:cNvPr>
          <p:cNvSpPr>
            <a:spLocks noGrp="1"/>
          </p:cNvSpPr>
          <p:nvPr>
            <p:ph type="title"/>
          </p:nvPr>
        </p:nvSpPr>
        <p:spPr/>
        <p:txBody>
          <a:bodyPr>
            <a:normAutofit fontScale="90000"/>
          </a:bodyPr>
          <a:lstStyle/>
          <a:p>
            <a:r>
              <a:rPr lang="en-GB" dirty="0"/>
              <a:t>Step 5 . Perform </a:t>
            </a:r>
            <a:r>
              <a:rPr lang="en-GB" b="1" dirty="0"/>
              <a:t>Sentiment Analysis </a:t>
            </a:r>
            <a:r>
              <a:rPr lang="en-GB" dirty="0"/>
              <a:t>to relevant articles to crate </a:t>
            </a:r>
            <a:r>
              <a:rPr lang="en-GB" b="1" dirty="0"/>
              <a:t>sentiment scores</a:t>
            </a:r>
            <a:r>
              <a:rPr lang="en-GB" dirty="0"/>
              <a:t>.</a:t>
            </a:r>
          </a:p>
        </p:txBody>
      </p:sp>
      <p:sp>
        <p:nvSpPr>
          <p:cNvPr id="3" name="Content Placeholder 2">
            <a:extLst>
              <a:ext uri="{FF2B5EF4-FFF2-40B4-BE49-F238E27FC236}">
                <a16:creationId xmlns:a16="http://schemas.microsoft.com/office/drawing/2014/main" id="{5EB442C2-BFD7-63A0-D5F6-D282B2BCC2F1}"/>
              </a:ext>
            </a:extLst>
          </p:cNvPr>
          <p:cNvSpPr>
            <a:spLocks noGrp="1"/>
          </p:cNvSpPr>
          <p:nvPr>
            <p:ph idx="1"/>
          </p:nvPr>
        </p:nvSpPr>
        <p:spPr/>
        <p:txBody>
          <a:bodyPr>
            <a:normAutofit/>
          </a:bodyPr>
          <a:lstStyle/>
          <a:p>
            <a:r>
              <a:rPr lang="en-GB" dirty="0"/>
              <a:t>To compute the sentiment time </a:t>
            </a:r>
            <a:r>
              <a:rPr lang="en-GB" dirty="0" err="1"/>
              <a:t>series,we</a:t>
            </a:r>
            <a:r>
              <a:rPr lang="en-GB" dirty="0"/>
              <a:t> group articles by company and month and calculate a monthly sentiment ratio using the employ the </a:t>
            </a:r>
            <a:r>
              <a:rPr lang="en-GB" b="1" dirty="0" err="1"/>
              <a:t>SieBERT</a:t>
            </a:r>
            <a:r>
              <a:rPr lang="en-GB" dirty="0"/>
              <a:t> model</a:t>
            </a:r>
          </a:p>
          <a:p>
            <a:r>
              <a:rPr lang="en-GB" dirty="0"/>
              <a:t>model’s output labels are used to generate a monthly article sentiment time-series for each company, calculated separately for ESG-relevant and irrelevant articles.</a:t>
            </a:r>
          </a:p>
          <a:p>
            <a:pPr marL="0" indent="0">
              <a:buNone/>
            </a:pPr>
            <a:r>
              <a:rPr lang="en-GB" dirty="0"/>
              <a:t>𝑝𝑜𝑠 − 𝑛𝑒𝑔𝑚 = (𝑃𝑜𝑠𝑖𝑡𝑖𝑣𝑒𝑚/𝑁𝑚) − (𝑁𝑒𝑔𝑎𝑡𝑖𝑣𝑒𝑚/𝑁𝑚)</a:t>
            </a:r>
          </a:p>
          <a:p>
            <a:r>
              <a:rPr lang="en-GB" dirty="0"/>
              <a:t>The final Article Sentiment time series is constructed by concatenating these monthly values, resulting in a time series of 12 sentiment values per company for the </a:t>
            </a:r>
            <a:r>
              <a:rPr lang="en-GB" dirty="0" err="1"/>
              <a:t>analyzed</a:t>
            </a:r>
            <a:r>
              <a:rPr lang="en-GB" dirty="0"/>
              <a:t> year.</a:t>
            </a:r>
          </a:p>
        </p:txBody>
      </p:sp>
    </p:spTree>
    <p:extLst>
      <p:ext uri="{BB962C8B-B14F-4D97-AF65-F5344CB8AC3E}">
        <p14:creationId xmlns:p14="http://schemas.microsoft.com/office/powerpoint/2010/main" val="213359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D479-708E-6B2B-8CC9-2C8741D37558}"/>
              </a:ext>
            </a:extLst>
          </p:cNvPr>
          <p:cNvSpPr>
            <a:spLocks noGrp="1"/>
          </p:cNvSpPr>
          <p:nvPr>
            <p:ph type="title"/>
          </p:nvPr>
        </p:nvSpPr>
        <p:spPr>
          <a:xfrm>
            <a:off x="838200" y="541866"/>
            <a:ext cx="10515600" cy="1325563"/>
          </a:xfrm>
        </p:spPr>
        <p:txBody>
          <a:bodyPr>
            <a:normAutofit fontScale="90000"/>
          </a:bodyPr>
          <a:lstStyle/>
          <a:p>
            <a:r>
              <a:rPr lang="en-GB" dirty="0"/>
              <a:t>Step 6. </a:t>
            </a:r>
            <a:r>
              <a:rPr lang="en-GB" b="1" dirty="0"/>
              <a:t>Semantic Analysis </a:t>
            </a:r>
            <a:r>
              <a:rPr lang="en-GB" dirty="0"/>
              <a:t>(what the articles are about) – each article becomes a semantic vector representations</a:t>
            </a:r>
          </a:p>
        </p:txBody>
      </p:sp>
      <p:sp>
        <p:nvSpPr>
          <p:cNvPr id="3" name="Content Placeholder 2">
            <a:extLst>
              <a:ext uri="{FF2B5EF4-FFF2-40B4-BE49-F238E27FC236}">
                <a16:creationId xmlns:a16="http://schemas.microsoft.com/office/drawing/2014/main" id="{095CC4E2-234F-500B-A2D2-4A4B1E6306DF}"/>
              </a:ext>
            </a:extLst>
          </p:cNvPr>
          <p:cNvSpPr>
            <a:spLocks noGrp="1"/>
          </p:cNvSpPr>
          <p:nvPr>
            <p:ph idx="1"/>
          </p:nvPr>
        </p:nvSpPr>
        <p:spPr>
          <a:xfrm>
            <a:off x="622300" y="2475970"/>
            <a:ext cx="10947400" cy="2756430"/>
          </a:xfrm>
        </p:spPr>
        <p:txBody>
          <a:bodyPr>
            <a:noAutofit/>
          </a:bodyPr>
          <a:lstStyle/>
          <a:p>
            <a:r>
              <a:rPr lang="en-GB" sz="2400" dirty="0"/>
              <a:t>Vectorise each article using </a:t>
            </a:r>
            <a:r>
              <a:rPr lang="en-GB" sz="2400" b="1" dirty="0" err="1"/>
              <a:t>DistilBERT</a:t>
            </a:r>
            <a:r>
              <a:rPr lang="en-GB" sz="2400" b="1" dirty="0"/>
              <a:t> </a:t>
            </a:r>
          </a:p>
          <a:p>
            <a:r>
              <a:rPr lang="en-GB" sz="2400" dirty="0"/>
              <a:t>groups articles by content, enabling us to track the evolution of key ESG-related topics discussed in the news over time</a:t>
            </a:r>
          </a:p>
          <a:p>
            <a:r>
              <a:rPr lang="en-GB" sz="2400" dirty="0"/>
              <a:t>fine-tuning the </a:t>
            </a:r>
            <a:r>
              <a:rPr lang="en-GB" sz="2400" dirty="0" err="1"/>
              <a:t>DistilBERT</a:t>
            </a:r>
            <a:r>
              <a:rPr lang="en-GB" sz="2400" dirty="0"/>
              <a:t> model for the task of ESG classification to create task-specific embeddings for the articles. These embeddings serve as input for the k-means clustering algorithm</a:t>
            </a:r>
          </a:p>
        </p:txBody>
      </p:sp>
    </p:spTree>
    <p:extLst>
      <p:ext uri="{BB962C8B-B14F-4D97-AF65-F5344CB8AC3E}">
        <p14:creationId xmlns:p14="http://schemas.microsoft.com/office/powerpoint/2010/main" val="216872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866E-0F0D-A82D-145B-14048CFD05A5}"/>
              </a:ext>
            </a:extLst>
          </p:cNvPr>
          <p:cNvSpPr>
            <a:spLocks noGrp="1"/>
          </p:cNvSpPr>
          <p:nvPr>
            <p:ph type="title"/>
          </p:nvPr>
        </p:nvSpPr>
        <p:spPr/>
        <p:txBody>
          <a:bodyPr/>
          <a:lstStyle/>
          <a:p>
            <a:r>
              <a:rPr lang="en-GB" dirty="0"/>
              <a:t>Step 7 . Cluster articles into ESG topics</a:t>
            </a:r>
          </a:p>
        </p:txBody>
      </p:sp>
      <p:sp>
        <p:nvSpPr>
          <p:cNvPr id="3" name="Content Placeholder 2">
            <a:extLst>
              <a:ext uri="{FF2B5EF4-FFF2-40B4-BE49-F238E27FC236}">
                <a16:creationId xmlns:a16="http://schemas.microsoft.com/office/drawing/2014/main" id="{B6B2CD69-0F86-AEB8-38CB-8F10D5BC1342}"/>
              </a:ext>
            </a:extLst>
          </p:cNvPr>
          <p:cNvSpPr>
            <a:spLocks noGrp="1"/>
          </p:cNvSpPr>
          <p:nvPr>
            <p:ph idx="1"/>
          </p:nvPr>
        </p:nvSpPr>
        <p:spPr/>
        <p:txBody>
          <a:bodyPr>
            <a:normAutofit/>
          </a:bodyPr>
          <a:lstStyle/>
          <a:p>
            <a:r>
              <a:rPr lang="en-GB" dirty="0"/>
              <a:t>The results of this semantic analysis are integrated into the final ESG rating prediction model as time series data, with each time series corresponding to one of the six clusters. (k=6 –used elbow method)</a:t>
            </a:r>
          </a:p>
          <a:p>
            <a:r>
              <a:rPr lang="en-GB" dirty="0"/>
              <a:t>articles are grouped by cluster to identify the total set of articles within each cluster. Then, within each cluster, articles are grouped by company to quantify the overall topic representation for each company.</a:t>
            </a:r>
          </a:p>
          <a:p>
            <a:r>
              <a:rPr lang="en-GB" dirty="0"/>
              <a:t>The resulting 12 monthly values per company and cluster are concatenated, producing 6 semantic time series for each company. These time series capture the monthly prominence of each topic cluster, showing how dominant specific ESG topics are for each company over time.</a:t>
            </a:r>
          </a:p>
          <a:p>
            <a:endParaRPr lang="en-GB" dirty="0"/>
          </a:p>
        </p:txBody>
      </p:sp>
    </p:spTree>
    <p:extLst>
      <p:ext uri="{BB962C8B-B14F-4D97-AF65-F5344CB8AC3E}">
        <p14:creationId xmlns:p14="http://schemas.microsoft.com/office/powerpoint/2010/main" val="591852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8E0D9-E62F-8A24-2EDC-03EF53483007}"/>
              </a:ext>
            </a:extLst>
          </p:cNvPr>
          <p:cNvSpPr>
            <a:spLocks noGrp="1"/>
          </p:cNvSpPr>
          <p:nvPr>
            <p:ph type="title"/>
          </p:nvPr>
        </p:nvSpPr>
        <p:spPr/>
        <p:txBody>
          <a:bodyPr>
            <a:normAutofit/>
          </a:bodyPr>
          <a:lstStyle/>
          <a:p>
            <a:r>
              <a:rPr lang="en-GB" dirty="0"/>
              <a:t>Step 8. Create the multi variate time series feature sets</a:t>
            </a:r>
          </a:p>
        </p:txBody>
      </p:sp>
      <p:sp>
        <p:nvSpPr>
          <p:cNvPr id="3" name="Content Placeholder 2">
            <a:extLst>
              <a:ext uri="{FF2B5EF4-FFF2-40B4-BE49-F238E27FC236}">
                <a16:creationId xmlns:a16="http://schemas.microsoft.com/office/drawing/2014/main" id="{62A7F908-8A20-D150-7E6D-C83930E9480D}"/>
              </a:ext>
            </a:extLst>
          </p:cNvPr>
          <p:cNvSpPr>
            <a:spLocks noGrp="1"/>
          </p:cNvSpPr>
          <p:nvPr>
            <p:ph idx="1"/>
          </p:nvPr>
        </p:nvSpPr>
        <p:spPr/>
        <p:txBody>
          <a:bodyPr/>
          <a:lstStyle/>
          <a:p>
            <a:r>
              <a:rPr lang="en-GB" dirty="0"/>
              <a:t>Aggregate the article </a:t>
            </a:r>
            <a:r>
              <a:rPr lang="en-GB" dirty="0" err="1"/>
              <a:t>conts</a:t>
            </a:r>
            <a:r>
              <a:rPr lang="en-GB" dirty="0"/>
              <a:t> and sentiment per cluster, per company per month</a:t>
            </a:r>
          </a:p>
          <a:p>
            <a:r>
              <a:rPr lang="en-GB" dirty="0"/>
              <a:t>Creating multiple time series features for each firm</a:t>
            </a:r>
          </a:p>
          <a:p>
            <a:r>
              <a:rPr lang="en-GB" dirty="0"/>
              <a:t>Before feeding the data into the model, we standardize the time series using standard scaling (i.e. subtracting the mean and dividing by the standard deviation).</a:t>
            </a:r>
          </a:p>
          <a:p>
            <a:endParaRPr lang="en-GB" dirty="0"/>
          </a:p>
        </p:txBody>
      </p:sp>
    </p:spTree>
    <p:extLst>
      <p:ext uri="{BB962C8B-B14F-4D97-AF65-F5344CB8AC3E}">
        <p14:creationId xmlns:p14="http://schemas.microsoft.com/office/powerpoint/2010/main" val="74767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4D9-1CDA-9297-6746-5276C16DD77F}"/>
              </a:ext>
            </a:extLst>
          </p:cNvPr>
          <p:cNvSpPr>
            <a:spLocks noGrp="1"/>
          </p:cNvSpPr>
          <p:nvPr>
            <p:ph type="title"/>
          </p:nvPr>
        </p:nvSpPr>
        <p:spPr>
          <a:xfrm>
            <a:off x="592667" y="62970"/>
            <a:ext cx="10515600" cy="1325563"/>
          </a:xfrm>
        </p:spPr>
        <p:txBody>
          <a:bodyPr/>
          <a:lstStyle/>
          <a:p>
            <a:r>
              <a:rPr lang="en-GB" dirty="0"/>
              <a:t>Step 9. Train the deep learning models to generate ESG ratings on the time series data</a:t>
            </a:r>
          </a:p>
        </p:txBody>
      </p:sp>
      <p:sp>
        <p:nvSpPr>
          <p:cNvPr id="3" name="Content Placeholder 2">
            <a:extLst>
              <a:ext uri="{FF2B5EF4-FFF2-40B4-BE49-F238E27FC236}">
                <a16:creationId xmlns:a16="http://schemas.microsoft.com/office/drawing/2014/main" id="{113E3136-1EE8-0E51-6A25-D0565246BC37}"/>
              </a:ext>
            </a:extLst>
          </p:cNvPr>
          <p:cNvSpPr>
            <a:spLocks noGrp="1"/>
          </p:cNvSpPr>
          <p:nvPr>
            <p:ph idx="1"/>
          </p:nvPr>
        </p:nvSpPr>
        <p:spPr>
          <a:xfrm>
            <a:off x="414867" y="1388533"/>
            <a:ext cx="11362266" cy="5283200"/>
          </a:xfrm>
        </p:spPr>
        <p:txBody>
          <a:bodyPr>
            <a:normAutofit/>
          </a:bodyPr>
          <a:lstStyle/>
          <a:p>
            <a:r>
              <a:rPr lang="en-GB" dirty="0"/>
              <a:t>Used </a:t>
            </a:r>
            <a:r>
              <a:rPr lang="en-GB" b="1" dirty="0"/>
              <a:t>four </a:t>
            </a:r>
            <a:r>
              <a:rPr lang="en-GB" dirty="0"/>
              <a:t>models for generating ESG ratings based on the prepared time series data: </a:t>
            </a:r>
          </a:p>
          <a:p>
            <a:pPr lvl="1"/>
            <a:r>
              <a:rPr lang="en-GB" dirty="0"/>
              <a:t> CNN-based approaches x2 </a:t>
            </a:r>
          </a:p>
          <a:p>
            <a:pPr lvl="2"/>
            <a:r>
              <a:rPr lang="en-GB" dirty="0"/>
              <a:t>Basic CNN – </a:t>
            </a:r>
          </a:p>
          <a:p>
            <a:pPr lvl="3"/>
            <a:r>
              <a:rPr lang="en-GB" dirty="0"/>
              <a:t>The nine constructed input time series for each of the 12 months—specifically, the Article2ESG Relevance, Article Sentiment (2 time series), and Article Semantic time series (one for each of the 6 clusters)—form the model input as a (9 x 12) matrix.</a:t>
            </a:r>
          </a:p>
          <a:p>
            <a:pPr lvl="3"/>
            <a:r>
              <a:rPr lang="en-GB" dirty="0"/>
              <a:t>Uses 1D convolutional layer /  1D max pooling / </a:t>
            </a:r>
            <a:r>
              <a:rPr lang="en-GB" dirty="0" err="1"/>
              <a:t>ReLu</a:t>
            </a:r>
            <a:r>
              <a:rPr lang="en-GB" dirty="0"/>
              <a:t> and </a:t>
            </a:r>
            <a:r>
              <a:rPr lang="en-GB" dirty="0" err="1"/>
              <a:t>softmax</a:t>
            </a:r>
            <a:r>
              <a:rPr lang="en-GB" dirty="0"/>
              <a:t> function probability of each class )</a:t>
            </a:r>
          </a:p>
          <a:p>
            <a:pPr lvl="2"/>
            <a:r>
              <a:rPr lang="en-GB" dirty="0"/>
              <a:t>Deeper model</a:t>
            </a:r>
          </a:p>
          <a:p>
            <a:pPr lvl="3"/>
            <a:r>
              <a:rPr lang="en-GB" dirty="0"/>
              <a:t>A </a:t>
            </a:r>
            <a:r>
              <a:rPr lang="en-GB" dirty="0" err="1"/>
              <a:t>comvilution</a:t>
            </a:r>
            <a:r>
              <a:rPr lang="en-GB" dirty="0"/>
              <a:t> layer / batch normalization layer / a </a:t>
            </a:r>
            <a:r>
              <a:rPr lang="en-GB" dirty="0" err="1"/>
              <a:t>ReLU</a:t>
            </a:r>
            <a:r>
              <a:rPr lang="en-GB" dirty="0"/>
              <a:t> activation / global max pooling</a:t>
            </a:r>
          </a:p>
          <a:p>
            <a:pPr lvl="1"/>
            <a:r>
              <a:rPr lang="en-GB" dirty="0"/>
              <a:t>Transformer-based approaches x2 </a:t>
            </a:r>
          </a:p>
          <a:p>
            <a:pPr lvl="2"/>
            <a:r>
              <a:rPr lang="en-GB" dirty="0"/>
              <a:t>a basic model integrating CNN with </a:t>
            </a:r>
          </a:p>
          <a:p>
            <a:pPr lvl="3"/>
            <a:r>
              <a:rPr lang="en-GB" dirty="0"/>
              <a:t>a) </a:t>
            </a:r>
            <a:r>
              <a:rPr lang="en-GB" b="1" u="sng" dirty="0"/>
              <a:t>single Transformer layer, </a:t>
            </a:r>
            <a:r>
              <a:rPr lang="en-GB" dirty="0"/>
              <a:t>and </a:t>
            </a:r>
          </a:p>
          <a:p>
            <a:pPr lvl="3"/>
            <a:r>
              <a:rPr lang="en-GB" dirty="0"/>
              <a:t>b) a deeper model that combines CNN with a </a:t>
            </a:r>
            <a:r>
              <a:rPr lang="en-GB" b="1" u="sng" dirty="0"/>
              <a:t>multi-layer Transformer encoder.</a:t>
            </a:r>
          </a:p>
          <a:p>
            <a:r>
              <a:rPr lang="en-GB" dirty="0"/>
              <a:t>Regression and classification configurations used</a:t>
            </a:r>
          </a:p>
          <a:p>
            <a:r>
              <a:rPr lang="en-GB" dirty="0"/>
              <a:t>Uses Deep Learning methodologies 1D convolution, time –series dimension, </a:t>
            </a:r>
            <a:r>
              <a:rPr lang="en-GB" dirty="0" err="1"/>
              <a:t>ReLU</a:t>
            </a:r>
            <a:r>
              <a:rPr lang="en-GB" dirty="0"/>
              <a:t> to introduce non-linearity and </a:t>
            </a:r>
            <a:r>
              <a:rPr lang="en-GB" dirty="0" err="1"/>
              <a:t>softmax</a:t>
            </a:r>
            <a:r>
              <a:rPr lang="en-GB" dirty="0"/>
              <a:t> to convert outputs into probabilities</a:t>
            </a:r>
          </a:p>
          <a:p>
            <a:endParaRPr lang="en-GB" dirty="0"/>
          </a:p>
          <a:p>
            <a:endParaRPr lang="en-GB" dirty="0"/>
          </a:p>
        </p:txBody>
      </p:sp>
    </p:spTree>
    <p:extLst>
      <p:ext uri="{BB962C8B-B14F-4D97-AF65-F5344CB8AC3E}">
        <p14:creationId xmlns:p14="http://schemas.microsoft.com/office/powerpoint/2010/main" val="3311036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D322-F179-BE5A-961A-0DDDD454E1E2}"/>
              </a:ext>
            </a:extLst>
          </p:cNvPr>
          <p:cNvSpPr>
            <a:spLocks noGrp="1"/>
          </p:cNvSpPr>
          <p:nvPr>
            <p:ph type="title"/>
          </p:nvPr>
        </p:nvSpPr>
        <p:spPr>
          <a:xfrm>
            <a:off x="495299" y="280459"/>
            <a:ext cx="11201401" cy="1325563"/>
          </a:xfrm>
        </p:spPr>
        <p:txBody>
          <a:bodyPr/>
          <a:lstStyle/>
          <a:p>
            <a:r>
              <a:rPr lang="en-GB" dirty="0"/>
              <a:t>Step 9. CNN - basic convolutional neural network (CNN)</a:t>
            </a:r>
          </a:p>
        </p:txBody>
      </p:sp>
      <p:pic>
        <p:nvPicPr>
          <p:cNvPr id="5" name="Content Placeholder 4">
            <a:extLst>
              <a:ext uri="{FF2B5EF4-FFF2-40B4-BE49-F238E27FC236}">
                <a16:creationId xmlns:a16="http://schemas.microsoft.com/office/drawing/2014/main" id="{FB70DFA3-6EEE-BFBD-6AE2-3ABA0C6A2283}"/>
              </a:ext>
            </a:extLst>
          </p:cNvPr>
          <p:cNvPicPr>
            <a:picLocks noGrp="1" noChangeAspect="1"/>
          </p:cNvPicPr>
          <p:nvPr>
            <p:ph idx="1"/>
          </p:nvPr>
        </p:nvPicPr>
        <p:blipFill>
          <a:blip r:embed="rId2"/>
          <a:stretch>
            <a:fillRect/>
          </a:stretch>
        </p:blipFill>
        <p:spPr>
          <a:xfrm>
            <a:off x="3202637" y="3378860"/>
            <a:ext cx="3546764" cy="1444892"/>
          </a:xfrm>
          <a:prstGeom prst="rect">
            <a:avLst/>
          </a:prstGeom>
        </p:spPr>
      </p:pic>
    </p:spTree>
    <p:extLst>
      <p:ext uri="{BB962C8B-B14F-4D97-AF65-F5344CB8AC3E}">
        <p14:creationId xmlns:p14="http://schemas.microsoft.com/office/powerpoint/2010/main" val="3296124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D534-AE11-B0A5-B704-1EDC5EB389F7}"/>
              </a:ext>
            </a:extLst>
          </p:cNvPr>
          <p:cNvSpPr>
            <a:spLocks noGrp="1"/>
          </p:cNvSpPr>
          <p:nvPr>
            <p:ph type="title"/>
          </p:nvPr>
        </p:nvSpPr>
        <p:spPr/>
        <p:txBody>
          <a:bodyPr/>
          <a:lstStyle/>
          <a:p>
            <a:r>
              <a:rPr lang="en-GB" dirty="0"/>
              <a:t>Step 9. CNN – Deeper Neural Network model</a:t>
            </a:r>
          </a:p>
        </p:txBody>
      </p:sp>
      <p:pic>
        <p:nvPicPr>
          <p:cNvPr id="5" name="Content Placeholder 4">
            <a:extLst>
              <a:ext uri="{FF2B5EF4-FFF2-40B4-BE49-F238E27FC236}">
                <a16:creationId xmlns:a16="http://schemas.microsoft.com/office/drawing/2014/main" id="{92CF5AA8-90E3-FAD9-D735-98311486796C}"/>
              </a:ext>
            </a:extLst>
          </p:cNvPr>
          <p:cNvPicPr>
            <a:picLocks noGrp="1" noChangeAspect="1"/>
          </p:cNvPicPr>
          <p:nvPr>
            <p:ph idx="1"/>
          </p:nvPr>
        </p:nvPicPr>
        <p:blipFill>
          <a:blip r:embed="rId2"/>
          <a:stretch>
            <a:fillRect/>
          </a:stretch>
        </p:blipFill>
        <p:spPr>
          <a:xfrm>
            <a:off x="2648455" y="3382351"/>
            <a:ext cx="4655127" cy="1437911"/>
          </a:xfrm>
          <a:prstGeom prst="rect">
            <a:avLst/>
          </a:prstGeom>
        </p:spPr>
      </p:pic>
    </p:spTree>
    <p:extLst>
      <p:ext uri="{BB962C8B-B14F-4D97-AF65-F5344CB8AC3E}">
        <p14:creationId xmlns:p14="http://schemas.microsoft.com/office/powerpoint/2010/main" val="76662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EB3C-86F8-B90C-D394-1D2CAE0F3726}"/>
              </a:ext>
            </a:extLst>
          </p:cNvPr>
          <p:cNvSpPr>
            <a:spLocks noGrp="1"/>
          </p:cNvSpPr>
          <p:nvPr>
            <p:ph type="title"/>
          </p:nvPr>
        </p:nvSpPr>
        <p:spPr/>
        <p:txBody>
          <a:bodyPr/>
          <a:lstStyle/>
          <a:p>
            <a:r>
              <a:rPr lang="en-GB" dirty="0"/>
              <a:t>Step 9. CNN + Transformer Model</a:t>
            </a:r>
          </a:p>
        </p:txBody>
      </p:sp>
      <p:pic>
        <p:nvPicPr>
          <p:cNvPr id="5" name="Content Placeholder 4">
            <a:extLst>
              <a:ext uri="{FF2B5EF4-FFF2-40B4-BE49-F238E27FC236}">
                <a16:creationId xmlns:a16="http://schemas.microsoft.com/office/drawing/2014/main" id="{59AE03FA-A3C2-9DC8-007D-94E9C1D6E734}"/>
              </a:ext>
            </a:extLst>
          </p:cNvPr>
          <p:cNvPicPr>
            <a:picLocks noGrp="1" noChangeAspect="1"/>
          </p:cNvPicPr>
          <p:nvPr>
            <p:ph idx="1"/>
          </p:nvPr>
        </p:nvPicPr>
        <p:blipFill>
          <a:blip r:embed="rId2"/>
          <a:stretch>
            <a:fillRect/>
          </a:stretch>
        </p:blipFill>
        <p:spPr>
          <a:xfrm>
            <a:off x="156280" y="2184400"/>
            <a:ext cx="11680497" cy="3572933"/>
          </a:xfrm>
          <a:prstGeom prst="rect">
            <a:avLst/>
          </a:prstGeom>
        </p:spPr>
      </p:pic>
    </p:spTree>
    <p:extLst>
      <p:ext uri="{BB962C8B-B14F-4D97-AF65-F5344CB8AC3E}">
        <p14:creationId xmlns:p14="http://schemas.microsoft.com/office/powerpoint/2010/main" val="3210011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429A-41EA-EBCC-FA63-F8D499C3455D}"/>
              </a:ext>
            </a:extLst>
          </p:cNvPr>
          <p:cNvSpPr>
            <a:spLocks noGrp="1"/>
          </p:cNvSpPr>
          <p:nvPr>
            <p:ph type="title"/>
          </p:nvPr>
        </p:nvSpPr>
        <p:spPr/>
        <p:txBody>
          <a:bodyPr/>
          <a:lstStyle/>
          <a:p>
            <a:r>
              <a:rPr lang="en-GB" dirty="0"/>
              <a:t>Step 10. Evaluation of ESG Rating</a:t>
            </a:r>
          </a:p>
        </p:txBody>
      </p:sp>
      <p:sp>
        <p:nvSpPr>
          <p:cNvPr id="3" name="Content Placeholder 2">
            <a:extLst>
              <a:ext uri="{FF2B5EF4-FFF2-40B4-BE49-F238E27FC236}">
                <a16:creationId xmlns:a16="http://schemas.microsoft.com/office/drawing/2014/main" id="{011FE01C-DC4E-698B-5075-480DDFDAFB3B}"/>
              </a:ext>
            </a:extLst>
          </p:cNvPr>
          <p:cNvSpPr>
            <a:spLocks noGrp="1"/>
          </p:cNvSpPr>
          <p:nvPr>
            <p:ph idx="1"/>
          </p:nvPr>
        </p:nvSpPr>
        <p:spPr/>
        <p:txBody>
          <a:bodyPr>
            <a:normAutofit/>
          </a:bodyPr>
          <a:lstStyle/>
          <a:p>
            <a:r>
              <a:rPr lang="en-GB" dirty="0"/>
              <a:t>Values outcome from models </a:t>
            </a:r>
          </a:p>
          <a:p>
            <a:pPr lvl="1"/>
            <a:r>
              <a:rPr lang="en-GB" b="1" dirty="0"/>
              <a:t>Classification</a:t>
            </a:r>
          </a:p>
          <a:p>
            <a:pPr lvl="2"/>
            <a:r>
              <a:rPr lang="en-GB" b="1" u="sng" dirty="0"/>
              <a:t>Accuracy </a:t>
            </a:r>
            <a:r>
              <a:rPr lang="en-GB" dirty="0"/>
              <a:t>= probability accuracy</a:t>
            </a:r>
          </a:p>
          <a:p>
            <a:pPr lvl="1"/>
            <a:r>
              <a:rPr lang="en-GB" b="1" dirty="0"/>
              <a:t>Regression</a:t>
            </a:r>
          </a:p>
          <a:p>
            <a:pPr lvl="2"/>
            <a:r>
              <a:rPr lang="en-GB" b="1" u="sng" dirty="0"/>
              <a:t>Mean Absolute Percentage Error (MAPE) </a:t>
            </a:r>
            <a:r>
              <a:rPr lang="en-GB" dirty="0"/>
              <a:t>= </a:t>
            </a:r>
            <a:r>
              <a:rPr lang="en-GB" dirty="0" err="1"/>
              <a:t>avg</a:t>
            </a:r>
            <a:r>
              <a:rPr lang="en-GB" dirty="0"/>
              <a:t> % deviation between predicted and actual ESG scores, from regression configuration</a:t>
            </a:r>
          </a:p>
          <a:p>
            <a:pPr lvl="2"/>
            <a:r>
              <a:rPr lang="en-GB" b="1" u="sng" dirty="0"/>
              <a:t>Mean Squared Error (MSE) </a:t>
            </a:r>
            <a:r>
              <a:rPr lang="en-GB" dirty="0"/>
              <a:t>= average squared error, from regression</a:t>
            </a:r>
          </a:p>
        </p:txBody>
      </p:sp>
    </p:spTree>
    <p:extLst>
      <p:ext uri="{BB962C8B-B14F-4D97-AF65-F5344CB8AC3E}">
        <p14:creationId xmlns:p14="http://schemas.microsoft.com/office/powerpoint/2010/main" val="2503817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422-83F9-4E9A-6B8B-DD9C66EE942B}"/>
              </a:ext>
            </a:extLst>
          </p:cNvPr>
          <p:cNvSpPr>
            <a:spLocks noGrp="1"/>
          </p:cNvSpPr>
          <p:nvPr>
            <p:ph type="title"/>
          </p:nvPr>
        </p:nvSpPr>
        <p:spPr>
          <a:xfrm>
            <a:off x="0" y="108346"/>
            <a:ext cx="10302240" cy="488315"/>
          </a:xfrm>
        </p:spPr>
        <p:txBody>
          <a:bodyPr>
            <a:normAutofit fontScale="90000"/>
          </a:bodyPr>
          <a:lstStyle/>
          <a:p>
            <a:r>
              <a:rPr lang="en-GB" dirty="0"/>
              <a:t>Model results for 2020 </a:t>
            </a:r>
            <a:r>
              <a:rPr lang="en-GB" sz="2200" dirty="0"/>
              <a:t>–  (only displaying 2020 results)</a:t>
            </a:r>
          </a:p>
        </p:txBody>
      </p:sp>
      <p:graphicFrame>
        <p:nvGraphicFramePr>
          <p:cNvPr id="4" name="Content Placeholder 3">
            <a:extLst>
              <a:ext uri="{FF2B5EF4-FFF2-40B4-BE49-F238E27FC236}">
                <a16:creationId xmlns:a16="http://schemas.microsoft.com/office/drawing/2014/main" id="{3165EF3F-BCA9-2241-DBBE-64E810452B6D}"/>
              </a:ext>
            </a:extLst>
          </p:cNvPr>
          <p:cNvGraphicFramePr>
            <a:graphicFrameLocks noGrp="1"/>
          </p:cNvGraphicFramePr>
          <p:nvPr>
            <p:ph idx="1"/>
            <p:extLst>
              <p:ext uri="{D42A27DB-BD31-4B8C-83A1-F6EECF244321}">
                <p14:modId xmlns:p14="http://schemas.microsoft.com/office/powerpoint/2010/main" val="3851918754"/>
              </p:ext>
            </p:extLst>
          </p:nvPr>
        </p:nvGraphicFramePr>
        <p:xfrm>
          <a:off x="548642" y="596661"/>
          <a:ext cx="10441284" cy="6261339"/>
        </p:xfrm>
        <a:graphic>
          <a:graphicData uri="http://schemas.openxmlformats.org/drawingml/2006/table">
            <a:tbl>
              <a:tblPr/>
              <a:tblGrid>
                <a:gridCol w="2677285">
                  <a:extLst>
                    <a:ext uri="{9D8B030D-6E8A-4147-A177-3AD203B41FA5}">
                      <a16:colId xmlns:a16="http://schemas.microsoft.com/office/drawing/2014/main" val="1869176616"/>
                    </a:ext>
                  </a:extLst>
                </a:gridCol>
                <a:gridCol w="1276096">
                  <a:extLst>
                    <a:ext uri="{9D8B030D-6E8A-4147-A177-3AD203B41FA5}">
                      <a16:colId xmlns:a16="http://schemas.microsoft.com/office/drawing/2014/main" val="3173769867"/>
                    </a:ext>
                  </a:extLst>
                </a:gridCol>
                <a:gridCol w="833863">
                  <a:extLst>
                    <a:ext uri="{9D8B030D-6E8A-4147-A177-3AD203B41FA5}">
                      <a16:colId xmlns:a16="http://schemas.microsoft.com/office/drawing/2014/main" val="3344153441"/>
                    </a:ext>
                  </a:extLst>
                </a:gridCol>
                <a:gridCol w="1552594">
                  <a:extLst>
                    <a:ext uri="{9D8B030D-6E8A-4147-A177-3AD203B41FA5}">
                      <a16:colId xmlns:a16="http://schemas.microsoft.com/office/drawing/2014/main" val="2068468105"/>
                    </a:ext>
                  </a:extLst>
                </a:gridCol>
                <a:gridCol w="964258">
                  <a:extLst>
                    <a:ext uri="{9D8B030D-6E8A-4147-A177-3AD203B41FA5}">
                      <a16:colId xmlns:a16="http://schemas.microsoft.com/office/drawing/2014/main" val="3074123442"/>
                    </a:ext>
                  </a:extLst>
                </a:gridCol>
                <a:gridCol w="1116905">
                  <a:extLst>
                    <a:ext uri="{9D8B030D-6E8A-4147-A177-3AD203B41FA5}">
                      <a16:colId xmlns:a16="http://schemas.microsoft.com/office/drawing/2014/main" val="3497347570"/>
                    </a:ext>
                  </a:extLst>
                </a:gridCol>
                <a:gridCol w="1265904">
                  <a:extLst>
                    <a:ext uri="{9D8B030D-6E8A-4147-A177-3AD203B41FA5}">
                      <a16:colId xmlns:a16="http://schemas.microsoft.com/office/drawing/2014/main" val="2322933494"/>
                    </a:ext>
                  </a:extLst>
                </a:gridCol>
                <a:gridCol w="754379">
                  <a:extLst>
                    <a:ext uri="{9D8B030D-6E8A-4147-A177-3AD203B41FA5}">
                      <a16:colId xmlns:a16="http://schemas.microsoft.com/office/drawing/2014/main" val="2915105178"/>
                    </a:ext>
                  </a:extLst>
                </a:gridCol>
              </a:tblGrid>
              <a:tr h="589629">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ctr" fontAlgn="b">
                        <a:buNone/>
                      </a:pPr>
                      <a:r>
                        <a:rPr lang="en-GB" sz="1800" b="0" i="0" u="none" strike="noStrike">
                          <a:solidFill>
                            <a:srgbClr val="FFFFFF"/>
                          </a:solidFill>
                          <a:effectLst/>
                          <a:latin typeface="Calibri" panose="020F0502020204030204" pitchFamily="34" charset="0"/>
                        </a:rPr>
                        <a:t>Overall results</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gridSpan="3">
                  <a:txBody>
                    <a:bodyPr/>
                    <a:lstStyle/>
                    <a:p>
                      <a:pPr algn="ctr" fontAlgn="b">
                        <a:buNone/>
                      </a:pPr>
                      <a:r>
                        <a:rPr lang="en-GB" sz="1800" b="0" i="0" u="none" strike="noStrike">
                          <a:solidFill>
                            <a:srgbClr val="FFFFFF"/>
                          </a:solidFill>
                          <a:effectLst/>
                          <a:latin typeface="Calibri" panose="020F0502020204030204" pitchFamily="34" charset="0"/>
                        </a:rPr>
                        <a:t>Absolute Difference to Asset4 Rating</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78775999"/>
                  </a:ext>
                </a:extLst>
              </a:tr>
              <a:tr h="508204">
                <a:tc>
                  <a:txBody>
                    <a:bodyPr/>
                    <a:lstStyle/>
                    <a:p>
                      <a:pPr algn="l" fontAlgn="b">
                        <a:buNone/>
                      </a:pPr>
                      <a:r>
                        <a:rPr lang="en-GB" sz="1800" b="0" i="0" u="none" strike="noStrike" dirty="0">
                          <a:solidFill>
                            <a:srgbClr val="FFFFFF"/>
                          </a:solidFill>
                          <a:effectLst/>
                          <a:latin typeface="Calibri" panose="020F0502020204030204" pitchFamily="34" charset="0"/>
                        </a:rPr>
                        <a:t>Classification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dirty="0">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SCC</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76820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64.6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962703"/>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58.1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616820"/>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62.4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33722"/>
                  </a:ext>
                </a:extLst>
              </a:tr>
              <a:tr h="29481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67.8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148873"/>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863132"/>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Regression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Percent Err (MAPE)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t>
                      </a:r>
                      <a:r>
                        <a:rPr lang="en-GB" sz="1800" b="1" i="0" u="none" strike="noStrike" dirty="0" err="1">
                          <a:solidFill>
                            <a:srgbClr val="000000"/>
                          </a:solidFill>
                          <a:effectLst/>
                          <a:latin typeface="Calibri" panose="020F0502020204030204" pitchFamily="34" charset="0"/>
                        </a:rPr>
                        <a:t>Sqrd</a:t>
                      </a:r>
                      <a:r>
                        <a:rPr lang="en-GB" sz="1800" b="1" i="0" u="none" strike="noStrike" dirty="0">
                          <a:solidFill>
                            <a:srgbClr val="000000"/>
                          </a:solidFill>
                          <a:effectLst/>
                          <a:latin typeface="Calibri" panose="020F0502020204030204" pitchFamily="34" charset="0"/>
                        </a:rPr>
                        <a:t> Err (MSE)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525591"/>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285.07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13.43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52.62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1376388"/>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263.18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9.66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48.63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966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368.73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15.05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092425"/>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294.75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73.38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829327"/>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28331"/>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Baseline Model</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MAPE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MSE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1119"/>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Mean Asset4 Rating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365.63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496636"/>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Random Selection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102.79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1167.99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603504"/>
                  </a:ext>
                </a:extLst>
              </a:tr>
              <a:tr h="280775">
                <a:tc>
                  <a:txBody>
                    <a:bodyPr/>
                    <a:lstStyle/>
                    <a:p>
                      <a:pPr algn="l" fontAlgn="b">
                        <a:buNone/>
                      </a:pPr>
                      <a:r>
                        <a:rPr lang="en-GB" sz="1800" b="0" i="0" u="none" strike="noStrike" dirty="0">
                          <a:solidFill>
                            <a:srgbClr val="000000"/>
                          </a:solidFill>
                          <a:effectLst/>
                          <a:latin typeface="Calibri" panose="020F0502020204030204" pitchFamily="34" charset="0"/>
                        </a:rPr>
                        <a:t>Sokolov et al. [20]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176.27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2108.27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41.46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2863812"/>
                  </a:ext>
                </a:extLst>
              </a:tr>
            </a:tbl>
          </a:graphicData>
        </a:graphic>
      </p:graphicFrame>
    </p:spTree>
    <p:extLst>
      <p:ext uri="{BB962C8B-B14F-4D97-AF65-F5344CB8AC3E}">
        <p14:creationId xmlns:p14="http://schemas.microsoft.com/office/powerpoint/2010/main" val="37880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EFA9-C4B9-525E-CC52-13557E8770B3}"/>
              </a:ext>
            </a:extLst>
          </p:cNvPr>
          <p:cNvSpPr>
            <a:spLocks noGrp="1"/>
          </p:cNvSpPr>
          <p:nvPr>
            <p:ph type="title"/>
          </p:nvPr>
        </p:nvSpPr>
        <p:spPr/>
        <p:txBody>
          <a:bodyPr/>
          <a:lstStyle/>
          <a:p>
            <a:r>
              <a:rPr lang="en-GB" dirty="0"/>
              <a:t>Result and Conclusions</a:t>
            </a:r>
          </a:p>
        </p:txBody>
      </p:sp>
      <p:sp>
        <p:nvSpPr>
          <p:cNvPr id="3" name="Content Placeholder 2">
            <a:extLst>
              <a:ext uri="{FF2B5EF4-FFF2-40B4-BE49-F238E27FC236}">
                <a16:creationId xmlns:a16="http://schemas.microsoft.com/office/drawing/2014/main" id="{C2B7549F-47A3-D3D0-C7D8-510B76C39B3F}"/>
              </a:ext>
            </a:extLst>
          </p:cNvPr>
          <p:cNvSpPr>
            <a:spLocks noGrp="1"/>
          </p:cNvSpPr>
          <p:nvPr>
            <p:ph idx="1"/>
          </p:nvPr>
        </p:nvSpPr>
        <p:spPr/>
        <p:txBody>
          <a:bodyPr>
            <a:normAutofit lnSpcReduction="10000"/>
          </a:bodyPr>
          <a:lstStyle/>
          <a:p>
            <a:r>
              <a:rPr lang="en-GB" dirty="0"/>
              <a:t>Deep CNN</a:t>
            </a:r>
          </a:p>
          <a:p>
            <a:pPr lvl="1"/>
            <a:r>
              <a:rPr lang="en-GB" dirty="0"/>
              <a:t>Lower </a:t>
            </a:r>
          </a:p>
          <a:p>
            <a:r>
              <a:rPr lang="en-GB" dirty="0"/>
              <a:t>CNN + Transformer</a:t>
            </a:r>
          </a:p>
          <a:p>
            <a:pPr lvl="1"/>
            <a:r>
              <a:rPr lang="en-GB" dirty="0"/>
              <a:t>Lower </a:t>
            </a:r>
            <a:r>
              <a:rPr lang="en-GB" dirty="0" err="1"/>
              <a:t>mAPE</a:t>
            </a:r>
            <a:r>
              <a:rPr lang="en-GB" dirty="0"/>
              <a:t> but higher MSE =&gt; good </a:t>
            </a:r>
            <a:r>
              <a:rPr lang="en-GB" dirty="0" err="1"/>
              <a:t>avg</a:t>
            </a:r>
            <a:r>
              <a:rPr lang="en-GB" dirty="0"/>
              <a:t> accuracy but some large errors</a:t>
            </a:r>
          </a:p>
          <a:p>
            <a:r>
              <a:rPr lang="en-GB" dirty="0"/>
              <a:t>Baselines</a:t>
            </a:r>
          </a:p>
          <a:p>
            <a:pPr lvl="1"/>
            <a:r>
              <a:rPr lang="en-GB" dirty="0"/>
              <a:t>Very High MAPE and MSE =&gt; poor predictive performance</a:t>
            </a:r>
          </a:p>
          <a:p>
            <a:r>
              <a:rPr lang="en-GB" dirty="0"/>
              <a:t>classification model accuracy is relatively low due to the challenging nature of predicting the correct rating out of 100 classes, and results vary significantly depending on the train-test split.</a:t>
            </a:r>
          </a:p>
          <a:p>
            <a:r>
              <a:rPr lang="en-GB" dirty="0"/>
              <a:t>top-performing deep CNN, the basic CNN and deep Transformer regression models show strong performance in 2020.</a:t>
            </a:r>
          </a:p>
          <a:p>
            <a:pPr lvl="1"/>
            <a:endParaRPr lang="en-GB" dirty="0"/>
          </a:p>
        </p:txBody>
      </p:sp>
    </p:spTree>
    <p:extLst>
      <p:ext uri="{BB962C8B-B14F-4D97-AF65-F5344CB8AC3E}">
        <p14:creationId xmlns:p14="http://schemas.microsoft.com/office/powerpoint/2010/main" val="382827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8D2B-E418-ACD0-8ECB-9F0AE29CBE44}"/>
              </a:ext>
            </a:extLst>
          </p:cNvPr>
          <p:cNvSpPr>
            <a:spLocks noGrp="1"/>
          </p:cNvSpPr>
          <p:nvPr>
            <p:ph type="title"/>
          </p:nvPr>
        </p:nvSpPr>
        <p:spPr>
          <a:xfrm>
            <a:off x="502920" y="212541"/>
            <a:ext cx="9624934" cy="549275"/>
          </a:xfrm>
        </p:spPr>
        <p:txBody>
          <a:bodyPr>
            <a:normAutofit fontScale="90000"/>
          </a:bodyPr>
          <a:lstStyle/>
          <a:p>
            <a:r>
              <a:rPr lang="en-GB" dirty="0"/>
              <a:t>Overview of ESG Prediction Model</a:t>
            </a:r>
          </a:p>
        </p:txBody>
      </p:sp>
      <p:pic>
        <p:nvPicPr>
          <p:cNvPr id="5" name="Content Placeholder 4">
            <a:extLst>
              <a:ext uri="{FF2B5EF4-FFF2-40B4-BE49-F238E27FC236}">
                <a16:creationId xmlns:a16="http://schemas.microsoft.com/office/drawing/2014/main" id="{A8CA377A-D651-5056-0ACA-F55EF239DE12}"/>
              </a:ext>
            </a:extLst>
          </p:cNvPr>
          <p:cNvPicPr>
            <a:picLocks noGrp="1" noChangeAspect="1"/>
          </p:cNvPicPr>
          <p:nvPr>
            <p:ph idx="1"/>
          </p:nvPr>
        </p:nvPicPr>
        <p:blipFill>
          <a:blip r:embed="rId2"/>
          <a:stretch>
            <a:fillRect/>
          </a:stretch>
        </p:blipFill>
        <p:spPr>
          <a:xfrm>
            <a:off x="317118" y="914401"/>
            <a:ext cx="11984254" cy="5456420"/>
          </a:xfrm>
          <a:prstGeom prst="rect">
            <a:avLst/>
          </a:prstGeom>
        </p:spPr>
      </p:pic>
    </p:spTree>
    <p:extLst>
      <p:ext uri="{BB962C8B-B14F-4D97-AF65-F5344CB8AC3E}">
        <p14:creationId xmlns:p14="http://schemas.microsoft.com/office/powerpoint/2010/main" val="715867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p:txBody>
          <a:bodyPr/>
          <a:lstStyle/>
          <a:p>
            <a:r>
              <a:rPr lang="en-US"/>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normAutofit/>
          </a:bodyPr>
          <a:lstStyle/>
          <a:p>
            <a:r>
              <a:rPr lang="en-US" dirty="0"/>
              <a:t>The paper authors used </a:t>
            </a:r>
            <a:r>
              <a:rPr lang="en-US" b="1" dirty="0"/>
              <a:t>Secondary research. </a:t>
            </a:r>
          </a:p>
          <a:p>
            <a:pPr lvl="1"/>
            <a:r>
              <a:rPr lang="en-US" dirty="0"/>
              <a:t>They used pre-existing data, published journals</a:t>
            </a:r>
          </a:p>
          <a:p>
            <a:pPr lvl="1"/>
            <a:r>
              <a:rPr lang="en-US" dirty="0"/>
              <a:t>They references 24 different references including published papers and books, across a  range of publications such as </a:t>
            </a:r>
            <a:r>
              <a:rPr lang="en-US" b="1" dirty="0"/>
              <a:t>Journal of Financial data</a:t>
            </a:r>
            <a:r>
              <a:rPr lang="en-US" dirty="0"/>
              <a:t>, </a:t>
            </a:r>
            <a:r>
              <a:rPr lang="en-GB" b="1" dirty="0"/>
              <a:t>The Journal of Impact and ESG Investing</a:t>
            </a:r>
            <a:r>
              <a:rPr lang="en-GB" dirty="0"/>
              <a:t>, </a:t>
            </a:r>
            <a:r>
              <a:rPr lang="en-GB" b="1" dirty="0"/>
              <a:t>IEEE</a:t>
            </a:r>
            <a:r>
              <a:rPr lang="en-GB" dirty="0"/>
              <a:t>, </a:t>
            </a:r>
            <a:r>
              <a:rPr lang="en-GB" b="1" dirty="0"/>
              <a:t>Hugging face, Journal of Business Ethics </a:t>
            </a:r>
            <a:r>
              <a:rPr lang="en-GB" dirty="0"/>
              <a:t>and many more</a:t>
            </a:r>
          </a:p>
          <a:p>
            <a:pPr marL="0" indent="0">
              <a:buNone/>
            </a:pPr>
            <a:endParaRPr lang="en-US" dirty="0"/>
          </a:p>
          <a:p>
            <a:r>
              <a:rPr lang="en-US" dirty="0"/>
              <a:t>It is </a:t>
            </a:r>
            <a:r>
              <a:rPr lang="en-US" b="1" dirty="0"/>
              <a:t>not primary research </a:t>
            </a:r>
          </a:p>
          <a:p>
            <a:pPr lvl="1"/>
            <a:r>
              <a:rPr lang="en-US" b="1" dirty="0"/>
              <a:t>T</a:t>
            </a:r>
            <a:r>
              <a:rPr lang="en-US" dirty="0"/>
              <a:t>hey did not generate the data themselves, collecting , generating data themselves</a:t>
            </a:r>
          </a:p>
          <a:p>
            <a:endParaRPr lang="en-US" dirty="0"/>
          </a:p>
        </p:txBody>
      </p:sp>
    </p:spTree>
    <p:extLst>
      <p:ext uri="{BB962C8B-B14F-4D97-AF65-F5344CB8AC3E}">
        <p14:creationId xmlns:p14="http://schemas.microsoft.com/office/powerpoint/2010/main" val="459846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870158" y="480935"/>
            <a:ext cx="7884696" cy="6052212"/>
          </a:xfrm>
        </p:spPr>
        <p:txBody>
          <a:bodyPr>
            <a:normAutofit fontScale="77500" lnSpcReduction="20000"/>
          </a:bodyPr>
          <a:lstStyle/>
          <a:p>
            <a:r>
              <a:rPr lang="en-GB" sz="2600" dirty="0"/>
              <a:t>Using news articles from over 30,000 websites in approximately 200 countries, we have shown that ESG ratings can be predicted reliably based on information from news sources.</a:t>
            </a:r>
          </a:p>
          <a:p>
            <a:r>
              <a:rPr lang="en-GB" sz="2600" dirty="0"/>
              <a:t>Potential to enable various stakeholders, including private investors and government agencies, to monitor companies’ ESG compliance in a time- and resource-efficient manner.</a:t>
            </a:r>
          </a:p>
          <a:p>
            <a:r>
              <a:rPr lang="en-GB" sz="2600" dirty="0"/>
              <a:t>Input processing pipeline comprises three main steps to derive inputs for the prediction model</a:t>
            </a:r>
          </a:p>
          <a:p>
            <a:pPr lvl="1"/>
            <a:r>
              <a:rPr lang="en-GB" dirty="0"/>
              <a:t>1) article classification for ESG relevance, </a:t>
            </a:r>
          </a:p>
          <a:p>
            <a:pPr lvl="1"/>
            <a:r>
              <a:rPr lang="en-GB" dirty="0"/>
              <a:t>2) sentiment estimation, </a:t>
            </a:r>
          </a:p>
          <a:p>
            <a:pPr lvl="1"/>
            <a:r>
              <a:rPr lang="en-GB" dirty="0"/>
              <a:t>3) cluster-based time series generation</a:t>
            </a:r>
          </a:p>
          <a:p>
            <a:pPr lvl="1"/>
            <a:endParaRPr lang="en-GB" dirty="0"/>
          </a:p>
          <a:p>
            <a:pPr lvl="1"/>
            <a:r>
              <a:rPr lang="en-GB" dirty="0"/>
              <a:t>these derived time series significantly enhance ESG prediction performance, underscoring their importance as key features.</a:t>
            </a:r>
          </a:p>
          <a:p>
            <a:endParaRPr lang="en-GB" sz="2000" dirty="0"/>
          </a:p>
          <a:p>
            <a:r>
              <a:rPr lang="en-US" sz="2400" dirty="0"/>
              <a:t>Limitations</a:t>
            </a:r>
          </a:p>
          <a:p>
            <a:pPr lvl="1"/>
            <a:r>
              <a:rPr lang="en-GB" dirty="0"/>
              <a:t>Reliance on a single type of rating.</a:t>
            </a:r>
          </a:p>
          <a:p>
            <a:r>
              <a:rPr lang="en-GB" sz="2400" dirty="0"/>
              <a:t>Future work</a:t>
            </a:r>
          </a:p>
          <a:p>
            <a:pPr lvl="1"/>
            <a:r>
              <a:rPr lang="en-GB" dirty="0"/>
              <a:t>Explore alternative rating sources.</a:t>
            </a:r>
          </a:p>
          <a:p>
            <a:pPr lvl="1"/>
            <a:r>
              <a:rPr lang="en-GB" dirty="0"/>
              <a:t>Additionally, we will consider bias detection techniques in news articles</a:t>
            </a:r>
            <a:endParaRPr lang="en-US" sz="5400" dirty="0"/>
          </a:p>
          <a:p>
            <a:pPr marL="0" indent="0">
              <a:buNone/>
            </a:pPr>
            <a:endParaRPr lang="en-US" sz="2000" dirty="0"/>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571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8475-12ED-67B3-1C5A-67FB7397CE8D}"/>
              </a:ext>
            </a:extLst>
          </p:cNvPr>
          <p:cNvSpPr>
            <a:spLocks noGrp="1"/>
          </p:cNvSpPr>
          <p:nvPr>
            <p:ph type="title"/>
          </p:nvPr>
        </p:nvSpPr>
        <p:spPr>
          <a:xfrm>
            <a:off x="838200" y="365126"/>
            <a:ext cx="10515600" cy="1042570"/>
          </a:xfrm>
        </p:spPr>
        <p:txBody>
          <a:bodyPr/>
          <a:lstStyle/>
          <a:p>
            <a:r>
              <a:rPr lang="en-GB" dirty="0"/>
              <a:t>Additional references and observations</a:t>
            </a:r>
          </a:p>
        </p:txBody>
      </p:sp>
      <p:sp>
        <p:nvSpPr>
          <p:cNvPr id="3" name="Content Placeholder 2">
            <a:extLst>
              <a:ext uri="{FF2B5EF4-FFF2-40B4-BE49-F238E27FC236}">
                <a16:creationId xmlns:a16="http://schemas.microsoft.com/office/drawing/2014/main" id="{7B9EDDF8-99E8-28BF-84ED-0A0EEC3815BC}"/>
              </a:ext>
            </a:extLst>
          </p:cNvPr>
          <p:cNvSpPr>
            <a:spLocks noGrp="1"/>
          </p:cNvSpPr>
          <p:nvPr>
            <p:ph idx="1"/>
          </p:nvPr>
        </p:nvSpPr>
        <p:spPr>
          <a:xfrm>
            <a:off x="525379" y="1690688"/>
            <a:ext cx="10515600" cy="4351338"/>
          </a:xfrm>
        </p:spPr>
        <p:txBody>
          <a:bodyPr>
            <a:normAutofit fontScale="85000" lnSpcReduction="20000"/>
          </a:bodyPr>
          <a:lstStyle/>
          <a:p>
            <a:r>
              <a:rPr lang="en-GB" sz="2600" dirty="0"/>
              <a:t>Among past ESG-related works, many either utilize ESG ratings to predict a range of other target variables or </a:t>
            </a:r>
            <a:r>
              <a:rPr lang="en-GB" sz="2600" dirty="0" err="1"/>
              <a:t>analyze</a:t>
            </a:r>
            <a:r>
              <a:rPr lang="en-GB" sz="2600" dirty="0"/>
              <a:t> the effects of ESG ratings on other target variables, instead of predicting ESG ratings or examining the effects of different information on ESG ratings.</a:t>
            </a:r>
            <a:r>
              <a:rPr lang="en-GB" dirty="0"/>
              <a:t>	</a:t>
            </a:r>
          </a:p>
          <a:p>
            <a:pPr lvl="1"/>
            <a:r>
              <a:rPr lang="en-GB" dirty="0"/>
              <a:t>A lot related to predicting financial implications</a:t>
            </a:r>
          </a:p>
          <a:p>
            <a:r>
              <a:rPr lang="en-GB" dirty="0"/>
              <a:t>References other ACM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r>
              <a:rPr lang="en-GB" dirty="0"/>
              <a:t>A lot of papers across databases sources from Chima</a:t>
            </a:r>
          </a:p>
          <a:p>
            <a:pPr lvl="1"/>
            <a:r>
              <a:rPr lang="en-GB" dirty="0"/>
              <a:t>ACM a lot of ESG papers from China</a:t>
            </a:r>
          </a:p>
          <a:p>
            <a:r>
              <a:rPr lang="en-GB" dirty="0"/>
              <a:t>IEE Xplore &gt; </a:t>
            </a:r>
          </a:p>
          <a:p>
            <a:pPr lvl="1"/>
            <a:r>
              <a:rPr lang="en-GB" dirty="0"/>
              <a:t>financial orientated and reporting obligations/process streamlining</a:t>
            </a:r>
          </a:p>
          <a:p>
            <a:pPr lvl="1"/>
            <a:r>
              <a:rPr lang="en-GB" dirty="0"/>
              <a:t>Again lot of papers from Asia – </a:t>
            </a:r>
            <a:r>
              <a:rPr lang="en-GB" dirty="0" err="1"/>
              <a:t>china</a:t>
            </a:r>
            <a:r>
              <a:rPr lang="en-GB" dirty="0"/>
              <a:t>/Indonesia/emerging markets - haven’t seen a lot from India)</a:t>
            </a:r>
          </a:p>
        </p:txBody>
      </p:sp>
    </p:spTree>
    <p:extLst>
      <p:ext uri="{BB962C8B-B14F-4D97-AF65-F5344CB8AC3E}">
        <p14:creationId xmlns:p14="http://schemas.microsoft.com/office/powerpoint/2010/main" val="1835063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F91DC-4537-6F4A-B26D-6ACC55E7F37D}"/>
              </a:ext>
            </a:extLst>
          </p:cNvPr>
          <p:cNvSpPr>
            <a:spLocks noGrp="1"/>
          </p:cNvSpPr>
          <p:nvPr>
            <p:ph type="title"/>
          </p:nvPr>
        </p:nvSpPr>
        <p:spPr>
          <a:xfrm>
            <a:off x="838200" y="-104106"/>
            <a:ext cx="10515600" cy="1325563"/>
          </a:xfrm>
        </p:spPr>
        <p:txBody>
          <a:bodyPr/>
          <a:lstStyle/>
          <a:p>
            <a:r>
              <a:rPr lang="en-GB" dirty="0"/>
              <a:t>References - </a:t>
            </a:r>
            <a:r>
              <a:rPr lang="en-IE" dirty="0"/>
              <a:t>APA6 style </a:t>
            </a:r>
            <a:endParaRPr lang="en-GB" dirty="0"/>
          </a:p>
        </p:txBody>
      </p:sp>
      <p:sp>
        <p:nvSpPr>
          <p:cNvPr id="3" name="Content Placeholder 2">
            <a:extLst>
              <a:ext uri="{FF2B5EF4-FFF2-40B4-BE49-F238E27FC236}">
                <a16:creationId xmlns:a16="http://schemas.microsoft.com/office/drawing/2014/main" id="{F91F39DB-30CB-976D-4FC8-8519564E9729}"/>
              </a:ext>
            </a:extLst>
          </p:cNvPr>
          <p:cNvSpPr>
            <a:spLocks noGrp="1"/>
          </p:cNvSpPr>
          <p:nvPr>
            <p:ph idx="1"/>
          </p:nvPr>
        </p:nvSpPr>
        <p:spPr>
          <a:xfrm>
            <a:off x="838200" y="1094873"/>
            <a:ext cx="10820400" cy="5527258"/>
          </a:xfrm>
        </p:spPr>
        <p:txBody>
          <a:bodyPr>
            <a:normAutofit fontScale="92500" lnSpcReduction="10000"/>
          </a:bodyPr>
          <a:lstStyle/>
          <a:p>
            <a:r>
              <a:rPr lang="en-US" dirty="0">
                <a:cs typeface="Calibri"/>
              </a:rPr>
              <a:t>ACM: Digital Library [23.05.2026]: ‘</a:t>
            </a:r>
            <a:r>
              <a:rPr lang="en-GB" dirty="0"/>
              <a:t>Predicting Company ESG Ratings from News Articles Using Multivariate Timeseries Analysis’ :</a:t>
            </a:r>
            <a:r>
              <a:rPr lang="en-US" dirty="0">
                <a:cs typeface="Calibri"/>
              </a:rPr>
              <a:t> </a:t>
            </a:r>
            <a:r>
              <a:rPr lang="en-US" dirty="0">
                <a:cs typeface="Calibri"/>
                <a:hlinkClick r:id="rId3"/>
              </a:rPr>
              <a:t>https://dl-acm-org.tudublin.idm.oclc.org/doi/10.1145/3701716.3717509</a:t>
            </a:r>
            <a:r>
              <a:rPr lang="en-US" dirty="0">
                <a:cs typeface="Calibri"/>
              </a:rPr>
              <a:t> </a:t>
            </a:r>
            <a:endParaRPr lang="en-GB" dirty="0"/>
          </a:p>
          <a:p>
            <a:r>
              <a:rPr lang="en-GB" dirty="0"/>
              <a:t>Corporate Finance Institute (CFI),to guide the labelling. </a:t>
            </a:r>
            <a:r>
              <a:rPr lang="en-GB" dirty="0">
                <a:hlinkClick r:id="rId4"/>
              </a:rPr>
              <a:t>https://corporatefinanceinstitute.com/</a:t>
            </a:r>
            <a:endParaRPr lang="en-GB" dirty="0"/>
          </a:p>
          <a:p>
            <a:r>
              <a:rPr lang="en-GB" dirty="0"/>
              <a:t>GDELT [n.d.], ‘Overview of the GDELT project’, </a:t>
            </a:r>
            <a:r>
              <a:rPr lang="en-GB" dirty="0">
                <a:hlinkClick r:id="rId5"/>
              </a:rPr>
              <a:t>https://www.gdeltproject.org/</a:t>
            </a:r>
            <a:r>
              <a:rPr lang="en-GB" dirty="0"/>
              <a:t> . Retrieved on 06.02.26.</a:t>
            </a:r>
          </a:p>
          <a:p>
            <a:r>
              <a:rPr lang="en-GB" dirty="0"/>
              <a:t>LSEG Data &amp; Analytics[</a:t>
            </a:r>
            <a:r>
              <a:rPr lang="en-GB" dirty="0" err="1"/>
              <a:t>n.d</a:t>
            </a:r>
            <a:r>
              <a:rPr lang="en-GB" dirty="0"/>
              <a:t>] </a:t>
            </a:r>
            <a:r>
              <a:rPr lang="en-GB" dirty="0">
                <a:hlinkClick r:id="rId6"/>
              </a:rPr>
              <a:t>https://www.lseg.com/en/data-analytics</a:t>
            </a:r>
            <a:r>
              <a:rPr lang="en-GB" dirty="0"/>
              <a:t>  Retrieved on 06.02.26.</a:t>
            </a:r>
          </a:p>
          <a:p>
            <a:r>
              <a:rPr lang="en-GB" dirty="0"/>
              <a:t>GDELT Doc API Client [</a:t>
            </a:r>
            <a:r>
              <a:rPr lang="en-GB" dirty="0" err="1"/>
              <a:t>n.d</a:t>
            </a:r>
            <a:r>
              <a:rPr lang="en-GB" dirty="0"/>
              <a:t>] ‘</a:t>
            </a:r>
            <a:r>
              <a:rPr lang="en-GB" dirty="0" err="1"/>
              <a:t>gdeltdoc</a:t>
            </a:r>
            <a:r>
              <a:rPr lang="en-GB" dirty="0"/>
              <a:t> 1.12.0’ : </a:t>
            </a:r>
            <a:r>
              <a:rPr lang="en-GB" b="1" dirty="0"/>
              <a:t>’ : </a:t>
            </a:r>
            <a:r>
              <a:rPr lang="en-GB" dirty="0">
                <a:hlinkClick r:id="rId7"/>
              </a:rPr>
              <a:t>https://pypi.org/project/gdeltdoc/</a:t>
            </a:r>
            <a:r>
              <a:rPr lang="en-GB" dirty="0"/>
              <a:t> Retrieved on 06.02.26.</a:t>
            </a:r>
          </a:p>
          <a:p>
            <a:r>
              <a:rPr lang="en-GB" dirty="0"/>
              <a:t>Hugging Face [n.d.] </a:t>
            </a:r>
            <a:r>
              <a:rPr lang="en-GB" dirty="0">
                <a:hlinkClick r:id="rId8"/>
              </a:rPr>
              <a:t>https://huggingface.co/</a:t>
            </a:r>
            <a:r>
              <a:rPr lang="en-GB" dirty="0"/>
              <a:t> Retrieved on 06.02.26.</a:t>
            </a:r>
          </a:p>
          <a:p>
            <a:r>
              <a:rPr lang="en-GB" dirty="0"/>
              <a:t>Wu, C. and Gerber, M. S. [2017], ‘Forecasting civil unrest using social media and protest participation theory’, </a:t>
            </a:r>
            <a:r>
              <a:rPr lang="en-GB" dirty="0">
                <a:hlinkClick r:id="rId9"/>
              </a:rPr>
              <a:t>https://ieeexplore-ieee-org.tudublin.idm.oclc.org/document/8100646</a:t>
            </a:r>
            <a:r>
              <a:rPr lang="en-GB" dirty="0"/>
              <a:t>   IEEE Transactions on Computational Social Systems 5(1), 82–94</a:t>
            </a:r>
          </a:p>
          <a:p>
            <a:r>
              <a:rPr lang="fr-FR" dirty="0"/>
              <a:t>Wolf, T., </a:t>
            </a:r>
            <a:r>
              <a:rPr lang="fr-FR" dirty="0" err="1"/>
              <a:t>Debut</a:t>
            </a:r>
            <a:r>
              <a:rPr lang="fr-FR" dirty="0"/>
              <a:t>, L., </a:t>
            </a:r>
            <a:r>
              <a:rPr lang="fr-FR" dirty="0" err="1"/>
              <a:t>Sanh</a:t>
            </a:r>
            <a:r>
              <a:rPr lang="fr-FR" dirty="0"/>
              <a:t>, V., </a:t>
            </a:r>
            <a:r>
              <a:rPr lang="fr-FR" dirty="0" err="1"/>
              <a:t>Chaumond</a:t>
            </a:r>
            <a:r>
              <a:rPr lang="fr-FR" dirty="0"/>
              <a:t>, J., </a:t>
            </a:r>
            <a:r>
              <a:rPr lang="fr-FR" dirty="0" err="1"/>
              <a:t>Delangue</a:t>
            </a:r>
            <a:r>
              <a:rPr lang="fr-FR" dirty="0"/>
              <a:t>, C., Moi, A., </a:t>
            </a:r>
            <a:r>
              <a:rPr lang="fr-FR" dirty="0" err="1"/>
              <a:t>Cistac</a:t>
            </a:r>
            <a:r>
              <a:rPr lang="fr-FR" dirty="0"/>
              <a:t>, P., Rault,</a:t>
            </a:r>
            <a:r>
              <a:rPr lang="en-GB" dirty="0"/>
              <a:t>T., </a:t>
            </a:r>
            <a:r>
              <a:rPr lang="en-GB" dirty="0" err="1"/>
              <a:t>Louf</a:t>
            </a:r>
            <a:r>
              <a:rPr lang="en-GB" dirty="0"/>
              <a:t>, R., </a:t>
            </a:r>
            <a:r>
              <a:rPr lang="en-GB" dirty="0" err="1"/>
              <a:t>Funtowicz</a:t>
            </a:r>
            <a:r>
              <a:rPr lang="en-GB" dirty="0"/>
              <a:t>, M. et al. [2019], ‘</a:t>
            </a:r>
            <a:r>
              <a:rPr lang="en-GB" dirty="0" err="1"/>
              <a:t>Huggingface’s</a:t>
            </a:r>
            <a:r>
              <a:rPr lang="en-GB" dirty="0"/>
              <a:t> transformers: State-</a:t>
            </a:r>
            <a:r>
              <a:rPr lang="en-GB" dirty="0" err="1"/>
              <a:t>ofthe</a:t>
            </a:r>
            <a:r>
              <a:rPr lang="en-GB" dirty="0"/>
              <a:t>-art natural language processing’, </a:t>
            </a:r>
            <a:r>
              <a:rPr lang="en-GB" dirty="0" err="1"/>
              <a:t>arXiv</a:t>
            </a:r>
            <a:r>
              <a:rPr lang="en-GB" dirty="0"/>
              <a:t> preprint arXiv:1910.03771 .</a:t>
            </a:r>
          </a:p>
          <a:p>
            <a:r>
              <a:rPr lang="en-GB" dirty="0"/>
              <a:t>Prathama </a:t>
            </a:r>
            <a:r>
              <a:rPr lang="en-GB" dirty="0" err="1"/>
              <a:t>UPurwarianti</a:t>
            </a:r>
            <a:r>
              <a:rPr lang="en-GB" dirty="0"/>
              <a:t> </a:t>
            </a:r>
            <a:r>
              <a:rPr lang="en-GB" dirty="0" err="1"/>
              <a:t>ASeptiandri</a:t>
            </a:r>
            <a:r>
              <a:rPr lang="en-GB" dirty="0"/>
              <a:t> A(2025)ESG-IDX: A Framework to Utilize ESG-Related News Sentiment for Indonesia Stock Price Prediction2025 12th International Conference on Advanced Informatics: Concept, Theory and Application (ICAICTA)10.1109/ICAICTA67604.2025.11335140(1-6)Online publication date: 20-Sep-2025 </a:t>
            </a:r>
            <a:r>
              <a:rPr lang="en-GB" dirty="0">
                <a:hlinkClick r:id="rId10"/>
              </a:rPr>
              <a:t>https://doi-org.tudublin.idm.oclc.org/10.1109/ICAICTA67604.2025.11335140</a:t>
            </a:r>
            <a:endParaRPr lang="en-GB" dirty="0"/>
          </a:p>
          <a:p>
            <a:endParaRPr lang="en-GB" dirty="0"/>
          </a:p>
          <a:p>
            <a:pPr marL="0" indent="0">
              <a:buNone/>
            </a:pPr>
            <a:endParaRPr lang="en-GB" dirty="0"/>
          </a:p>
          <a:p>
            <a:endParaRPr lang="en-GB" dirty="0"/>
          </a:p>
        </p:txBody>
      </p:sp>
    </p:spTree>
    <p:extLst>
      <p:ext uri="{BB962C8B-B14F-4D97-AF65-F5344CB8AC3E}">
        <p14:creationId xmlns:p14="http://schemas.microsoft.com/office/powerpoint/2010/main" val="23846681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6045-7514-B11C-B4EE-DE493776B9F8}"/>
              </a:ext>
            </a:extLst>
          </p:cNvPr>
          <p:cNvSpPr>
            <a:spLocks noGrp="1"/>
          </p:cNvSpPr>
          <p:nvPr>
            <p:ph type="title"/>
          </p:nvPr>
        </p:nvSpPr>
        <p:spPr/>
        <p:txBody>
          <a:bodyPr/>
          <a:lstStyle/>
          <a:p>
            <a:r>
              <a:rPr lang="en-GB" dirty="0"/>
              <a:t>Learnings</a:t>
            </a:r>
          </a:p>
        </p:txBody>
      </p:sp>
      <p:sp>
        <p:nvSpPr>
          <p:cNvPr id="3" name="Content Placeholder 2">
            <a:extLst>
              <a:ext uri="{FF2B5EF4-FFF2-40B4-BE49-F238E27FC236}">
                <a16:creationId xmlns:a16="http://schemas.microsoft.com/office/drawing/2014/main" id="{C6888F0C-870E-B809-66BB-62563CBDC5A0}"/>
              </a:ext>
            </a:extLst>
          </p:cNvPr>
          <p:cNvSpPr>
            <a:spLocks noGrp="1"/>
          </p:cNvSpPr>
          <p:nvPr>
            <p:ph idx="1"/>
          </p:nvPr>
        </p:nvSpPr>
        <p:spPr/>
        <p:txBody>
          <a:bodyPr>
            <a:normAutofit/>
          </a:bodyPr>
          <a:lstStyle/>
          <a:p>
            <a:r>
              <a:rPr lang="en-GB" dirty="0"/>
              <a:t>Can get sucked down a hole and spend days signing into a very specific area &gt;&gt; need to adhere to what your goals are and be strict about it… time goes…</a:t>
            </a:r>
          </a:p>
          <a:p>
            <a:r>
              <a:rPr lang="en-GB" dirty="0"/>
              <a:t>Data repositories change, and some no longer exists or have changed</a:t>
            </a:r>
          </a:p>
          <a:p>
            <a:pPr lvl="1"/>
            <a:r>
              <a:rPr lang="en-GB" dirty="0"/>
              <a:t>Global Reporting Initiative (GRI) – gone  p bought out</a:t>
            </a:r>
          </a:p>
          <a:p>
            <a:pPr lvl="1"/>
            <a:r>
              <a:rPr lang="en-GB" dirty="0"/>
              <a:t>World Event/Interaction Survey (WEIS) Project, - ceased – cross-sectional</a:t>
            </a:r>
          </a:p>
          <a:p>
            <a:r>
              <a:rPr lang="en-GB" dirty="0"/>
              <a:t>Additional data sources - references other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pPr lvl="1"/>
            <a:endParaRPr lang="en-GB" dirty="0"/>
          </a:p>
        </p:txBody>
      </p:sp>
    </p:spTree>
    <p:extLst>
      <p:ext uri="{BB962C8B-B14F-4D97-AF65-F5344CB8AC3E}">
        <p14:creationId xmlns:p14="http://schemas.microsoft.com/office/powerpoint/2010/main" val="238953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2637</TotalTime>
  <Words>3470</Words>
  <Application>Microsoft Office PowerPoint</Application>
  <PresentationFormat>Widescreen</PresentationFormat>
  <Paragraphs>408</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Trebuchet MS</vt:lpstr>
      <vt:lpstr>Wingdings 3</vt:lpstr>
      <vt:lpstr>Facet</vt:lpstr>
      <vt:lpstr>Research Methods Data Analytics</vt:lpstr>
      <vt:lpstr>Database and Journals checked</vt:lpstr>
      <vt:lpstr>Predicting Company ESG Ratings from News Articles Using Multivariate Timeseries Analysis</vt:lpstr>
      <vt:lpstr>The Purpose of the Research</vt:lpstr>
      <vt:lpstr>Research Onion Classification</vt:lpstr>
      <vt:lpstr>Philosophy – Epistemology (what is knowledge?)</vt:lpstr>
      <vt:lpstr>Philosophy – Ontology (what is reality?)</vt:lpstr>
      <vt:lpstr>Layer 2. Approaches</vt:lpstr>
      <vt:lpstr>PowerPoint Presentation</vt:lpstr>
      <vt:lpstr>Layer 3. Strategy - </vt:lpstr>
      <vt:lpstr>Layer 4. Choices</vt:lpstr>
      <vt:lpstr>Layer 5. Time Horizons</vt:lpstr>
      <vt:lpstr>Layer 6. Techniques and procedures</vt:lpstr>
      <vt:lpstr>Methodology</vt:lpstr>
      <vt:lpstr>Step 1. Build the Datasets</vt:lpstr>
      <vt:lpstr>Overview of the News Article Dataset</vt:lpstr>
      <vt:lpstr>Step 2. Create labelled ESG training data</vt:lpstr>
      <vt:lpstr>Step 3. Train ESG classifier to predict relevant and non relevant ESG articles </vt:lpstr>
      <vt:lpstr>Step 4. generate the “Article2ESG Relevance” time series – filter all articles in the news articles corpus</vt:lpstr>
      <vt:lpstr>Step 5 . Perform Sentiment Analysis to relevant articles to crate sentiment scores.</vt:lpstr>
      <vt:lpstr>Step 6. Semantic Analysis (what the articles are about) – each article becomes a semantic vector representations</vt:lpstr>
      <vt:lpstr>Step 7 . Cluster articles into ESG topics</vt:lpstr>
      <vt:lpstr>Step 8. Create the multi variate time series feature sets</vt:lpstr>
      <vt:lpstr>Step 9. Train the deep learning models to generate ESG ratings on the time series data</vt:lpstr>
      <vt:lpstr>Step 9. CNN - basic convolutional neural network (CNN)</vt:lpstr>
      <vt:lpstr>Step 9. CNN – Deeper Neural Network model</vt:lpstr>
      <vt:lpstr>Step 9. CNN + Transformer Model</vt:lpstr>
      <vt:lpstr>Step 10. Evaluation of ESG Rating</vt:lpstr>
      <vt:lpstr>Model results for 2020 –  (only displaying 2020 results)</vt:lpstr>
      <vt:lpstr>Result and Conclusions</vt:lpstr>
      <vt:lpstr>Overview of ESG Prediction Model</vt:lpstr>
      <vt:lpstr>Research Methods</vt:lpstr>
      <vt:lpstr>Conclusions and Further Research</vt:lpstr>
      <vt:lpstr>Additional references and observations</vt:lpstr>
      <vt:lpstr>References - APA6 style </vt:lpstr>
      <vt:lpstr>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190</cp:revision>
  <dcterms:created xsi:type="dcterms:W3CDTF">2020-02-09T19:19:03Z</dcterms:created>
  <dcterms:modified xsi:type="dcterms:W3CDTF">2026-02-09T10:18:25Z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